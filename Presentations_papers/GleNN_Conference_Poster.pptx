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7_5BD7C4D2.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3"/>
  </p:notesMasterIdLst>
  <p:sldIdLst>
    <p:sldId id="263" r:id="rId2"/>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userDrawn="1">
          <p15:clr>
            <a:srgbClr val="A4A3A4"/>
          </p15:clr>
        </p15:guide>
        <p15:guide id="2" pos="13824" userDrawn="1">
          <p15:clr>
            <a:srgbClr val="A4A3A4"/>
          </p15:clr>
        </p15:guide>
        <p15:guide id="3" orient="horz" pos="129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3DB515B-2D9E-F0AE-C716-D7DF1DC3357A}" name="Craig J Kimball" initials="CK" userId="S::ckimbal4@gmu.edu::2a741622-b867-453a-b1f7-31308b4614c1" providerId="AD"/>
  <p188:author id="{2014C498-596E-4F10-4286-AEF4D012A05A}" name="Guest User" initials="GU" userId="S::urn:spo:anon#8ba4a77ad83d3c9b2eccf5028803d241cc166478f8710e52311157b91c18851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5239"/>
    <a:srgbClr val="007D58"/>
    <a:srgbClr val="0061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46"/>
    <p:restoredTop sz="94664"/>
  </p:normalViewPr>
  <p:slideViewPr>
    <p:cSldViewPr snapToGrid="0">
      <p:cViewPr>
        <p:scale>
          <a:sx n="46" d="100"/>
          <a:sy n="46" d="100"/>
        </p:scale>
        <p:origin x="816" y="0"/>
      </p:cViewPr>
      <p:guideLst>
        <p:guide orient="horz" pos="3168"/>
        <p:guide pos="13824"/>
        <p:guide orient="horz" pos="12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omments/modernComment_107_5BD7C4D2.xml><?xml version="1.0" encoding="utf-8"?>
<p188:cmLst xmlns:a="http://schemas.openxmlformats.org/drawingml/2006/main" xmlns:r="http://schemas.openxmlformats.org/officeDocument/2006/relationships" xmlns:p188="http://schemas.microsoft.com/office/powerpoint/2018/8/main">
  <p188:cm id="{27CACCB6-A721-40D2-9934-29132FDA257A}" authorId="{2014C498-596E-4F10-4286-AEF4D012A05A}" status="resolved" created="2025-04-12T01:34:04.154" complete="100000">
    <pc:sldMkLst xmlns:pc="http://schemas.microsoft.com/office/powerpoint/2013/main/command">
      <pc:docMk/>
      <pc:sldMk cId="1540867282" sldId="263"/>
    </pc:sldMkLst>
    <p188:txBody>
      <a:bodyPr/>
      <a:lstStyle/>
      <a:p>
        <a:r>
          <a:rPr lang="en-US"/>
          <a:t>The image in the inset is hazy. zoom the slide to 100% and note the blurriness in the image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28CA95-763A-F941-AD90-E4F3CE420301}" type="datetimeFigureOut">
              <a:rPr lang="en-US" smtClean="0"/>
              <a:t>4/11/25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7A25B-DBB4-9B44-83A8-A5A8309934C7}" type="slidenum">
              <a:rPr lang="en-US" smtClean="0"/>
              <a:t>‹#›</a:t>
            </a:fld>
            <a:endParaRPr lang="en-US"/>
          </a:p>
        </p:txBody>
      </p:sp>
    </p:spTree>
    <p:extLst>
      <p:ext uri="{BB962C8B-B14F-4D97-AF65-F5344CB8AC3E}">
        <p14:creationId xmlns:p14="http://schemas.microsoft.com/office/powerpoint/2010/main" val="1571025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767A25B-DBB4-9B44-83A8-A5A8309934C7}" type="slidenum">
              <a:rPr lang="en-US" smtClean="0"/>
              <a:t>1</a:t>
            </a:fld>
            <a:endParaRPr lang="en-US"/>
          </a:p>
        </p:txBody>
      </p:sp>
    </p:spTree>
    <p:extLst>
      <p:ext uri="{BB962C8B-B14F-4D97-AF65-F5344CB8AC3E}">
        <p14:creationId xmlns:p14="http://schemas.microsoft.com/office/powerpoint/2010/main" val="4161264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p>
        </p:txBody>
      </p:sp>
      <p:sp>
        <p:nvSpPr>
          <p:cNvPr id="4" name="Date Placeholder 3"/>
          <p:cNvSpPr>
            <a:spLocks noGrp="1"/>
          </p:cNvSpPr>
          <p:nvPr>
            <p:ph type="dt" sz="half" idx="10"/>
          </p:nvPr>
        </p:nvSpPr>
        <p:spPr/>
        <p:txBody>
          <a:bodyPr/>
          <a:lstStyle/>
          <a:p>
            <a:fld id="{5B8854DB-CBC7-0642-9B13-3D054C975652}" type="datetimeFigureOut">
              <a:rPr lang="en-US" smtClean="0"/>
              <a:t>4/11/25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6EFD99-2212-BC44-902F-9C832BF7C360}" type="slidenum">
              <a:rPr lang="en-US" smtClean="0"/>
              <a:t>‹#›</a:t>
            </a:fld>
            <a:endParaRPr lang="en-US"/>
          </a:p>
        </p:txBody>
      </p:sp>
    </p:spTree>
    <p:extLst>
      <p:ext uri="{BB962C8B-B14F-4D97-AF65-F5344CB8AC3E}">
        <p14:creationId xmlns:p14="http://schemas.microsoft.com/office/powerpoint/2010/main" val="1251147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8854DB-CBC7-0642-9B13-3D054C975652}" type="datetimeFigureOut">
              <a:rPr lang="en-US" smtClean="0"/>
              <a:t>4/11/25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6EFD99-2212-BC44-902F-9C832BF7C360}" type="slidenum">
              <a:rPr lang="en-US" smtClean="0"/>
              <a:t>‹#›</a:t>
            </a:fld>
            <a:endParaRPr lang="en-US"/>
          </a:p>
        </p:txBody>
      </p:sp>
    </p:spTree>
    <p:extLst>
      <p:ext uri="{BB962C8B-B14F-4D97-AF65-F5344CB8AC3E}">
        <p14:creationId xmlns:p14="http://schemas.microsoft.com/office/powerpoint/2010/main" val="2026754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8854DB-CBC7-0642-9B13-3D054C975652}" type="datetimeFigureOut">
              <a:rPr lang="en-US" smtClean="0"/>
              <a:t>4/11/25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6EFD99-2212-BC44-902F-9C832BF7C360}" type="slidenum">
              <a:rPr lang="en-US" smtClean="0"/>
              <a:t>‹#›</a:t>
            </a:fld>
            <a:endParaRPr lang="en-US"/>
          </a:p>
        </p:txBody>
      </p:sp>
    </p:spTree>
    <p:extLst>
      <p:ext uri="{BB962C8B-B14F-4D97-AF65-F5344CB8AC3E}">
        <p14:creationId xmlns:p14="http://schemas.microsoft.com/office/powerpoint/2010/main" val="269171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8854DB-CBC7-0642-9B13-3D054C975652}" type="datetimeFigureOut">
              <a:rPr lang="en-US" smtClean="0"/>
              <a:t>4/11/25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6EFD99-2212-BC44-902F-9C832BF7C360}" type="slidenum">
              <a:rPr lang="en-US" smtClean="0"/>
              <a:t>‹#›</a:t>
            </a:fld>
            <a:endParaRPr lang="en-US"/>
          </a:p>
        </p:txBody>
      </p:sp>
    </p:spTree>
    <p:extLst>
      <p:ext uri="{BB962C8B-B14F-4D97-AF65-F5344CB8AC3E}">
        <p14:creationId xmlns:p14="http://schemas.microsoft.com/office/powerpoint/2010/main" val="1370083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8854DB-CBC7-0642-9B13-3D054C975652}" type="datetimeFigureOut">
              <a:rPr lang="en-US" smtClean="0"/>
              <a:t>4/11/25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6EFD99-2212-BC44-902F-9C832BF7C360}" type="slidenum">
              <a:rPr lang="en-US" smtClean="0"/>
              <a:t>‹#›</a:t>
            </a:fld>
            <a:endParaRPr lang="en-US"/>
          </a:p>
        </p:txBody>
      </p:sp>
    </p:spTree>
    <p:extLst>
      <p:ext uri="{BB962C8B-B14F-4D97-AF65-F5344CB8AC3E}">
        <p14:creationId xmlns:p14="http://schemas.microsoft.com/office/powerpoint/2010/main" val="1677116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8854DB-CBC7-0642-9B13-3D054C975652}" type="datetimeFigureOut">
              <a:rPr lang="en-US" smtClean="0"/>
              <a:t>4/11/25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6EFD99-2212-BC44-902F-9C832BF7C360}" type="slidenum">
              <a:rPr lang="en-US" smtClean="0"/>
              <a:t>‹#›</a:t>
            </a:fld>
            <a:endParaRPr lang="en-US"/>
          </a:p>
        </p:txBody>
      </p:sp>
    </p:spTree>
    <p:extLst>
      <p:ext uri="{BB962C8B-B14F-4D97-AF65-F5344CB8AC3E}">
        <p14:creationId xmlns:p14="http://schemas.microsoft.com/office/powerpoint/2010/main" val="1572131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8854DB-CBC7-0642-9B13-3D054C975652}" type="datetimeFigureOut">
              <a:rPr lang="en-US" smtClean="0"/>
              <a:t>4/11/25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6EFD99-2212-BC44-902F-9C832BF7C360}" type="slidenum">
              <a:rPr lang="en-US" smtClean="0"/>
              <a:t>‹#›</a:t>
            </a:fld>
            <a:endParaRPr lang="en-US"/>
          </a:p>
        </p:txBody>
      </p:sp>
    </p:spTree>
    <p:extLst>
      <p:ext uri="{BB962C8B-B14F-4D97-AF65-F5344CB8AC3E}">
        <p14:creationId xmlns:p14="http://schemas.microsoft.com/office/powerpoint/2010/main" val="180117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5B8854DB-CBC7-0642-9B13-3D054C975652}" type="datetimeFigureOut">
              <a:rPr lang="en-US" smtClean="0"/>
              <a:t>4/11/25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6EFD99-2212-BC44-902F-9C832BF7C360}" type="slidenum">
              <a:rPr lang="en-US" smtClean="0"/>
              <a:t>‹#›</a:t>
            </a:fld>
            <a:endParaRPr lang="en-US"/>
          </a:p>
        </p:txBody>
      </p:sp>
    </p:spTree>
    <p:extLst>
      <p:ext uri="{BB962C8B-B14F-4D97-AF65-F5344CB8AC3E}">
        <p14:creationId xmlns:p14="http://schemas.microsoft.com/office/powerpoint/2010/main" val="1435523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5B8854DB-CBC7-0642-9B13-3D054C975652}" type="datetimeFigureOut">
              <a:rPr lang="en-US" smtClean="0"/>
              <a:t>4/11/25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6EFD99-2212-BC44-902F-9C832BF7C360}" type="slidenum">
              <a:rPr lang="en-US" smtClean="0"/>
              <a:t>‹#›</a:t>
            </a:fld>
            <a:endParaRPr lang="en-US"/>
          </a:p>
        </p:txBody>
      </p:sp>
    </p:spTree>
    <p:extLst>
      <p:ext uri="{BB962C8B-B14F-4D97-AF65-F5344CB8AC3E}">
        <p14:creationId xmlns:p14="http://schemas.microsoft.com/office/powerpoint/2010/main" val="2014291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8854DB-CBC7-0642-9B13-3D054C975652}" type="datetimeFigureOut">
              <a:rPr lang="en-US" smtClean="0"/>
              <a:t>4/11/25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6EFD99-2212-BC44-902F-9C832BF7C360}" type="slidenum">
              <a:rPr lang="en-US" smtClean="0"/>
              <a:t>‹#›</a:t>
            </a:fld>
            <a:endParaRPr lang="en-US"/>
          </a:p>
        </p:txBody>
      </p:sp>
    </p:spTree>
    <p:extLst>
      <p:ext uri="{BB962C8B-B14F-4D97-AF65-F5344CB8AC3E}">
        <p14:creationId xmlns:p14="http://schemas.microsoft.com/office/powerpoint/2010/main" val="1269802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8854DB-CBC7-0642-9B13-3D054C975652}" type="datetimeFigureOut">
              <a:rPr lang="en-US" smtClean="0"/>
              <a:t>4/11/25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6EFD99-2212-BC44-902F-9C832BF7C360}" type="slidenum">
              <a:rPr lang="en-US" smtClean="0"/>
              <a:t>‹#›</a:t>
            </a:fld>
            <a:endParaRPr lang="en-US"/>
          </a:p>
        </p:txBody>
      </p:sp>
    </p:spTree>
    <p:extLst>
      <p:ext uri="{BB962C8B-B14F-4D97-AF65-F5344CB8AC3E}">
        <p14:creationId xmlns:p14="http://schemas.microsoft.com/office/powerpoint/2010/main" val="2023600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5B8854DB-CBC7-0642-9B13-3D054C975652}" type="datetimeFigureOut">
              <a:rPr lang="en-US" smtClean="0"/>
              <a:t>4/11/25</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EB6EFD99-2212-BC44-902F-9C832BF7C360}" type="slidenum">
              <a:rPr lang="en-US" smtClean="0"/>
              <a:t>‹#›</a:t>
            </a:fld>
            <a:endParaRPr lang="en-US"/>
          </a:p>
        </p:txBody>
      </p:sp>
    </p:spTree>
    <p:extLst>
      <p:ext uri="{BB962C8B-B14F-4D97-AF65-F5344CB8AC3E}">
        <p14:creationId xmlns:p14="http://schemas.microsoft.com/office/powerpoint/2010/main" val="129109453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18/10/relationships/comments" Target="../comments/modernComment_107_5BD7C4D2.xml"/><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Brand Graphic Elements (Web)">
            <a:extLst>
              <a:ext uri="{FF2B5EF4-FFF2-40B4-BE49-F238E27FC236}">
                <a16:creationId xmlns:a16="http://schemas.microsoft.com/office/drawing/2014/main" id="{7659917D-2040-59FB-4679-763567A30ABC}"/>
              </a:ext>
            </a:extLst>
          </p:cNvPr>
          <p:cNvPicPr>
            <a:picLocks noGrp="1" noRot="1" noChangeAspect="1" noMove="1" noResize="1" noEditPoints="1" noAdjustHandles="1" noChangeArrowheads="1" noChangeShapeType="1" noCrop="1"/>
          </p:cNvPicPr>
          <p:nvPr/>
        </p:nvPicPr>
        <p:blipFill>
          <a:blip r:embed="rId4">
            <a:alphaModFix amt="15000"/>
            <a:extLst>
              <a:ext uri="{28A0092B-C50C-407E-A947-70E740481C1C}">
                <a14:useLocalDpi xmlns:a14="http://schemas.microsoft.com/office/drawing/2010/main" val="0"/>
              </a:ext>
            </a:extLst>
          </a:blip>
          <a:srcRect/>
          <a:stretch>
            <a:fillRect/>
          </a:stretch>
        </p:blipFill>
        <p:spPr bwMode="auto">
          <a:xfrm>
            <a:off x="-4229045" y="-7110194"/>
            <a:ext cx="34911846" cy="2917424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rand Graphic Elements (Web)">
            <a:extLst>
              <a:ext uri="{FF2B5EF4-FFF2-40B4-BE49-F238E27FC236}">
                <a16:creationId xmlns:a16="http://schemas.microsoft.com/office/drawing/2014/main" id="{ADD598A1-1DF6-1368-D202-069B33F06926}"/>
              </a:ext>
            </a:extLst>
          </p:cNvPr>
          <p:cNvPicPr>
            <a:picLocks noGrp="1" noRot="1" noChangeAspect="1" noMove="1" noResize="1" noEditPoints="1" noAdjustHandles="1" noChangeArrowheads="1" noChangeShapeType="1" noCrop="1"/>
          </p:cNvPicPr>
          <p:nvPr/>
        </p:nvPicPr>
        <p:blipFill rotWithShape="1">
          <a:blip r:embed="rId5">
            <a:alphaModFix amt="15000"/>
            <a:extLst>
              <a:ext uri="{28A0092B-C50C-407E-A947-70E740481C1C}">
                <a14:useLocalDpi xmlns:a14="http://schemas.microsoft.com/office/drawing/2010/main" val="0"/>
              </a:ext>
            </a:extLst>
          </a:blip>
          <a:srcRect b="21898"/>
          <a:stretch/>
        </p:blipFill>
        <p:spPr bwMode="auto">
          <a:xfrm>
            <a:off x="19727342" y="6962991"/>
            <a:ext cx="26610609" cy="260335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C310B08-DC42-BD76-1AD9-F2953B877134}"/>
              </a:ext>
            </a:extLst>
          </p:cNvPr>
          <p:cNvSpPr txBox="1"/>
          <p:nvPr/>
        </p:nvSpPr>
        <p:spPr>
          <a:xfrm>
            <a:off x="358376" y="5498774"/>
            <a:ext cx="13716000" cy="4678204"/>
          </a:xfrm>
          <a:prstGeom prst="rect">
            <a:avLst/>
          </a:prstGeom>
          <a:noFill/>
        </p:spPr>
        <p:txBody>
          <a:bodyPr wrap="square" lIns="91440" tIns="45720" rIns="91440" bIns="45720" rtlCol="0" anchor="t">
            <a:spAutoFit/>
          </a:bodyPr>
          <a:lstStyle/>
          <a:p>
            <a:pPr>
              <a:spcAft>
                <a:spcPts val="1200"/>
              </a:spcAft>
            </a:pPr>
            <a:r>
              <a:rPr lang="en-US" sz="6000" b="1" dirty="0">
                <a:latin typeface="Lucida Sans Unicode"/>
                <a:ea typeface="Verdana"/>
                <a:cs typeface="Lucida Sans Unicode"/>
              </a:rPr>
              <a:t>ABSTRACT</a:t>
            </a:r>
          </a:p>
          <a:p>
            <a:r>
              <a:rPr lang="en-US" sz="2400" dirty="0">
                <a:latin typeface="Lucida Sans Unicode"/>
                <a:ea typeface="+mn-lt"/>
                <a:cs typeface="Lucida Sans Unicode"/>
              </a:rPr>
              <a:t>Static reverse engineering enables malware analysis without executing potentially harmful code. While tools like Ghidra are widely used for this purpose, they struggle with highly optimized or obfuscated binaries. Manual analysis, though more accurate, is slow, resource-intensive, and dependent on expert knowledge. </a:t>
            </a:r>
            <a:r>
              <a:rPr lang="en-US" sz="2400" err="1">
                <a:latin typeface="Lucida Sans Unicode"/>
                <a:ea typeface="+mn-lt"/>
                <a:cs typeface="Lucida Sans Unicode"/>
              </a:rPr>
              <a:t>GleNN</a:t>
            </a:r>
            <a:r>
              <a:rPr lang="en-US" sz="2400">
                <a:latin typeface="Lucida Sans Unicode"/>
                <a:ea typeface="+mn-lt"/>
                <a:cs typeface="Lucida Sans Unicode"/>
              </a:rPr>
              <a:t> (Graph-Language Enhanced Neural Network) is our proposed solution to this challenge: a retrieval-augmented generation (RAG) pipeline that supplements a large language model (LLM) with contextual code retrieved from a Neo4j graph database. </a:t>
            </a:r>
            <a:r>
              <a:rPr lang="en-US" sz="2400" dirty="0">
                <a:latin typeface="Lucida Sans Unicode"/>
                <a:ea typeface="+mn-lt"/>
                <a:cs typeface="Lucida Sans Unicode"/>
              </a:rPr>
              <a:t>By incorporating control-flow graph (CFG) structure and semantically similar C functions, GleNN produces more complete and accurate de-compilations while reducing the burden on analysts.</a:t>
            </a:r>
            <a:endParaRPr lang="en-US" sz="1200" dirty="0">
              <a:latin typeface="Lucida Sans Unicode" panose="020B0602030504020204" pitchFamily="34" charset="0"/>
              <a:ea typeface="Calibri"/>
              <a:cs typeface="Lucida Sans Unicode" panose="020B0602030504020204" pitchFamily="34" charset="0"/>
            </a:endParaRPr>
          </a:p>
          <a:p>
            <a:endParaRPr lang="en-US" sz="1200" dirty="0">
              <a:latin typeface="Lucida Sans Unicode" panose="020B0602030504020204" pitchFamily="34" charset="0"/>
              <a:ea typeface="Verdana" panose="020B0604030504040204" pitchFamily="34" charset="0"/>
              <a:cs typeface="Lucida Sans Unicode" panose="020B0602030504020204" pitchFamily="34" charset="0"/>
            </a:endParaRPr>
          </a:p>
        </p:txBody>
      </p:sp>
      <p:sp>
        <p:nvSpPr>
          <p:cNvPr id="5" name="TextBox 4">
            <a:extLst>
              <a:ext uri="{FF2B5EF4-FFF2-40B4-BE49-F238E27FC236}">
                <a16:creationId xmlns:a16="http://schemas.microsoft.com/office/drawing/2014/main" id="{1715E2D8-43D2-0806-3096-FEB0262CB21F}"/>
              </a:ext>
            </a:extLst>
          </p:cNvPr>
          <p:cNvSpPr txBox="1"/>
          <p:nvPr/>
        </p:nvSpPr>
        <p:spPr>
          <a:xfrm>
            <a:off x="355621" y="10199264"/>
            <a:ext cx="13887450" cy="4124206"/>
          </a:xfrm>
          <a:prstGeom prst="rect">
            <a:avLst/>
          </a:prstGeom>
          <a:noFill/>
        </p:spPr>
        <p:txBody>
          <a:bodyPr wrap="square" lIns="91440" tIns="45720" rIns="91440" bIns="45720" rtlCol="0" anchor="t">
            <a:spAutoFit/>
          </a:bodyPr>
          <a:lstStyle/>
          <a:p>
            <a:pPr>
              <a:spcAft>
                <a:spcPts val="1200"/>
              </a:spcAft>
            </a:pPr>
            <a:r>
              <a:rPr lang="en-US" sz="6000" b="1">
                <a:latin typeface="Lucida Sans Unicode"/>
                <a:ea typeface="Verdana"/>
                <a:cs typeface="Lucida Sans Unicode"/>
              </a:rPr>
              <a:t>INTRODUCTION</a:t>
            </a:r>
          </a:p>
          <a:p>
            <a:r>
              <a:rPr lang="en-US" sz="2400">
                <a:latin typeface="Lucida Sans Unicode"/>
                <a:ea typeface="+mn-lt"/>
                <a:cs typeface="Lucida Sans Unicode"/>
              </a:rPr>
              <a:t>Reverse engineering obfuscated or optimized binaries is a critical challenge in cybersecurity. While automated tools like Ghidra are fast, they often fail to recover meaningful structure under code transformations. Manual methods are accurate but unscalable. </a:t>
            </a:r>
            <a:r>
              <a:rPr lang="en-US" sz="2400" err="1">
                <a:latin typeface="Lucida Sans Unicode"/>
                <a:ea typeface="+mn-lt"/>
                <a:cs typeface="Lucida Sans Unicode"/>
              </a:rPr>
              <a:t>GleNN</a:t>
            </a:r>
            <a:r>
              <a:rPr lang="en-US" sz="2400">
                <a:latin typeface="Lucida Sans Unicode"/>
                <a:ea typeface="+mn-lt"/>
                <a:cs typeface="Lucida Sans Unicode"/>
              </a:rPr>
              <a:t> enhances static decompilation by combining large language models with contextual retrieval. Building on LLM4Decompile, our approach introduces a Neo4j-based retrieval layer that identifies structurally similar control-flow graphs (.dot) and uses their associated C code to guide the model’s generation, improving output quality in difficult cases.</a:t>
            </a:r>
            <a:endParaRPr lang="en-US">
              <a:latin typeface="Lucida Sans Unicode"/>
              <a:cs typeface="Lucida Sans Unicode"/>
            </a:endParaRPr>
          </a:p>
        </p:txBody>
      </p:sp>
      <p:sp>
        <p:nvSpPr>
          <p:cNvPr id="6" name="TextBox 5">
            <a:extLst>
              <a:ext uri="{FF2B5EF4-FFF2-40B4-BE49-F238E27FC236}">
                <a16:creationId xmlns:a16="http://schemas.microsoft.com/office/drawing/2014/main" id="{6BEFE3AA-12B1-9C29-88A2-46744AA36F1B}"/>
              </a:ext>
            </a:extLst>
          </p:cNvPr>
          <p:cNvSpPr txBox="1"/>
          <p:nvPr/>
        </p:nvSpPr>
        <p:spPr>
          <a:xfrm>
            <a:off x="216768" y="14311285"/>
            <a:ext cx="13716000" cy="6494085"/>
          </a:xfrm>
          <a:prstGeom prst="rect">
            <a:avLst/>
          </a:prstGeom>
          <a:noFill/>
        </p:spPr>
        <p:txBody>
          <a:bodyPr wrap="square" lIns="91440" tIns="45720" rIns="91440" bIns="45720" rtlCol="0" anchor="t">
            <a:spAutoFit/>
          </a:bodyPr>
          <a:lstStyle/>
          <a:p>
            <a:pPr>
              <a:spcAft>
                <a:spcPts val="1200"/>
              </a:spcAft>
            </a:pPr>
            <a:r>
              <a:rPr lang="en-US" sz="6000" b="1">
                <a:latin typeface="Lucida Sans Unicode"/>
                <a:ea typeface="Verdana"/>
                <a:cs typeface="Lucida Sans Unicode"/>
              </a:rPr>
              <a:t>METHODOLOGY </a:t>
            </a:r>
          </a:p>
          <a:p>
            <a:r>
              <a:rPr lang="en-US" sz="2400">
                <a:latin typeface="Lucida Sans Unicode"/>
                <a:ea typeface="Verdana"/>
                <a:cs typeface="Lucida Sans Unicode"/>
              </a:rPr>
              <a:t>Our approach is composed of four key components:</a:t>
            </a:r>
          </a:p>
          <a:p>
            <a:endParaRPr lang="en-US" sz="2400">
              <a:latin typeface="Lucida Sans Unicode"/>
              <a:ea typeface="Verdana"/>
              <a:cs typeface="Lucida Sans Unicode"/>
            </a:endParaRPr>
          </a:p>
          <a:p>
            <a:pPr marL="457200" indent="-457200">
              <a:spcAft>
                <a:spcPts val="600"/>
              </a:spcAft>
              <a:buFont typeface="+mj-lt"/>
              <a:buAutoNum type="arabicPeriod"/>
            </a:pPr>
            <a:r>
              <a:rPr lang="en-US" sz="2400" b="1">
                <a:latin typeface="Lucida Sans Unicode"/>
                <a:ea typeface="Verdana"/>
                <a:cs typeface="Lucida Sans Unicode"/>
              </a:rPr>
              <a:t>CFG Embedding &amp; Database Storage</a:t>
            </a:r>
            <a:r>
              <a:rPr lang="en-US" sz="2400">
                <a:latin typeface="Lucida Sans Unicode"/>
                <a:ea typeface="Verdana"/>
                <a:cs typeface="Lucida Sans Unicode"/>
              </a:rPr>
              <a:t>: C files from </a:t>
            </a:r>
            <a:r>
              <a:rPr lang="en-US" sz="2400" err="1">
                <a:latin typeface="Lucida Sans Unicode"/>
                <a:ea typeface="Verdana"/>
                <a:cs typeface="Lucida Sans Unicode"/>
              </a:rPr>
              <a:t>ExeBench</a:t>
            </a:r>
            <a:r>
              <a:rPr lang="en-US" sz="2400">
                <a:latin typeface="Lucida Sans Unicode"/>
                <a:ea typeface="Verdana"/>
                <a:cs typeface="Lucida Sans Unicode"/>
              </a:rPr>
              <a:t> database are used to create CFG/.dot files that are parsed to extract the structure (nodes, edges, loops, decision points). Each graph is assigned a </a:t>
            </a:r>
            <a:r>
              <a:rPr lang="en-US" sz="2400" err="1">
                <a:latin typeface="Lucida Sans Unicode"/>
                <a:ea typeface="Verdana"/>
                <a:cs typeface="Lucida Sans Unicode"/>
              </a:rPr>
              <a:t>CodeBERT</a:t>
            </a:r>
            <a:r>
              <a:rPr lang="en-US" sz="2400">
                <a:latin typeface="Lucida Sans Unicode"/>
                <a:ea typeface="Verdana"/>
                <a:cs typeface="Lucida Sans Unicode"/>
              </a:rPr>
              <a:t> embedding and stored in a Neo4j database alongside the original C and assembly code.</a:t>
            </a:r>
          </a:p>
          <a:p>
            <a:pPr marL="457200" indent="-457200">
              <a:spcAft>
                <a:spcPts val="600"/>
              </a:spcAft>
              <a:buFont typeface="+mj-lt"/>
              <a:buAutoNum type="arabicPeriod"/>
            </a:pPr>
            <a:r>
              <a:rPr lang="en-US" sz="2400" b="1">
                <a:latin typeface="Lucida Sans Unicode"/>
                <a:ea typeface="Verdana"/>
                <a:cs typeface="Lucida Sans Unicode"/>
              </a:rPr>
              <a:t>Build the Retrieval-Augmented Generation (RAG):</a:t>
            </a:r>
            <a:r>
              <a:rPr lang="en-US" sz="2400">
                <a:latin typeface="Lucida Sans Unicode"/>
                <a:ea typeface="Verdana"/>
                <a:cs typeface="Lucida Sans Unicode"/>
              </a:rPr>
              <a:t> A user begins with an object binary file. The pipeline creates a dot file and assembly file to query the Neo4j graph database. This happens in two phases where the first pass uses vector-based embedding similarity search, and the second refines based on graph edit distance (GED).</a:t>
            </a:r>
          </a:p>
          <a:p>
            <a:pPr marL="457200" indent="-457200">
              <a:spcAft>
                <a:spcPts val="600"/>
              </a:spcAft>
              <a:buFont typeface="+mj-lt"/>
              <a:buAutoNum type="arabicPeriod"/>
            </a:pPr>
            <a:r>
              <a:rPr lang="en-US" sz="2400" b="1">
                <a:latin typeface="Lucida Sans Unicode"/>
                <a:ea typeface="Verdana"/>
                <a:cs typeface="Lucida Sans Unicode"/>
              </a:rPr>
              <a:t>LLM Inference: </a:t>
            </a:r>
            <a:r>
              <a:rPr lang="en-US" sz="2400">
                <a:latin typeface="Lucida Sans Unicode"/>
                <a:ea typeface="Verdana"/>
                <a:cs typeface="Lucida Sans Unicode"/>
              </a:rPr>
              <a:t>The original assembly file and the top retrieved C code examples are passed into a language model. These context-rich prompts allow the model to generate a more accurate final C representation. The result is evaluated based on format, syntax, and </a:t>
            </a:r>
            <a:r>
              <a:rPr lang="en-US" sz="2400" err="1">
                <a:latin typeface="Lucida Sans Unicode"/>
                <a:ea typeface="Verdana"/>
                <a:cs typeface="Lucida Sans Unicode"/>
              </a:rPr>
              <a:t>recompilability</a:t>
            </a:r>
            <a:r>
              <a:rPr lang="en-US" sz="2400">
                <a:latin typeface="Lucida Sans Unicode"/>
                <a:ea typeface="Verdana"/>
                <a:cs typeface="Lucida Sans Unicode"/>
              </a:rPr>
              <a:t>.</a:t>
            </a:r>
            <a:endParaRPr lang="en-US" sz="2400">
              <a:highlight>
                <a:srgbClr val="FFFF00"/>
              </a:highlight>
              <a:latin typeface="Lucida Sans Unicode" panose="020B0602030504020204" pitchFamily="34" charset="0"/>
              <a:ea typeface="Verdana"/>
              <a:cs typeface="Lucida Sans Unicode" panose="020B0602030504020204" pitchFamily="34" charset="0"/>
            </a:endParaRPr>
          </a:p>
        </p:txBody>
      </p:sp>
      <p:sp>
        <p:nvSpPr>
          <p:cNvPr id="7" name="TextBox 6">
            <a:extLst>
              <a:ext uri="{FF2B5EF4-FFF2-40B4-BE49-F238E27FC236}">
                <a16:creationId xmlns:a16="http://schemas.microsoft.com/office/drawing/2014/main" id="{6B85FB19-5864-CFE8-7F26-E7F2FC14ABF9}"/>
              </a:ext>
            </a:extLst>
          </p:cNvPr>
          <p:cNvSpPr txBox="1"/>
          <p:nvPr/>
        </p:nvSpPr>
        <p:spPr>
          <a:xfrm>
            <a:off x="14729259" y="17608688"/>
            <a:ext cx="13716000" cy="10556736"/>
          </a:xfrm>
          <a:prstGeom prst="rect">
            <a:avLst/>
          </a:prstGeom>
          <a:noFill/>
        </p:spPr>
        <p:txBody>
          <a:bodyPr wrap="square" lIns="91440" tIns="45720" rIns="91440" bIns="45720" rtlCol="0" anchor="t">
            <a:spAutoFit/>
          </a:bodyPr>
          <a:lstStyle/>
          <a:p>
            <a:pPr>
              <a:spcAft>
                <a:spcPts val="1200"/>
              </a:spcAft>
            </a:pPr>
            <a:r>
              <a:rPr lang="en-US" sz="6000" b="1">
                <a:latin typeface="Lucida Sans Unicode"/>
                <a:ea typeface="Verdana"/>
                <a:cs typeface="Lucida Sans Unicode"/>
              </a:rPr>
              <a:t>RESULTS </a:t>
            </a:r>
            <a:endParaRPr lang="en-US" sz="2400">
              <a:latin typeface="Lucida Sans Unicode"/>
              <a:ea typeface="Verdana"/>
              <a:cs typeface="Lucida Sans Unicode"/>
            </a:endParaRPr>
          </a:p>
          <a:p>
            <a:r>
              <a:rPr lang="en-US" sz="2400">
                <a:latin typeface="Lucida Sans Unicode"/>
                <a:ea typeface="Verdana"/>
                <a:cs typeface="Lucida Sans Unicode"/>
              </a:rPr>
              <a:t>Our Neo4j graph database includes over 25,000 unique C functions, each indexed with structural metadata and embeddings. Testing was conducted on over 1,500 object files, using re-executability, syntax accuracy, and token-level matching as evaluation criteria.</a:t>
            </a:r>
          </a:p>
          <a:p>
            <a:endParaRPr lang="en-US" sz="2400">
              <a:latin typeface="Lucida Sans Unicode"/>
              <a:ea typeface="Verdana"/>
              <a:cs typeface="Lucida Sans Unicode"/>
            </a:endParaRPr>
          </a:p>
          <a:p>
            <a:endParaRPr lang="en-US" sz="2400">
              <a:latin typeface="Lucida Sans Unicode" panose="020B0602030504020204" pitchFamily="34" charset="0"/>
              <a:ea typeface="Verdana" panose="020B0604030504040204" pitchFamily="34" charset="0"/>
              <a:cs typeface="Lucida Sans Unicode" panose="020B0602030504020204" pitchFamily="34" charset="0"/>
            </a:endParaRPr>
          </a:p>
          <a:p>
            <a:endParaRPr lang="en-US" sz="2400">
              <a:latin typeface="Lucida Sans Unicode" panose="020B0602030504020204" pitchFamily="34" charset="0"/>
              <a:ea typeface="Verdana" panose="020B0604030504040204" pitchFamily="34" charset="0"/>
              <a:cs typeface="Lucida Sans Unicode" panose="020B0602030504020204" pitchFamily="34" charset="0"/>
            </a:endParaRPr>
          </a:p>
          <a:p>
            <a:pPr marL="342900" indent="-342900">
              <a:buFont typeface="Arial" panose="020B0604020202020204" pitchFamily="34" charset="0"/>
              <a:buChar char="•"/>
            </a:pPr>
            <a:endParaRPr lang="en-US" sz="2400">
              <a:latin typeface="Lucida Sans Unicode" panose="020B0602030504020204" pitchFamily="34" charset="0"/>
              <a:ea typeface="Verdana" panose="020B0604030504040204" pitchFamily="34" charset="0"/>
              <a:cs typeface="Lucida Sans Unicode" panose="020B0602030504020204" pitchFamily="34" charset="0"/>
            </a:endParaRPr>
          </a:p>
          <a:p>
            <a:pPr marL="342900" indent="-342900">
              <a:buFont typeface="Arial" panose="020B0604020202020204" pitchFamily="34" charset="0"/>
              <a:buChar char="•"/>
            </a:pPr>
            <a:endParaRPr lang="en-US" sz="2400">
              <a:latin typeface="Lucida Sans Unicode" panose="020B0602030504020204" pitchFamily="34" charset="0"/>
              <a:ea typeface="Verdana" panose="020B0604030504040204" pitchFamily="34" charset="0"/>
              <a:cs typeface="Lucida Sans Unicode" panose="020B0602030504020204" pitchFamily="34" charset="0"/>
            </a:endParaRPr>
          </a:p>
          <a:p>
            <a:pPr marL="342900" indent="-342900">
              <a:buFont typeface="Arial" panose="020B0604020202020204" pitchFamily="34" charset="0"/>
              <a:buChar char="•"/>
            </a:pPr>
            <a:endParaRPr lang="en-US" sz="2400">
              <a:latin typeface="Lucida Sans Unicode" panose="020B0602030504020204" pitchFamily="34" charset="0"/>
              <a:ea typeface="Verdana" panose="020B0604030504040204" pitchFamily="34" charset="0"/>
              <a:cs typeface="Lucida Sans Unicode" panose="020B0602030504020204" pitchFamily="34" charset="0"/>
            </a:endParaRPr>
          </a:p>
          <a:p>
            <a:pPr marL="342900" indent="-342900">
              <a:buFont typeface="Arial" panose="020B0604020202020204" pitchFamily="34" charset="0"/>
              <a:buChar char="•"/>
            </a:pPr>
            <a:endParaRPr lang="en-US" sz="2400">
              <a:latin typeface="Lucida Sans Unicode" panose="020B0602030504020204" pitchFamily="34" charset="0"/>
              <a:ea typeface="Verdana" panose="020B0604030504040204" pitchFamily="34" charset="0"/>
              <a:cs typeface="Lucida Sans Unicode" panose="020B0602030504020204" pitchFamily="34" charset="0"/>
            </a:endParaRPr>
          </a:p>
          <a:p>
            <a:pPr marL="342900" indent="-342900">
              <a:buFont typeface="Arial" panose="020B0604020202020204" pitchFamily="34" charset="0"/>
              <a:buChar char="•"/>
            </a:pPr>
            <a:endParaRPr lang="en-US" sz="2400">
              <a:latin typeface="Lucida Sans Unicode" panose="020B0602030504020204" pitchFamily="34" charset="0"/>
              <a:ea typeface="Verdana" panose="020B0604030504040204" pitchFamily="34" charset="0"/>
              <a:cs typeface="Lucida Sans Unicode" panose="020B0602030504020204" pitchFamily="34" charset="0"/>
            </a:endParaRPr>
          </a:p>
          <a:p>
            <a:pPr marL="342900" indent="-342900">
              <a:buFont typeface="Arial" panose="020B0604020202020204" pitchFamily="34" charset="0"/>
              <a:buChar char="•"/>
            </a:pPr>
            <a:endParaRPr lang="en-US" sz="2400">
              <a:latin typeface="Lucida Sans Unicode" panose="020B0602030504020204" pitchFamily="34" charset="0"/>
              <a:ea typeface="Verdana" panose="020B0604030504040204" pitchFamily="34" charset="0"/>
              <a:cs typeface="Lucida Sans Unicode" panose="020B0602030504020204" pitchFamily="34" charset="0"/>
            </a:endParaRPr>
          </a:p>
          <a:p>
            <a:pPr marL="342900" indent="-342900">
              <a:buFont typeface="Arial" panose="020B0604020202020204" pitchFamily="34" charset="0"/>
              <a:buChar char="•"/>
            </a:pPr>
            <a:endParaRPr lang="en-US" sz="2400">
              <a:latin typeface="Lucida Sans Unicode"/>
              <a:ea typeface="Verdana"/>
              <a:cs typeface="Lucida Sans Unicode"/>
            </a:endParaRPr>
          </a:p>
          <a:p>
            <a:pPr marL="342900" indent="-342900">
              <a:buFont typeface="Arial" panose="020B0604020202020204" pitchFamily="34" charset="0"/>
              <a:buChar char="•"/>
            </a:pPr>
            <a:endParaRPr lang="en-US" sz="2400">
              <a:latin typeface="Lucida Sans Unicode"/>
              <a:ea typeface="Verdana"/>
              <a:cs typeface="Lucida Sans Unicode"/>
            </a:endParaRPr>
          </a:p>
          <a:p>
            <a:pPr marL="342900" indent="-342900">
              <a:buFont typeface="Arial" panose="020B0604020202020204" pitchFamily="34" charset="0"/>
              <a:buChar char="•"/>
            </a:pPr>
            <a:endParaRPr lang="en-US" sz="2400">
              <a:latin typeface="Lucida Sans Unicode"/>
              <a:ea typeface="Verdana"/>
              <a:cs typeface="Lucida Sans Unicode"/>
            </a:endParaRPr>
          </a:p>
          <a:p>
            <a:endParaRPr lang="en-US" sz="2400">
              <a:latin typeface="Lucida Sans Unicode"/>
              <a:ea typeface="Verdana"/>
              <a:cs typeface="Lucida Sans Unicode"/>
            </a:endParaRPr>
          </a:p>
          <a:p>
            <a:endParaRPr lang="en-US" sz="2400">
              <a:latin typeface="Lucida Sans Unicode"/>
              <a:ea typeface="Verdana"/>
              <a:cs typeface="Lucida Sans Unicode"/>
            </a:endParaRPr>
          </a:p>
          <a:p>
            <a:endParaRPr lang="en-US" sz="2400">
              <a:latin typeface="Lucida Sans Unicode"/>
              <a:ea typeface="Verdana"/>
              <a:cs typeface="Lucida Sans Unicode"/>
            </a:endParaRPr>
          </a:p>
          <a:p>
            <a:endParaRPr lang="en-US" sz="2400">
              <a:latin typeface="Lucida Sans Unicode"/>
              <a:ea typeface="Verdana"/>
              <a:cs typeface="Lucida Sans Unicode"/>
            </a:endParaRPr>
          </a:p>
          <a:p>
            <a:pPr marL="342900" indent="-342900">
              <a:spcAft>
                <a:spcPts val="600"/>
              </a:spcAft>
              <a:buFont typeface="Arial" panose="020B0604020202020204" pitchFamily="34" charset="0"/>
              <a:buChar char="•"/>
            </a:pPr>
            <a:r>
              <a:rPr lang="en-US" sz="2400" err="1">
                <a:latin typeface="Lucida Sans Unicode"/>
                <a:ea typeface="Verdana"/>
                <a:cs typeface="Lucida Sans Unicode"/>
              </a:rPr>
              <a:t>GleNN</a:t>
            </a:r>
            <a:r>
              <a:rPr lang="en-US" sz="2400">
                <a:latin typeface="Lucida Sans Unicode"/>
                <a:ea typeface="Verdana"/>
                <a:cs typeface="Lucida Sans Unicode"/>
              </a:rPr>
              <a:t> achieved a 99.41% re-executability rate, compared to 63.4% from LLM4Decompile</a:t>
            </a:r>
            <a:endParaRPr lang="en-US" sz="2400">
              <a:latin typeface="Lucida Sans Unicode" panose="020B0602030504020204" pitchFamily="34" charset="0"/>
              <a:ea typeface="Verdana" panose="020B0604030504040204" pitchFamily="34" charset="0"/>
              <a:cs typeface="Lucida Sans Unicode" panose="020B0602030504020204" pitchFamily="34" charset="0"/>
            </a:endParaRPr>
          </a:p>
          <a:p>
            <a:pPr marL="342900" indent="-342900">
              <a:spcAft>
                <a:spcPts val="600"/>
              </a:spcAft>
              <a:buFont typeface="Arial" panose="020B0604020202020204" pitchFamily="34" charset="0"/>
              <a:buChar char="•"/>
            </a:pPr>
            <a:r>
              <a:rPr lang="en-US" sz="2400">
                <a:latin typeface="Lucida Sans Unicode"/>
                <a:ea typeface="Verdana"/>
                <a:cs typeface="Lucida Sans Unicode"/>
              </a:rPr>
              <a:t>CFGs with fewer nodes (&lt;12) consistently showed higher fidelity in reconstruction, while large and deeply nested CFGs showed diminishing returns.</a:t>
            </a:r>
            <a:endParaRPr lang="en-US" sz="2400">
              <a:latin typeface="Lucida Sans Unicode" panose="020B0602030504020204" pitchFamily="34" charset="0"/>
              <a:ea typeface="Verdana" panose="020B0604030504040204" pitchFamily="34" charset="0"/>
              <a:cs typeface="Lucida Sans Unicode" panose="020B0602030504020204" pitchFamily="34" charset="0"/>
            </a:endParaRPr>
          </a:p>
          <a:p>
            <a:pPr marL="342900" indent="-342900">
              <a:spcAft>
                <a:spcPts val="600"/>
              </a:spcAft>
              <a:buFont typeface="Arial" panose="020B0604020202020204" pitchFamily="34" charset="0"/>
              <a:buChar char="•"/>
            </a:pPr>
            <a:r>
              <a:rPr lang="en-US" sz="2400">
                <a:latin typeface="Lucida Sans Unicode"/>
                <a:ea typeface="Verdana"/>
                <a:cs typeface="Lucida Sans Unicode"/>
              </a:rPr>
              <a:t>Manual review revealed that context quality significantly impacted LLM performance, with irrelevant or overly generic samples leading to hallucinated or incorrect outputs.</a:t>
            </a:r>
          </a:p>
        </p:txBody>
      </p:sp>
      <p:sp>
        <p:nvSpPr>
          <p:cNvPr id="8" name="TextBox 7">
            <a:extLst>
              <a:ext uri="{FF2B5EF4-FFF2-40B4-BE49-F238E27FC236}">
                <a16:creationId xmlns:a16="http://schemas.microsoft.com/office/drawing/2014/main" id="{E10DD54C-039F-3CC0-CF04-92D71A9EA867}"/>
              </a:ext>
            </a:extLst>
          </p:cNvPr>
          <p:cNvSpPr txBox="1"/>
          <p:nvPr/>
        </p:nvSpPr>
        <p:spPr>
          <a:xfrm>
            <a:off x="14849787" y="28628082"/>
            <a:ext cx="13716000" cy="4493538"/>
          </a:xfrm>
          <a:prstGeom prst="rect">
            <a:avLst/>
          </a:prstGeom>
          <a:noFill/>
        </p:spPr>
        <p:txBody>
          <a:bodyPr wrap="square" lIns="91440" tIns="45720" rIns="91440" bIns="45720" rtlCol="0" anchor="t">
            <a:spAutoFit/>
          </a:bodyPr>
          <a:lstStyle/>
          <a:p>
            <a:pPr>
              <a:spcAft>
                <a:spcPts val="1200"/>
              </a:spcAft>
            </a:pPr>
            <a:r>
              <a:rPr lang="en-US" sz="6000" b="1">
                <a:latin typeface="Lucida Sans Unicode"/>
                <a:ea typeface="Verdana"/>
                <a:cs typeface="Lucida Sans Unicode"/>
              </a:rPr>
              <a:t>CONCLUSIONS</a:t>
            </a:r>
            <a:endParaRPr lang="en-US"/>
          </a:p>
          <a:p>
            <a:r>
              <a:rPr lang="en-US" sz="2400">
                <a:latin typeface="Lucida Sans Unicode"/>
                <a:ea typeface="Verdana"/>
                <a:cs typeface="Lucida Sans Unicode"/>
              </a:rPr>
              <a:t>Our results show that </a:t>
            </a:r>
            <a:r>
              <a:rPr lang="en-US" sz="2400" err="1">
                <a:latin typeface="Lucida Sans Unicode"/>
                <a:ea typeface="Verdana"/>
                <a:cs typeface="Lucida Sans Unicode"/>
              </a:rPr>
              <a:t>GleNN</a:t>
            </a:r>
            <a:r>
              <a:rPr lang="en-US" sz="2400">
                <a:latin typeface="Lucida Sans Unicode"/>
                <a:ea typeface="Verdana"/>
                <a:cs typeface="Lucida Sans Unicode"/>
              </a:rPr>
              <a:t> can improve the quality of </a:t>
            </a:r>
            <a:r>
              <a:rPr lang="en-US" sz="2400" err="1">
                <a:latin typeface="Lucida Sans Unicode"/>
                <a:ea typeface="Verdana"/>
                <a:cs typeface="Lucida Sans Unicode"/>
              </a:rPr>
              <a:t>decompilation</a:t>
            </a:r>
            <a:r>
              <a:rPr lang="en-US" sz="2400">
                <a:latin typeface="Lucida Sans Unicode"/>
                <a:ea typeface="Verdana"/>
                <a:cs typeface="Lucida Sans Unicode"/>
              </a:rPr>
              <a:t> over baseline LLM models by incorporating structurally similar context through a retrieval-augmented generation pipeline. While the improvement is incremental rather than dramatic, it demonstrates the potential of combining graph-based retrieval with LLM prompting strategies. Future work can explore optimizing code retrieval techniques, refining prompt engineering, and experimenting with alternative LLM architectures to further boost performance.</a:t>
            </a:r>
          </a:p>
          <a:p>
            <a:endParaRPr lang="en-US" sz="2400">
              <a:latin typeface="Lucida Sans Unicode"/>
              <a:ea typeface="Verdana"/>
              <a:cs typeface="Lucida Sans Unicode"/>
            </a:endParaRPr>
          </a:p>
          <a:p>
            <a:endParaRPr lang="en-US" sz="2400">
              <a:latin typeface="Lucida Sans Unicode"/>
              <a:ea typeface="Verdana"/>
              <a:cs typeface="Lucida Sans Unicode"/>
            </a:endParaRPr>
          </a:p>
        </p:txBody>
      </p:sp>
      <p:sp>
        <p:nvSpPr>
          <p:cNvPr id="9" name="TextBox 8">
            <a:extLst>
              <a:ext uri="{FF2B5EF4-FFF2-40B4-BE49-F238E27FC236}">
                <a16:creationId xmlns:a16="http://schemas.microsoft.com/office/drawing/2014/main" id="{4DB2F0C5-86DB-6C38-5CDB-CED224E3D813}"/>
              </a:ext>
            </a:extLst>
          </p:cNvPr>
          <p:cNvSpPr txBox="1"/>
          <p:nvPr/>
        </p:nvSpPr>
        <p:spPr>
          <a:xfrm>
            <a:off x="29321614" y="26160736"/>
            <a:ext cx="13716000" cy="2123658"/>
          </a:xfrm>
          <a:prstGeom prst="rect">
            <a:avLst/>
          </a:prstGeom>
          <a:noFill/>
        </p:spPr>
        <p:txBody>
          <a:bodyPr wrap="square" lIns="91440" tIns="45720" rIns="91440" bIns="45720" rtlCol="0" anchor="t">
            <a:spAutoFit/>
          </a:bodyPr>
          <a:lstStyle/>
          <a:p>
            <a:r>
              <a:rPr lang="en-US" sz="6000" b="1">
                <a:latin typeface="Lucida Sans Unicode"/>
                <a:ea typeface="Verdana"/>
                <a:cs typeface="Lucida Sans Unicode"/>
              </a:rPr>
              <a:t>ACKNOWLEDGEMENTS</a:t>
            </a:r>
          </a:p>
          <a:p>
            <a:r>
              <a:rPr lang="en-US" sz="2400">
                <a:latin typeface="Lucida Sans Unicode"/>
                <a:ea typeface="Verdana"/>
                <a:cs typeface="Lucida Sans Unicode"/>
              </a:rPr>
              <a:t>We gratefully acknowledge Dr. Henry Coffman for his guidance, Dr. Tanvir </a:t>
            </a:r>
            <a:r>
              <a:rPr lang="en-US" sz="2400" err="1">
                <a:latin typeface="Lucida Sans Unicode"/>
                <a:ea typeface="Verdana"/>
                <a:cs typeface="Lucida Sans Unicode"/>
              </a:rPr>
              <a:t>Arafin</a:t>
            </a:r>
            <a:r>
              <a:rPr lang="en-US" sz="2400">
                <a:latin typeface="Lucida Sans Unicode"/>
                <a:ea typeface="Verdana"/>
                <a:cs typeface="Lucida Sans Unicode"/>
              </a:rPr>
              <a:t> for his technical insight, and the George Mason University CYSE Department for their continued support and resources.</a:t>
            </a:r>
            <a:endParaRPr lang="en-US" sz="2400">
              <a:latin typeface="Lucida Sans Unicode" panose="020B0602030504020204" pitchFamily="34" charset="0"/>
              <a:ea typeface="Verdana"/>
              <a:cs typeface="Lucida Sans Unicode" panose="020B0602030504020204" pitchFamily="34" charset="0"/>
            </a:endParaRPr>
          </a:p>
        </p:txBody>
      </p:sp>
      <p:sp>
        <p:nvSpPr>
          <p:cNvPr id="10" name="TextBox 9">
            <a:extLst>
              <a:ext uri="{FF2B5EF4-FFF2-40B4-BE49-F238E27FC236}">
                <a16:creationId xmlns:a16="http://schemas.microsoft.com/office/drawing/2014/main" id="{C982B7DC-59D6-FB8D-36D4-CBC7AE1BB397}"/>
              </a:ext>
            </a:extLst>
          </p:cNvPr>
          <p:cNvSpPr txBox="1"/>
          <p:nvPr/>
        </p:nvSpPr>
        <p:spPr>
          <a:xfrm>
            <a:off x="29258228" y="28628082"/>
            <a:ext cx="13716000" cy="3877985"/>
          </a:xfrm>
          <a:prstGeom prst="rect">
            <a:avLst/>
          </a:prstGeom>
          <a:noFill/>
        </p:spPr>
        <p:txBody>
          <a:bodyPr wrap="square" lIns="91440" tIns="45720" rIns="91440" bIns="45720" rtlCol="0" anchor="t">
            <a:spAutoFit/>
          </a:bodyPr>
          <a:lstStyle/>
          <a:p>
            <a:pPr>
              <a:spcAft>
                <a:spcPts val="1200"/>
              </a:spcAft>
            </a:pPr>
            <a:r>
              <a:rPr lang="en-US" sz="6000" b="1">
                <a:latin typeface="Lucida Sans Unicode"/>
                <a:ea typeface="Verdana"/>
                <a:cs typeface="Lucida Sans Unicode"/>
              </a:rPr>
              <a:t>REFERENCES:</a:t>
            </a:r>
          </a:p>
          <a:p>
            <a:r>
              <a:rPr lang="en-US" sz="1600">
                <a:latin typeface="Lucida Sans Unicode"/>
                <a:ea typeface="+mn-lt"/>
                <a:cs typeface="Lucida Sans Unicode"/>
              </a:rPr>
              <a:t>[1] H. Tan. “LLM4Decompile.” GitHub. Accessed: April 10, 2025. [Online.] Available: https://</a:t>
            </a:r>
            <a:r>
              <a:rPr lang="en-US" sz="1600" err="1">
                <a:latin typeface="Lucida Sans Unicode"/>
                <a:ea typeface="+mn-lt"/>
                <a:cs typeface="Lucida Sans Unicode"/>
              </a:rPr>
              <a:t>github.com</a:t>
            </a:r>
            <a:r>
              <a:rPr lang="en-US" sz="1600">
                <a:latin typeface="Lucida Sans Unicode"/>
                <a:ea typeface="+mn-lt"/>
                <a:cs typeface="Lucida Sans Unicode"/>
              </a:rPr>
              <a:t>/albertan017/LLM4Decompile</a:t>
            </a:r>
            <a:endParaRPr lang="en-US" sz="1600">
              <a:latin typeface="Lucida Sans Unicode"/>
              <a:cs typeface="Lucida Sans Unicode"/>
            </a:endParaRPr>
          </a:p>
          <a:p>
            <a:r>
              <a:rPr lang="en-US" sz="1600">
                <a:latin typeface="Lucida Sans Unicode"/>
                <a:ea typeface="+mn-lt"/>
                <a:cs typeface="Lucida Sans Unicode"/>
              </a:rPr>
              <a:t>[2] J. Avigad, M. Heule, and W. Nawrocki. “Using SMT solvers.” Logical and Mathematical Reasoning. Accessed: Apr. 10, 2025. [Online]. Available: https://</a:t>
            </a:r>
            <a:r>
              <a:rPr lang="en-US" sz="1600" err="1">
                <a:latin typeface="Lucida Sans Unicode"/>
                <a:ea typeface="+mn-lt"/>
                <a:cs typeface="Lucida Sans Unicode"/>
              </a:rPr>
              <a:t>avigad.github.io</a:t>
            </a:r>
            <a:r>
              <a:rPr lang="en-US" sz="1600">
                <a:latin typeface="Lucida Sans Unicode"/>
                <a:ea typeface="+mn-lt"/>
                <a:cs typeface="Lucida Sans Unicode"/>
              </a:rPr>
              <a:t>/</a:t>
            </a:r>
            <a:r>
              <a:rPr lang="en-US" sz="1600" err="1">
                <a:latin typeface="Lucida Sans Unicode"/>
                <a:ea typeface="+mn-lt"/>
                <a:cs typeface="Lucida Sans Unicode"/>
              </a:rPr>
              <a:t>lamr</a:t>
            </a:r>
            <a:r>
              <a:rPr lang="en-US" sz="1600">
                <a:latin typeface="Lucida Sans Unicode"/>
                <a:ea typeface="+mn-lt"/>
                <a:cs typeface="Lucida Sans Unicode"/>
              </a:rPr>
              <a:t>/</a:t>
            </a:r>
            <a:r>
              <a:rPr lang="en-US" sz="1600" err="1">
                <a:latin typeface="Lucida Sans Unicode"/>
                <a:ea typeface="+mn-lt"/>
                <a:cs typeface="Lucida Sans Unicode"/>
              </a:rPr>
              <a:t>using_smt_solvers.html</a:t>
            </a:r>
            <a:endParaRPr lang="en-US" sz="1600">
              <a:latin typeface="Lucida Sans Unicode"/>
              <a:cs typeface="Lucida Sans Unicode"/>
            </a:endParaRPr>
          </a:p>
          <a:p>
            <a:r>
              <a:rPr lang="en-US" sz="1600">
                <a:latin typeface="Lucida Sans Unicode"/>
                <a:ea typeface="+mn-lt"/>
                <a:cs typeface="Lucida Sans Unicode"/>
              </a:rPr>
              <a:t>[3] </a:t>
            </a:r>
            <a:r>
              <a:rPr lang="en-US" sz="1600">
                <a:latin typeface="Lucida Sans Unicode"/>
                <a:ea typeface="+mn-lt"/>
                <a:cs typeface="+mn-lt"/>
              </a:rPr>
              <a:t>D. Gao, M. K. Reiter, and D. Song, “</a:t>
            </a:r>
            <a:r>
              <a:rPr lang="en-US" sz="1600" err="1">
                <a:latin typeface="Lucida Sans Unicode"/>
                <a:ea typeface="+mn-lt"/>
                <a:cs typeface="+mn-lt"/>
              </a:rPr>
              <a:t>BinHunt</a:t>
            </a:r>
            <a:r>
              <a:rPr lang="en-US" sz="1600">
                <a:latin typeface="Lucida Sans Unicode"/>
                <a:ea typeface="+mn-lt"/>
                <a:cs typeface="+mn-lt"/>
              </a:rPr>
              <a:t>: Automatically finding semantic differences in binary programs,” </a:t>
            </a:r>
            <a:r>
              <a:rPr lang="en-US" sz="1600" i="1">
                <a:latin typeface="Lucida Sans Unicode"/>
                <a:ea typeface="+mn-lt"/>
                <a:cs typeface="+mn-lt"/>
              </a:rPr>
              <a:t>in Proc. Int. Conf. Information and Communications Security (ICICS)</a:t>
            </a:r>
            <a:r>
              <a:rPr lang="en-US" sz="1600">
                <a:latin typeface="Lucida Sans Unicode"/>
                <a:ea typeface="+mn-lt"/>
                <a:cs typeface="+mn-lt"/>
              </a:rPr>
              <a:t>, 2008, pp. 238–255, </a:t>
            </a:r>
            <a:r>
              <a:rPr lang="en-US" sz="1600" err="1">
                <a:latin typeface="Lucida Sans Unicode"/>
                <a:ea typeface="+mn-lt"/>
                <a:cs typeface="+mn-lt"/>
              </a:rPr>
              <a:t>doi</a:t>
            </a:r>
            <a:r>
              <a:rPr lang="en-US" sz="1600">
                <a:latin typeface="Lucida Sans Unicode"/>
                <a:ea typeface="+mn-lt"/>
                <a:cs typeface="+mn-lt"/>
              </a:rPr>
              <a:t>: 10.1007/978-3-540-88625-9_16.</a:t>
            </a:r>
            <a:endParaRPr lang="en-US" sz="1600">
              <a:latin typeface="Lucida Sans Unicode"/>
              <a:ea typeface="+mn-lt"/>
              <a:cs typeface="Lucida Sans Unicode" panose="020B0602030504020204" pitchFamily="34" charset="0"/>
            </a:endParaRPr>
          </a:p>
          <a:p>
            <a:r>
              <a:rPr lang="en-US" sz="1600">
                <a:latin typeface="Lucida Sans Unicode"/>
                <a:ea typeface="+mn-lt"/>
                <a:cs typeface="Lucida Sans Unicode"/>
              </a:rPr>
              <a:t>[4] “Ghidra.” GitHub. Accessed: April 10, 2025. [Online.] Available: https://</a:t>
            </a:r>
            <a:r>
              <a:rPr lang="en-US" sz="1600" err="1">
                <a:latin typeface="Lucida Sans Unicode"/>
                <a:ea typeface="+mn-lt"/>
                <a:cs typeface="Lucida Sans Unicode"/>
              </a:rPr>
              <a:t>github.com</a:t>
            </a:r>
            <a:r>
              <a:rPr lang="en-US" sz="1600">
                <a:latin typeface="Lucida Sans Unicode"/>
                <a:ea typeface="+mn-lt"/>
                <a:cs typeface="Lucida Sans Unicode"/>
              </a:rPr>
              <a:t>/</a:t>
            </a:r>
            <a:r>
              <a:rPr lang="en-US" sz="1600" err="1">
                <a:latin typeface="Lucida Sans Unicode"/>
                <a:ea typeface="+mn-lt"/>
                <a:cs typeface="Lucida Sans Unicode"/>
              </a:rPr>
              <a:t>NationalSecurityAgency</a:t>
            </a:r>
            <a:r>
              <a:rPr lang="en-US" sz="1600">
                <a:latin typeface="Lucida Sans Unicode"/>
                <a:ea typeface="+mn-lt"/>
                <a:cs typeface="Lucida Sans Unicode"/>
              </a:rPr>
              <a:t>/</a:t>
            </a:r>
            <a:r>
              <a:rPr lang="en-US" sz="1600" err="1">
                <a:latin typeface="Lucida Sans Unicode"/>
                <a:ea typeface="+mn-lt"/>
                <a:cs typeface="Lucida Sans Unicode"/>
              </a:rPr>
              <a:t>ghidra</a:t>
            </a:r>
            <a:endParaRPr lang="en-US" sz="1600">
              <a:latin typeface="Lucida Sans Unicode"/>
              <a:cs typeface="Lucida Sans Unicode"/>
            </a:endParaRPr>
          </a:p>
          <a:p>
            <a:r>
              <a:rPr lang="en-US" sz="1600">
                <a:latin typeface="Lucida Sans Unicode"/>
                <a:ea typeface="+mn-lt"/>
                <a:cs typeface="Lucida Sans Unicode"/>
              </a:rPr>
              <a:t>[5] </a:t>
            </a:r>
            <a:r>
              <a:rPr lang="en-US" sz="1600">
                <a:latin typeface="Lucida Sans Unicode"/>
                <a:ea typeface="+mn-lt"/>
                <a:cs typeface="+mn-lt"/>
              </a:rPr>
              <a:t>“NVIDIA Deep Learning Institute.” Nvidia. Accessed: April 10, 2025. [Online.] Available: https://</a:t>
            </a:r>
            <a:r>
              <a:rPr lang="en-US" sz="1600" err="1">
                <a:latin typeface="Lucida Sans Unicode"/>
                <a:ea typeface="+mn-lt"/>
                <a:cs typeface="+mn-lt"/>
              </a:rPr>
              <a:t>www.nvidia.com</a:t>
            </a:r>
            <a:r>
              <a:rPr lang="en-US" sz="1600">
                <a:latin typeface="Lucida Sans Unicode"/>
                <a:ea typeface="+mn-lt"/>
                <a:cs typeface="+mn-lt"/>
              </a:rPr>
              <a:t>/</a:t>
            </a:r>
            <a:r>
              <a:rPr lang="en-US" sz="1600" err="1">
                <a:latin typeface="Lucida Sans Unicode"/>
                <a:ea typeface="+mn-lt"/>
                <a:cs typeface="+mn-lt"/>
              </a:rPr>
              <a:t>en</a:t>
            </a:r>
            <a:r>
              <a:rPr lang="en-US" sz="1600">
                <a:latin typeface="Lucida Sans Unicode"/>
                <a:ea typeface="+mn-lt"/>
                <a:cs typeface="+mn-lt"/>
              </a:rPr>
              <a:t>-us/deep-learning-ai/education/</a:t>
            </a:r>
            <a:endParaRPr lang="en-US" sz="1600">
              <a:latin typeface="Lucida Sans Unicode"/>
              <a:ea typeface="+mn-lt"/>
              <a:cs typeface="Lucida Sans Unicode" panose="020B0602030504020204" pitchFamily="34" charset="0"/>
            </a:endParaRPr>
          </a:p>
          <a:p>
            <a:endParaRPr lang="en-US" sz="1600">
              <a:latin typeface="Lucida Sans Unicode" panose="020B0602030504020204" pitchFamily="34" charset="0"/>
              <a:ea typeface="+mn-lt"/>
              <a:cs typeface="Lucida Sans Unicode" panose="020B0602030504020204" pitchFamily="34" charset="0"/>
            </a:endParaRPr>
          </a:p>
          <a:p>
            <a:endParaRPr lang="en-US" sz="1600">
              <a:latin typeface="Lucida Sans Unicode" panose="020B0602030504020204" pitchFamily="34" charset="0"/>
              <a:ea typeface="+mn-lt"/>
              <a:cs typeface="Lucida Sans Unicode" panose="020B0602030504020204" pitchFamily="34" charset="0"/>
            </a:endParaRPr>
          </a:p>
          <a:p>
            <a:endParaRPr lang="en-US" sz="1600">
              <a:latin typeface="Lucida Sans Unicode" panose="020B0602030504020204" pitchFamily="34" charset="0"/>
              <a:ea typeface="+mn-lt"/>
              <a:cs typeface="Lucida Sans Unicode" panose="020B0602030504020204" pitchFamily="34" charset="0"/>
            </a:endParaRPr>
          </a:p>
        </p:txBody>
      </p:sp>
      <p:sp>
        <p:nvSpPr>
          <p:cNvPr id="11" name="TextBox 10">
            <a:extLst>
              <a:ext uri="{FF2B5EF4-FFF2-40B4-BE49-F238E27FC236}">
                <a16:creationId xmlns:a16="http://schemas.microsoft.com/office/drawing/2014/main" id="{394831AF-555A-D3AE-7805-F68F0E6C2466}"/>
              </a:ext>
            </a:extLst>
          </p:cNvPr>
          <p:cNvSpPr txBox="1"/>
          <p:nvPr/>
        </p:nvSpPr>
        <p:spPr>
          <a:xfrm>
            <a:off x="6169445" y="384104"/>
            <a:ext cx="33309587" cy="3785652"/>
          </a:xfrm>
          <a:prstGeom prst="rect">
            <a:avLst/>
          </a:prstGeom>
          <a:noFill/>
        </p:spPr>
        <p:txBody>
          <a:bodyPr wrap="square" lIns="91440" tIns="45720" rIns="91440" bIns="45720" rtlCol="0" anchor="t">
            <a:spAutoFit/>
          </a:bodyPr>
          <a:lstStyle/>
          <a:p>
            <a:pPr algn="ctr"/>
            <a:r>
              <a:rPr lang="en-US" sz="7950" b="1" dirty="0">
                <a:latin typeface="Lucida Sans Unicode"/>
                <a:ea typeface="Verdana"/>
                <a:cs typeface="Lucida Sans Unicode"/>
              </a:rPr>
              <a:t>GleNN: Large Language Models for Static Reverse Engineering</a:t>
            </a:r>
            <a:endParaRPr lang="en-US" sz="7999" b="1" dirty="0">
              <a:latin typeface="Lucida Sans Unicode"/>
              <a:ea typeface="Verdana" panose="020B0604030504040204" pitchFamily="34" charset="0"/>
              <a:cs typeface="Lucida Sans Unicode"/>
            </a:endParaRPr>
          </a:p>
          <a:p>
            <a:pPr algn="ctr"/>
            <a:r>
              <a:rPr lang="en-US" sz="4800" dirty="0">
                <a:latin typeface="Lucida Sans Unicode"/>
                <a:ea typeface="Verdana"/>
                <a:cs typeface="Lucida Sans Unicode"/>
              </a:rPr>
              <a:t>Craig Kimball | Justin Rockwell | Max Bedewi | Mack Bartsch | </a:t>
            </a:r>
            <a:r>
              <a:rPr lang="en-US" sz="4800" dirty="0" err="1">
                <a:latin typeface="Lucida Sans Unicode"/>
                <a:ea typeface="Verdana"/>
                <a:cs typeface="Lucida Sans Unicode"/>
              </a:rPr>
              <a:t>Bisesh</a:t>
            </a:r>
            <a:r>
              <a:rPr lang="en-US" sz="4800" dirty="0">
                <a:latin typeface="Lucida Sans Unicode"/>
                <a:ea typeface="Verdana"/>
                <a:cs typeface="Lucida Sans Unicode"/>
              </a:rPr>
              <a:t> Acharya </a:t>
            </a:r>
            <a:endParaRPr lang="en-US" sz="4800" dirty="0">
              <a:latin typeface="Lucida Sans Unicode"/>
              <a:ea typeface="+mn-lt"/>
              <a:cs typeface="Lucida Sans Unicode"/>
            </a:endParaRPr>
          </a:p>
          <a:p>
            <a:pPr algn="ctr"/>
            <a:r>
              <a:rPr lang="en-US" sz="3600" dirty="0">
                <a:latin typeface="Lucida Sans Unicode"/>
                <a:ea typeface="+mn-lt"/>
                <a:cs typeface="Lucida Sans Unicode"/>
              </a:rPr>
              <a:t>ckimbal4@gmu.edu</a:t>
            </a:r>
            <a:r>
              <a:rPr lang="en-US" sz="3600" dirty="0">
                <a:latin typeface="Lucida Sans Unicode"/>
                <a:ea typeface="Verdana"/>
                <a:cs typeface="Lucida Sans Unicode"/>
              </a:rPr>
              <a:t>, </a:t>
            </a:r>
            <a:r>
              <a:rPr lang="en-US" sz="3600" dirty="0" err="1">
                <a:latin typeface="Lucida Sans Unicode"/>
                <a:ea typeface="+mn-lt"/>
                <a:cs typeface="Lucida Sans Unicode"/>
              </a:rPr>
              <a:t>jrockwe@gmu.edu</a:t>
            </a:r>
            <a:r>
              <a:rPr lang="en-US" sz="3600" dirty="0">
                <a:latin typeface="Lucida Sans Unicode"/>
                <a:ea typeface="Verdana"/>
                <a:cs typeface="Lucida Sans Unicode"/>
              </a:rPr>
              <a:t>, </a:t>
            </a:r>
            <a:r>
              <a:rPr lang="en-US" sz="3600" dirty="0">
                <a:latin typeface="Lucida Sans Unicode"/>
                <a:ea typeface="+mn-lt"/>
                <a:cs typeface="Lucida Sans Unicode"/>
              </a:rPr>
              <a:t>mbedewi2@gmu.edu, </a:t>
            </a:r>
            <a:r>
              <a:rPr lang="en-US" sz="3600" dirty="0" err="1">
                <a:latin typeface="Lucida Sans Unicode"/>
                <a:ea typeface="+mn-lt"/>
                <a:cs typeface="Lucida Sans Unicode"/>
              </a:rPr>
              <a:t>mbartsch@gmu.edu</a:t>
            </a:r>
            <a:r>
              <a:rPr lang="en-US" sz="3600" dirty="0">
                <a:latin typeface="Lucida Sans Unicode"/>
                <a:ea typeface="+mn-lt"/>
                <a:cs typeface="Lucida Sans Unicode"/>
              </a:rPr>
              <a:t>, </a:t>
            </a:r>
            <a:r>
              <a:rPr lang="en-US" sz="3600" dirty="0" err="1">
                <a:latin typeface="Lucida Sans Unicode"/>
                <a:ea typeface="+mn-lt"/>
                <a:cs typeface="Lucida Sans Unicode"/>
              </a:rPr>
              <a:t>bachary@gmu.edu</a:t>
            </a:r>
            <a:r>
              <a:rPr lang="en-US" sz="3600" dirty="0">
                <a:latin typeface="Lucida Sans Unicode"/>
                <a:ea typeface="+mn-lt"/>
                <a:cs typeface="Lucida Sans Unicode"/>
              </a:rPr>
              <a:t>  </a:t>
            </a:r>
            <a:endParaRPr lang="en-US" sz="3600" dirty="0">
              <a:latin typeface="Lucida Sans Unicode"/>
              <a:ea typeface="Calibri"/>
              <a:cs typeface="Lucida Sans Unicode"/>
            </a:endParaRPr>
          </a:p>
          <a:p>
            <a:pPr algn="ctr"/>
            <a:r>
              <a:rPr lang="en-US" sz="7250" dirty="0">
                <a:latin typeface="Lucida Sans Unicode"/>
                <a:ea typeface="Verdana"/>
                <a:cs typeface="Lucida Sans Unicode"/>
              </a:rPr>
              <a:t>Cybersecurity Engineering | George Mason University</a:t>
            </a:r>
          </a:p>
        </p:txBody>
      </p:sp>
      <p:sp>
        <p:nvSpPr>
          <p:cNvPr id="14" name="TextBox 13">
            <a:extLst>
              <a:ext uri="{FF2B5EF4-FFF2-40B4-BE49-F238E27FC236}">
                <a16:creationId xmlns:a16="http://schemas.microsoft.com/office/drawing/2014/main" id="{CBCBAE2C-7212-D9C2-8E1F-67D9F0147EAA}"/>
              </a:ext>
            </a:extLst>
          </p:cNvPr>
          <p:cNvSpPr txBox="1"/>
          <p:nvPr/>
        </p:nvSpPr>
        <p:spPr>
          <a:xfrm>
            <a:off x="15324250" y="16244609"/>
            <a:ext cx="13181180" cy="1200329"/>
          </a:xfrm>
          <a:prstGeom prst="rect">
            <a:avLst/>
          </a:prstGeom>
          <a:noFill/>
        </p:spPr>
        <p:txBody>
          <a:bodyPr wrap="square" rtlCol="0">
            <a:spAutoFit/>
          </a:bodyPr>
          <a:lstStyle/>
          <a:p>
            <a:r>
              <a:rPr lang="en-US" sz="2400" b="1">
                <a:latin typeface="Lucida Sans Unicode" panose="020B0602030504020204" pitchFamily="34" charset="0"/>
                <a:ea typeface="Verdana" panose="020B0604030504040204" pitchFamily="34" charset="0"/>
                <a:cs typeface="Lucida Sans Unicode" panose="020B0602030504020204" pitchFamily="34" charset="0"/>
              </a:rPr>
              <a:t>Neo4j Function Graph</a:t>
            </a:r>
            <a:r>
              <a:rPr lang="en-US" sz="2400">
                <a:latin typeface="Lucida Sans Unicode" panose="020B0602030504020204" pitchFamily="34" charset="0"/>
                <a:ea typeface="Verdana" panose="020B0604030504040204" pitchFamily="34" charset="0"/>
                <a:cs typeface="Lucida Sans Unicode" panose="020B0602030504020204" pitchFamily="34" charset="0"/>
              </a:rPr>
              <a:t>: An individual function, parsed into basic blocks and control structures, as represented and queried in the Neo4j graph database. Shows how the database focuses on a functions structure. </a:t>
            </a:r>
          </a:p>
        </p:txBody>
      </p:sp>
      <p:sp>
        <p:nvSpPr>
          <p:cNvPr id="17" name="TextBox 16">
            <a:extLst>
              <a:ext uri="{FF2B5EF4-FFF2-40B4-BE49-F238E27FC236}">
                <a16:creationId xmlns:a16="http://schemas.microsoft.com/office/drawing/2014/main" id="{359F0335-C9C0-CDDC-DD17-0B290856645D}"/>
              </a:ext>
            </a:extLst>
          </p:cNvPr>
          <p:cNvSpPr txBox="1"/>
          <p:nvPr/>
        </p:nvSpPr>
        <p:spPr>
          <a:xfrm>
            <a:off x="29719974" y="24244197"/>
            <a:ext cx="13317640" cy="1569660"/>
          </a:xfrm>
          <a:prstGeom prst="rect">
            <a:avLst/>
          </a:prstGeom>
          <a:noFill/>
        </p:spPr>
        <p:txBody>
          <a:bodyPr wrap="square" rtlCol="0">
            <a:spAutoFit/>
          </a:bodyPr>
          <a:lstStyle/>
          <a:p>
            <a:r>
              <a:rPr lang="en-US" sz="2400" b="1">
                <a:latin typeface="Lucida Sans Unicode" panose="020B0602030504020204" pitchFamily="34" charset="0"/>
                <a:ea typeface="Verdana" panose="020B0604030504040204" pitchFamily="34" charset="0"/>
                <a:cs typeface="Lucida Sans Unicode" panose="020B0602030504020204" pitchFamily="34" charset="0"/>
              </a:rPr>
              <a:t>CFG Comparison: </a:t>
            </a:r>
            <a:r>
              <a:rPr lang="en-US" sz="2400">
                <a:latin typeface="Lucida Sans Unicode" panose="020B0602030504020204" pitchFamily="34" charset="0"/>
                <a:ea typeface="Verdana" panose="020B0604030504040204" pitchFamily="34" charset="0"/>
                <a:cs typeface="Lucida Sans Unicode" panose="020B0602030504020204" pitchFamily="34" charset="0"/>
              </a:rPr>
              <a:t>Two structurally identical control-flow graphs (DOT format) showing the similarity of the input function (Left) to the found most structurally similar Neo4j database entry (Right). Highlighting the ability of structural comparison to identify nodes, edges, loops, and decisions. </a:t>
            </a:r>
          </a:p>
        </p:txBody>
      </p:sp>
      <p:grpSp>
        <p:nvGrpSpPr>
          <p:cNvPr id="18" name="Group 17">
            <a:extLst>
              <a:ext uri="{FF2B5EF4-FFF2-40B4-BE49-F238E27FC236}">
                <a16:creationId xmlns:a16="http://schemas.microsoft.com/office/drawing/2014/main" id="{0BA3F984-F200-71F9-C3CF-8828B20920AA}"/>
              </a:ext>
            </a:extLst>
          </p:cNvPr>
          <p:cNvGrpSpPr/>
          <p:nvPr/>
        </p:nvGrpSpPr>
        <p:grpSpPr>
          <a:xfrm>
            <a:off x="358376" y="22112883"/>
            <a:ext cx="13798970" cy="10380512"/>
            <a:chOff x="537882" y="12131040"/>
            <a:chExt cx="13798970" cy="10380512"/>
          </a:xfrm>
        </p:grpSpPr>
        <p:sp>
          <p:nvSpPr>
            <p:cNvPr id="19" name="Rectangle 18">
              <a:extLst>
                <a:ext uri="{FF2B5EF4-FFF2-40B4-BE49-F238E27FC236}">
                  <a16:creationId xmlns:a16="http://schemas.microsoft.com/office/drawing/2014/main" id="{7D638F20-E009-AFD8-F407-EFA06B6F0B46}"/>
                </a:ext>
              </a:extLst>
            </p:cNvPr>
            <p:cNvSpPr/>
            <p:nvPr/>
          </p:nvSpPr>
          <p:spPr>
            <a:xfrm>
              <a:off x="537882" y="12131040"/>
              <a:ext cx="13716000" cy="925157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Lucida Sans Unicode" panose="020B0602030504020204" pitchFamily="34" charset="0"/>
                <a:ea typeface="Verdana" panose="020B0604030504040204" pitchFamily="34" charset="0"/>
                <a:cs typeface="Lucida Sans Unicode" panose="020B0602030504020204" pitchFamily="34" charset="0"/>
              </a:endParaRPr>
            </a:p>
          </p:txBody>
        </p:sp>
        <p:sp>
          <p:nvSpPr>
            <p:cNvPr id="20" name="TextBox 19">
              <a:extLst>
                <a:ext uri="{FF2B5EF4-FFF2-40B4-BE49-F238E27FC236}">
                  <a16:creationId xmlns:a16="http://schemas.microsoft.com/office/drawing/2014/main" id="{2615C381-DB9C-9F49-9B46-F61A03350A10}"/>
                </a:ext>
              </a:extLst>
            </p:cNvPr>
            <p:cNvSpPr txBox="1"/>
            <p:nvPr/>
          </p:nvSpPr>
          <p:spPr>
            <a:xfrm>
              <a:off x="620852" y="21311223"/>
              <a:ext cx="13716000" cy="1200329"/>
            </a:xfrm>
            <a:prstGeom prst="rect">
              <a:avLst/>
            </a:prstGeom>
            <a:noFill/>
          </p:spPr>
          <p:txBody>
            <a:bodyPr wrap="square" rtlCol="0">
              <a:spAutoFit/>
            </a:bodyPr>
            <a:lstStyle/>
            <a:p>
              <a:r>
                <a:rPr lang="en-US" sz="2400" b="1">
                  <a:latin typeface="Lucida Sans Unicode" panose="020B0602030504020204" pitchFamily="34" charset="0"/>
                  <a:ea typeface="Verdana" panose="020B0604030504040204" pitchFamily="34" charset="0"/>
                  <a:cs typeface="Lucida Sans Unicode" panose="020B0602030504020204" pitchFamily="34" charset="0"/>
                </a:rPr>
                <a:t>End-to-End Pipeline: </a:t>
              </a:r>
              <a:r>
                <a:rPr lang="en-US" sz="2400" err="1">
                  <a:latin typeface="Lucida Sans Unicode" panose="020B0602030504020204" pitchFamily="34" charset="0"/>
                  <a:ea typeface="Verdana" panose="020B0604030504040204" pitchFamily="34" charset="0"/>
                  <a:cs typeface="Lucida Sans Unicode" panose="020B0602030504020204" pitchFamily="34" charset="0"/>
                </a:rPr>
                <a:t>GleNN’s</a:t>
              </a:r>
              <a:r>
                <a:rPr lang="en-US" sz="2400">
                  <a:latin typeface="Lucida Sans Unicode" panose="020B0602030504020204" pitchFamily="34" charset="0"/>
                  <a:ea typeface="Verdana" panose="020B0604030504040204" pitchFamily="34" charset="0"/>
                  <a:cs typeface="Lucida Sans Unicode" panose="020B0602030504020204" pitchFamily="34" charset="0"/>
                </a:rPr>
                <a:t> RAG-enhanced workflow: binary input → assembly conversion → .dot CFG extraction → similarity search in Neo4j → LLM decompilation with retrieved context.</a:t>
              </a:r>
            </a:p>
          </p:txBody>
        </p:sp>
      </p:grpSp>
      <p:pic>
        <p:nvPicPr>
          <p:cNvPr id="1026" name="Picture 2" descr="George Mason University Logo-4C v">
            <a:extLst>
              <a:ext uri="{FF2B5EF4-FFF2-40B4-BE49-F238E27FC236}">
                <a16:creationId xmlns:a16="http://schemas.microsoft.com/office/drawing/2014/main" id="{2A71ADC8-EF61-FF03-2426-7AACEA4FA2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396478"/>
            <a:ext cx="4343400" cy="5089922"/>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a:extLst>
              <a:ext uri="{FF2B5EF4-FFF2-40B4-BE49-F238E27FC236}">
                <a16:creationId xmlns:a16="http://schemas.microsoft.com/office/drawing/2014/main" id="{5212E852-72D4-BE9C-1E48-E9144A144A71}"/>
              </a:ext>
            </a:extLst>
          </p:cNvPr>
          <p:cNvSpPr>
            <a:spLocks noChangeAspect="1"/>
          </p:cNvSpPr>
          <p:nvPr/>
        </p:nvSpPr>
        <p:spPr>
          <a:xfrm>
            <a:off x="29206549" y="3779747"/>
            <a:ext cx="13819357" cy="11471672"/>
          </a:xfrm>
          <a:prstGeom prst="ellipse">
            <a:avLst/>
          </a:prstGeom>
          <a:blipFill dpi="0" rotWithShape="1">
            <a:blip r:embed="rId7">
              <a:alphaModFix amt="2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600" b="1">
                <a:solidFill>
                  <a:schemeClr val="tx1"/>
                </a:solidFill>
                <a:latin typeface="Lucida Sans Unicode"/>
                <a:ea typeface="Verdana"/>
                <a:cs typeface="Lucida Sans Unicode"/>
              </a:rPr>
              <a:t>RESEARCH QUESTION/</a:t>
            </a:r>
          </a:p>
          <a:p>
            <a:pPr algn="ctr">
              <a:spcAft>
                <a:spcPts val="1200"/>
              </a:spcAft>
            </a:pPr>
            <a:r>
              <a:rPr lang="en-US" sz="6600" b="1">
                <a:solidFill>
                  <a:schemeClr val="tx1"/>
                </a:solidFill>
                <a:latin typeface="Lucida Sans Unicode"/>
                <a:ea typeface="Verdana"/>
                <a:cs typeface="Lucida Sans Unicode"/>
              </a:rPr>
              <a:t>HYPOTHESIS</a:t>
            </a:r>
            <a:endParaRPr lang="en-US" sz="4400">
              <a:solidFill>
                <a:schemeClr val="tx1"/>
              </a:solidFill>
              <a:latin typeface="Lucida Sans Unicode"/>
              <a:ea typeface="+mn-lt"/>
              <a:cs typeface="Lucida Sans Unicode"/>
            </a:endParaRPr>
          </a:p>
          <a:p>
            <a:pPr algn="ctr"/>
            <a:r>
              <a:rPr lang="en-US" sz="4400">
                <a:solidFill>
                  <a:schemeClr val="tx1"/>
                </a:solidFill>
                <a:latin typeface="Lucida Sans Unicode"/>
                <a:ea typeface="+mn-lt"/>
                <a:cs typeface="Lucida Sans Unicode"/>
              </a:rPr>
              <a:t>Can the integration of a retrieval-augmented generation (RAG) pipeline improve the precision and completeness of LLM-based static reverse engineering when applied to obfuscated or optimized binaries?</a:t>
            </a:r>
            <a:endParaRPr lang="en-US" sz="4400">
              <a:solidFill>
                <a:schemeClr val="tx1"/>
              </a:solidFill>
              <a:latin typeface="Lucida Sans Unicode"/>
              <a:ea typeface="Calibri"/>
              <a:cs typeface="Lucida Sans Unicode"/>
            </a:endParaRPr>
          </a:p>
        </p:txBody>
      </p:sp>
      <p:graphicFrame>
        <p:nvGraphicFramePr>
          <p:cNvPr id="2" name="Table 1">
            <a:extLst>
              <a:ext uri="{FF2B5EF4-FFF2-40B4-BE49-F238E27FC236}">
                <a16:creationId xmlns:a16="http://schemas.microsoft.com/office/drawing/2014/main" id="{1EC47127-54A3-28E8-724F-EE0774A34DEF}"/>
              </a:ext>
            </a:extLst>
          </p:cNvPr>
          <p:cNvGraphicFramePr>
            <a:graphicFrameLocks noGrp="1"/>
          </p:cNvGraphicFramePr>
          <p:nvPr>
            <p:extLst>
              <p:ext uri="{D42A27DB-BD31-4B8C-83A1-F6EECF244321}">
                <p14:modId xmlns:p14="http://schemas.microsoft.com/office/powerpoint/2010/main" val="2683704896"/>
              </p:ext>
            </p:extLst>
          </p:nvPr>
        </p:nvGraphicFramePr>
        <p:xfrm>
          <a:off x="14849786" y="20453495"/>
          <a:ext cx="13268013" cy="4650826"/>
        </p:xfrm>
        <a:graphic>
          <a:graphicData uri="http://schemas.openxmlformats.org/drawingml/2006/table">
            <a:tbl>
              <a:tblPr firstRow="1" bandRow="1">
                <a:tableStyleId>{93296810-A885-4BE3-A3E7-6D5BEEA58F35}</a:tableStyleId>
              </a:tblPr>
              <a:tblGrid>
                <a:gridCol w="2810359">
                  <a:extLst>
                    <a:ext uri="{9D8B030D-6E8A-4147-A177-3AD203B41FA5}">
                      <a16:colId xmlns:a16="http://schemas.microsoft.com/office/drawing/2014/main" val="3561105543"/>
                    </a:ext>
                  </a:extLst>
                </a:gridCol>
                <a:gridCol w="2496845">
                  <a:extLst>
                    <a:ext uri="{9D8B030D-6E8A-4147-A177-3AD203B41FA5}">
                      <a16:colId xmlns:a16="http://schemas.microsoft.com/office/drawing/2014/main" val="1647563163"/>
                    </a:ext>
                  </a:extLst>
                </a:gridCol>
                <a:gridCol w="2653603">
                  <a:extLst>
                    <a:ext uri="{9D8B030D-6E8A-4147-A177-3AD203B41FA5}">
                      <a16:colId xmlns:a16="http://schemas.microsoft.com/office/drawing/2014/main" val="2327981214"/>
                    </a:ext>
                  </a:extLst>
                </a:gridCol>
                <a:gridCol w="2653603">
                  <a:extLst>
                    <a:ext uri="{9D8B030D-6E8A-4147-A177-3AD203B41FA5}">
                      <a16:colId xmlns:a16="http://schemas.microsoft.com/office/drawing/2014/main" val="523663781"/>
                    </a:ext>
                  </a:extLst>
                </a:gridCol>
                <a:gridCol w="2653603">
                  <a:extLst>
                    <a:ext uri="{9D8B030D-6E8A-4147-A177-3AD203B41FA5}">
                      <a16:colId xmlns:a16="http://schemas.microsoft.com/office/drawing/2014/main" val="3125046981"/>
                    </a:ext>
                  </a:extLst>
                </a:gridCol>
              </a:tblGrid>
              <a:tr h="549868">
                <a:tc rowSpan="2">
                  <a:txBody>
                    <a:bodyPr/>
                    <a:lstStyle/>
                    <a:p>
                      <a:pPr algn="ctr"/>
                      <a:r>
                        <a:rPr lang="en-US" sz="2400">
                          <a:latin typeface="Lucida Sans Unicode"/>
                          <a:cs typeface="Lucida Sans Unicode"/>
                        </a:rPr>
                        <a:t>Models</a:t>
                      </a:r>
                    </a:p>
                  </a:txBody>
                  <a:tcPr anchor="ctr">
                    <a:solidFill>
                      <a:srgbClr val="025239"/>
                    </a:solidFill>
                  </a:tcPr>
                </a:tc>
                <a:tc rowSpan="2">
                  <a:txBody>
                    <a:bodyPr/>
                    <a:lstStyle/>
                    <a:p>
                      <a:pPr algn="ctr"/>
                      <a:r>
                        <a:rPr lang="en-US" sz="2400" b="1">
                          <a:latin typeface="Lucida Sans Unicode"/>
                          <a:cs typeface="Lucida Sans Unicode"/>
                        </a:rPr>
                        <a:t>Re-compliable</a:t>
                      </a:r>
                    </a:p>
                  </a:txBody>
                  <a:tcPr anchor="ctr">
                    <a:solidFill>
                      <a:srgbClr val="025239"/>
                    </a:solidFill>
                  </a:tcPr>
                </a:tc>
                <a:tc gridSpan="3">
                  <a:txBody>
                    <a:bodyPr/>
                    <a:lstStyle/>
                    <a:p>
                      <a:pPr algn="ctr"/>
                      <a:r>
                        <a:rPr lang="en-US" sz="2400">
                          <a:latin typeface="Lucida Sans Unicode"/>
                          <a:cs typeface="Lucida Sans Unicode"/>
                        </a:rPr>
                        <a:t>Re-executable</a:t>
                      </a:r>
                    </a:p>
                  </a:txBody>
                  <a:tcPr>
                    <a:solidFill>
                      <a:srgbClr val="02523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95183698"/>
                  </a:ext>
                </a:extLst>
              </a:tr>
              <a:tr h="774133">
                <a:tc vMerge="1">
                  <a:txBody>
                    <a:bodyPr/>
                    <a:lstStyle/>
                    <a:p>
                      <a:endParaRPr lang="en-US"/>
                    </a:p>
                  </a:txBody>
                  <a:tcPr/>
                </a:tc>
                <a:tc vMerge="1">
                  <a:txBody>
                    <a:bodyPr/>
                    <a:lstStyle/>
                    <a:p>
                      <a:endParaRPr lang="en-US" err="1"/>
                    </a:p>
                  </a:txBody>
                  <a:tcPr/>
                </a:tc>
                <a:tc>
                  <a:txBody>
                    <a:bodyPr/>
                    <a:lstStyle/>
                    <a:p>
                      <a:pPr lvl="0" algn="ctr">
                        <a:buNone/>
                      </a:pPr>
                      <a:r>
                        <a:rPr lang="en-US" sz="2400">
                          <a:solidFill>
                            <a:schemeClr val="bg1"/>
                          </a:solidFill>
                          <a:latin typeface="Lucida Sans Unicode"/>
                          <a:cs typeface="Lucida Sans Unicode"/>
                        </a:rPr>
                        <a:t>Compiles as Executable</a:t>
                      </a:r>
                    </a:p>
                  </a:txBody>
                  <a:tcPr anchor="ctr">
                    <a:solidFill>
                      <a:srgbClr val="025239">
                        <a:alpha val="80000"/>
                      </a:srgbClr>
                    </a:solidFill>
                  </a:tcPr>
                </a:tc>
                <a:tc>
                  <a:txBody>
                    <a:bodyPr/>
                    <a:lstStyle/>
                    <a:p>
                      <a:pPr lvl="0" algn="ctr">
                        <a:buNone/>
                      </a:pPr>
                      <a:r>
                        <a:rPr lang="en-US" sz="2400">
                          <a:solidFill>
                            <a:schemeClr val="bg1"/>
                          </a:solidFill>
                          <a:latin typeface="Lucida Sans Unicode"/>
                          <a:cs typeface="Lucida Sans Unicode"/>
                        </a:rPr>
                        <a:t>Executes</a:t>
                      </a:r>
                    </a:p>
                  </a:txBody>
                  <a:tcPr anchor="ctr">
                    <a:solidFill>
                      <a:srgbClr val="025239">
                        <a:alpha val="80000"/>
                      </a:srgbClr>
                    </a:solidFill>
                  </a:tcPr>
                </a:tc>
                <a:tc>
                  <a:txBody>
                    <a:bodyPr/>
                    <a:lstStyle/>
                    <a:p>
                      <a:pPr lvl="0" algn="ctr">
                        <a:buNone/>
                      </a:pPr>
                      <a:r>
                        <a:rPr lang="en-US" sz="2400">
                          <a:solidFill>
                            <a:schemeClr val="bg1"/>
                          </a:solidFill>
                          <a:latin typeface="Lucida Sans Unicode"/>
                          <a:cs typeface="Lucida Sans Unicode"/>
                        </a:rPr>
                        <a:t>Does Not Compile</a:t>
                      </a:r>
                    </a:p>
                  </a:txBody>
                  <a:tcPr anchor="ctr">
                    <a:solidFill>
                      <a:srgbClr val="025239">
                        <a:alpha val="80000"/>
                      </a:srgbClr>
                    </a:solidFill>
                  </a:tcPr>
                </a:tc>
                <a:extLst>
                  <a:ext uri="{0D108BD9-81ED-4DB2-BD59-A6C34878D82A}">
                    <a16:rowId xmlns:a16="http://schemas.microsoft.com/office/drawing/2014/main" val="1777849756"/>
                  </a:ext>
                </a:extLst>
              </a:tr>
              <a:tr h="1123056">
                <a:tc>
                  <a:txBody>
                    <a:bodyPr/>
                    <a:lstStyle/>
                    <a:p>
                      <a:pPr algn="ctr"/>
                      <a:r>
                        <a:rPr lang="en-US" sz="2400" b="1">
                          <a:latin typeface="Lucida Sans Unicode"/>
                          <a:cs typeface="Lucida Sans Unicode"/>
                        </a:rPr>
                        <a:t>LLM4Decompile</a:t>
                      </a:r>
                    </a:p>
                  </a:txBody>
                  <a:tcPr anchor="ctr">
                    <a:solidFill>
                      <a:srgbClr val="025239">
                        <a:alpha val="25882"/>
                      </a:srgbClr>
                    </a:solidFill>
                  </a:tcPr>
                </a:tc>
                <a:tc>
                  <a:txBody>
                    <a:bodyPr/>
                    <a:lstStyle/>
                    <a:p>
                      <a:pPr algn="ctr"/>
                      <a:r>
                        <a:rPr lang="en-US" sz="2400">
                          <a:latin typeface="Lucida Sans Unicode"/>
                          <a:cs typeface="Lucida Sans Unicode"/>
                        </a:rPr>
                        <a:t>63.8%</a:t>
                      </a:r>
                      <a:endParaRPr lang="en-US" sz="2400">
                        <a:latin typeface="Lucida Sans Unicode" panose="020B0602030504020204" pitchFamily="34" charset="0"/>
                        <a:cs typeface="Lucida Sans Unicode" panose="020B0602030504020204" pitchFamily="34" charset="0"/>
                      </a:endParaRPr>
                    </a:p>
                  </a:txBody>
                  <a:tcPr anchor="ctr">
                    <a:solidFill>
                      <a:srgbClr val="025239">
                        <a:alpha val="25882"/>
                      </a:srgbClr>
                    </a:solidFill>
                  </a:tcPr>
                </a:tc>
                <a:tc>
                  <a:txBody>
                    <a:bodyPr/>
                    <a:lstStyle/>
                    <a:p>
                      <a:pPr algn="ctr"/>
                      <a:r>
                        <a:rPr lang="en-US" sz="2400">
                          <a:latin typeface="Lucida Sans Unicode"/>
                          <a:cs typeface="Lucida Sans Unicode"/>
                        </a:rPr>
                        <a:t>--</a:t>
                      </a:r>
                    </a:p>
                  </a:txBody>
                  <a:tcPr anchor="ctr">
                    <a:solidFill>
                      <a:srgbClr val="025239">
                        <a:alpha val="25882"/>
                      </a:srgbClr>
                    </a:solidFill>
                  </a:tcPr>
                </a:tc>
                <a:tc>
                  <a:txBody>
                    <a:bodyPr/>
                    <a:lstStyle/>
                    <a:p>
                      <a:pPr algn="ctr"/>
                      <a:r>
                        <a:rPr lang="en-US" sz="2400">
                          <a:latin typeface="Lucida Sans Unicode"/>
                          <a:cs typeface="Lucida Sans Unicode"/>
                        </a:rPr>
                        <a:t>63.4%</a:t>
                      </a:r>
                    </a:p>
                  </a:txBody>
                  <a:tcPr anchor="ctr">
                    <a:solidFill>
                      <a:srgbClr val="025239">
                        <a:alpha val="25882"/>
                      </a:srgbClr>
                    </a:solidFill>
                  </a:tcPr>
                </a:tc>
                <a:tc>
                  <a:txBody>
                    <a:bodyPr/>
                    <a:lstStyle/>
                    <a:p>
                      <a:pPr algn="ctr"/>
                      <a:r>
                        <a:rPr lang="en-US" sz="2400">
                          <a:latin typeface="Lucida Sans Unicode"/>
                          <a:cs typeface="Lucida Sans Unicode"/>
                        </a:rPr>
                        <a:t>--</a:t>
                      </a:r>
                    </a:p>
                  </a:txBody>
                  <a:tcPr anchor="ctr">
                    <a:solidFill>
                      <a:srgbClr val="025239">
                        <a:alpha val="25882"/>
                      </a:srgbClr>
                    </a:solidFill>
                  </a:tcPr>
                </a:tc>
                <a:extLst>
                  <a:ext uri="{0D108BD9-81ED-4DB2-BD59-A6C34878D82A}">
                    <a16:rowId xmlns:a16="http://schemas.microsoft.com/office/drawing/2014/main" val="3098425967"/>
                  </a:ext>
                </a:extLst>
              </a:tr>
              <a:tr h="1031886">
                <a:tc>
                  <a:txBody>
                    <a:bodyPr/>
                    <a:lstStyle/>
                    <a:p>
                      <a:pPr algn="ctr"/>
                      <a:r>
                        <a:rPr lang="en-US" sz="2400" b="1">
                          <a:latin typeface="Lucida Sans Unicode"/>
                          <a:cs typeface="Lucida Sans Unicode"/>
                        </a:rPr>
                        <a:t>LLM Baseline</a:t>
                      </a:r>
                    </a:p>
                  </a:txBody>
                  <a:tcPr anchor="ctr">
                    <a:solidFill>
                      <a:srgbClr val="025239">
                        <a:alpha val="50196"/>
                      </a:srgbClr>
                    </a:solidFill>
                  </a:tcPr>
                </a:tc>
                <a:tc>
                  <a:txBody>
                    <a:bodyPr/>
                    <a:lstStyle/>
                    <a:p>
                      <a:pPr algn="ctr"/>
                      <a:r>
                        <a:rPr lang="en-US" sz="2400">
                          <a:latin typeface="Lucida Sans Unicode"/>
                          <a:cs typeface="Lucida Sans Unicode"/>
                        </a:rPr>
                        <a:t>81.3%</a:t>
                      </a:r>
                    </a:p>
                  </a:txBody>
                  <a:tcPr anchor="ctr">
                    <a:solidFill>
                      <a:srgbClr val="025239">
                        <a:alpha val="50196"/>
                      </a:srgbClr>
                    </a:solidFill>
                  </a:tcPr>
                </a:tc>
                <a:tc>
                  <a:txBody>
                    <a:bodyPr/>
                    <a:lstStyle/>
                    <a:p>
                      <a:pPr algn="ctr"/>
                      <a:r>
                        <a:rPr lang="en-US" sz="2400">
                          <a:latin typeface="Lucida Sans Unicode"/>
                          <a:cs typeface="Lucida Sans Unicode"/>
                        </a:rPr>
                        <a:t>63.69%</a:t>
                      </a:r>
                    </a:p>
                  </a:txBody>
                  <a:tcPr anchor="ctr">
                    <a:solidFill>
                      <a:srgbClr val="025239">
                        <a:alpha val="50196"/>
                      </a:srgbClr>
                    </a:solidFill>
                  </a:tcPr>
                </a:tc>
                <a:tc>
                  <a:txBody>
                    <a:bodyPr/>
                    <a:lstStyle/>
                    <a:p>
                      <a:pPr lvl="0" algn="ctr">
                        <a:buNone/>
                      </a:pPr>
                      <a:r>
                        <a:rPr lang="en-US" sz="2400">
                          <a:latin typeface="Lucida Sans Unicode"/>
                          <a:cs typeface="Lucida Sans Unicode"/>
                        </a:rPr>
                        <a:t>86.97%</a:t>
                      </a:r>
                    </a:p>
                  </a:txBody>
                  <a:tcPr anchor="ctr">
                    <a:solidFill>
                      <a:srgbClr val="025239">
                        <a:alpha val="50196"/>
                      </a:srgbClr>
                    </a:solidFill>
                  </a:tcPr>
                </a:tc>
                <a:tc>
                  <a:txBody>
                    <a:bodyPr/>
                    <a:lstStyle/>
                    <a:p>
                      <a:pPr lvl="0" algn="ctr">
                        <a:buNone/>
                      </a:pPr>
                      <a:r>
                        <a:rPr lang="en-US" sz="2400" kern="1200" noProof="0">
                          <a:solidFill>
                            <a:schemeClr val="dk1"/>
                          </a:solidFill>
                          <a:latin typeface="Lucida Sans Unicode"/>
                          <a:ea typeface="+mn-ea"/>
                          <a:cs typeface="Lucida Sans Unicode"/>
                        </a:rPr>
                        <a:t>36.31%</a:t>
                      </a:r>
                      <a:endParaRPr lang="en-US" sz="2400" kern="1200">
                        <a:solidFill>
                          <a:schemeClr val="dk1"/>
                        </a:solidFill>
                        <a:latin typeface="Lucida Sans Unicode"/>
                        <a:ea typeface="+mn-ea"/>
                        <a:cs typeface="Lucida Sans Unicode"/>
                      </a:endParaRPr>
                    </a:p>
                  </a:txBody>
                  <a:tcPr anchor="ctr">
                    <a:solidFill>
                      <a:srgbClr val="025239">
                        <a:alpha val="50196"/>
                      </a:srgbClr>
                    </a:solidFill>
                  </a:tcPr>
                </a:tc>
                <a:extLst>
                  <a:ext uri="{0D108BD9-81ED-4DB2-BD59-A6C34878D82A}">
                    <a16:rowId xmlns:a16="http://schemas.microsoft.com/office/drawing/2014/main" val="2410166582"/>
                  </a:ext>
                </a:extLst>
              </a:tr>
              <a:tr h="1123056">
                <a:tc>
                  <a:txBody>
                    <a:bodyPr/>
                    <a:lstStyle/>
                    <a:p>
                      <a:pPr lvl="0" algn="ctr">
                        <a:buNone/>
                      </a:pPr>
                      <a:r>
                        <a:rPr lang="en-US" sz="2400" b="1">
                          <a:latin typeface="Lucida Sans Unicode"/>
                          <a:cs typeface="Lucida Sans Unicode"/>
                        </a:rPr>
                        <a:t>LLM with RAG</a:t>
                      </a:r>
                    </a:p>
                  </a:txBody>
                  <a:tcPr anchor="ctr">
                    <a:solidFill>
                      <a:srgbClr val="025239">
                        <a:alpha val="25490"/>
                      </a:srgbClr>
                    </a:solidFill>
                  </a:tcPr>
                </a:tc>
                <a:tc>
                  <a:txBody>
                    <a:bodyPr/>
                    <a:lstStyle/>
                    <a:p>
                      <a:pPr lvl="0" algn="ctr">
                        <a:buNone/>
                      </a:pPr>
                      <a:r>
                        <a:rPr lang="en-US" sz="2400">
                          <a:latin typeface="Lucida Sans Unicode"/>
                          <a:cs typeface="Lucida Sans Unicode"/>
                        </a:rPr>
                        <a:t>74.2%</a:t>
                      </a:r>
                      <a:endParaRPr lang="en-US" sz="2400">
                        <a:latin typeface="Lucida Sans Unicode" panose="020B0602030504020204" pitchFamily="34" charset="0"/>
                        <a:cs typeface="Lucida Sans Unicode" panose="020B0602030504020204" pitchFamily="34" charset="0"/>
                      </a:endParaRPr>
                    </a:p>
                  </a:txBody>
                  <a:tcPr anchor="ctr">
                    <a:solidFill>
                      <a:srgbClr val="025239">
                        <a:alpha val="25490"/>
                      </a:srgbClr>
                    </a:solidFill>
                  </a:tcPr>
                </a:tc>
                <a:tc>
                  <a:txBody>
                    <a:bodyPr/>
                    <a:lstStyle/>
                    <a:p>
                      <a:pPr lvl="0" algn="ctr">
                        <a:buNone/>
                      </a:pPr>
                      <a:r>
                        <a:rPr lang="en-US" sz="2400">
                          <a:latin typeface="Lucida Sans Unicode"/>
                          <a:cs typeface="Lucida Sans Unicode"/>
                        </a:rPr>
                        <a:t>85.87%</a:t>
                      </a:r>
                      <a:endParaRPr lang="en-US" sz="2400">
                        <a:latin typeface="Lucida Sans Unicode" panose="020B0602030504020204" pitchFamily="34" charset="0"/>
                        <a:cs typeface="Lucida Sans Unicode" panose="020B0602030504020204" pitchFamily="34" charset="0"/>
                      </a:endParaRPr>
                    </a:p>
                  </a:txBody>
                  <a:tcPr anchor="ctr">
                    <a:solidFill>
                      <a:srgbClr val="025239">
                        <a:alpha val="25490"/>
                      </a:srgbClr>
                    </a:solidFill>
                  </a:tcPr>
                </a:tc>
                <a:tc>
                  <a:txBody>
                    <a:bodyPr/>
                    <a:lstStyle/>
                    <a:p>
                      <a:pPr lvl="0" algn="ctr">
                        <a:buNone/>
                      </a:pPr>
                      <a:r>
                        <a:rPr lang="en-US" sz="2400">
                          <a:latin typeface="Lucida Sans Unicode"/>
                          <a:cs typeface="Lucida Sans Unicode"/>
                        </a:rPr>
                        <a:t>99.41%</a:t>
                      </a:r>
                      <a:endParaRPr lang="en-US" sz="2400">
                        <a:latin typeface="Lucida Sans Unicode" panose="020B0602030504020204" pitchFamily="34" charset="0"/>
                        <a:cs typeface="Lucida Sans Unicode" panose="020B0602030504020204" pitchFamily="34" charset="0"/>
                      </a:endParaRPr>
                    </a:p>
                  </a:txBody>
                  <a:tcPr anchor="ctr">
                    <a:solidFill>
                      <a:srgbClr val="025239">
                        <a:alpha val="25490"/>
                      </a:srgbClr>
                    </a:solidFill>
                  </a:tcPr>
                </a:tc>
                <a:tc>
                  <a:txBody>
                    <a:bodyPr/>
                    <a:lstStyle/>
                    <a:p>
                      <a:pPr lvl="0" algn="ctr">
                        <a:buNone/>
                      </a:pPr>
                      <a:r>
                        <a:rPr lang="en-US" sz="2400">
                          <a:latin typeface="Lucida Sans Unicode"/>
                          <a:cs typeface="Lucida Sans Unicode"/>
                        </a:rPr>
                        <a:t>14.12%</a:t>
                      </a:r>
                      <a:endParaRPr lang="en-US" sz="2400">
                        <a:latin typeface="Lucida Sans Unicode" panose="020B0602030504020204" pitchFamily="34" charset="0"/>
                        <a:cs typeface="Lucida Sans Unicode" panose="020B0602030504020204" pitchFamily="34" charset="0"/>
                      </a:endParaRPr>
                    </a:p>
                  </a:txBody>
                  <a:tcPr anchor="ctr">
                    <a:solidFill>
                      <a:srgbClr val="025239">
                        <a:alpha val="25490"/>
                      </a:srgbClr>
                    </a:solidFill>
                  </a:tcPr>
                </a:tc>
                <a:extLst>
                  <a:ext uri="{0D108BD9-81ED-4DB2-BD59-A6C34878D82A}">
                    <a16:rowId xmlns:a16="http://schemas.microsoft.com/office/drawing/2014/main" val="1476894949"/>
                  </a:ext>
                </a:extLst>
              </a:tr>
            </a:tbl>
          </a:graphicData>
        </a:graphic>
      </p:graphicFrame>
      <p:pic>
        <p:nvPicPr>
          <p:cNvPr id="24" name="Picture 23" descr="A screenshot of a computer program&#10;&#10;AI-generated content may be incorrect.">
            <a:extLst>
              <a:ext uri="{FF2B5EF4-FFF2-40B4-BE49-F238E27FC236}">
                <a16:creationId xmlns:a16="http://schemas.microsoft.com/office/drawing/2014/main" id="{CAF234E4-064F-8D3E-5CFE-B727A79E8F99}"/>
              </a:ext>
            </a:extLst>
          </p:cNvPr>
          <p:cNvPicPr>
            <a:picLocks noChangeAspect="1"/>
          </p:cNvPicPr>
          <p:nvPr/>
        </p:nvPicPr>
        <p:blipFill>
          <a:blip r:embed="rId8"/>
          <a:stretch>
            <a:fillRect/>
          </a:stretch>
        </p:blipFill>
        <p:spPr>
          <a:xfrm>
            <a:off x="637714" y="21020359"/>
            <a:ext cx="13591314" cy="10223875"/>
          </a:xfrm>
          <a:prstGeom prst="rect">
            <a:avLst/>
          </a:prstGeom>
        </p:spPr>
      </p:pic>
      <p:pic>
        <p:nvPicPr>
          <p:cNvPr id="29" name="Content Placeholder 28" descr="A screenshot of a diagram&#10;&#10;AI-generated content may be incorrect.">
            <a:extLst>
              <a:ext uri="{FF2B5EF4-FFF2-40B4-BE49-F238E27FC236}">
                <a16:creationId xmlns:a16="http://schemas.microsoft.com/office/drawing/2014/main" id="{145BD746-2D0D-B602-6494-6EF241EDC69B}"/>
              </a:ext>
            </a:extLst>
          </p:cNvPr>
          <p:cNvPicPr>
            <a:picLocks noGrp="1" noChangeAspect="1"/>
          </p:cNvPicPr>
          <p:nvPr>
            <p:ph idx="1"/>
          </p:nvPr>
        </p:nvPicPr>
        <p:blipFill>
          <a:blip r:embed="rId9"/>
          <a:stretch>
            <a:fillRect/>
          </a:stretch>
        </p:blipFill>
        <p:spPr>
          <a:xfrm>
            <a:off x="29276646" y="13255172"/>
            <a:ext cx="13697582" cy="10835881"/>
          </a:xfrm>
        </p:spPr>
      </p:pic>
      <p:grpSp>
        <p:nvGrpSpPr>
          <p:cNvPr id="3" name="Group 2">
            <a:extLst>
              <a:ext uri="{FF2B5EF4-FFF2-40B4-BE49-F238E27FC236}">
                <a16:creationId xmlns:a16="http://schemas.microsoft.com/office/drawing/2014/main" id="{2ECD6781-8B2D-ADA2-3112-6AF86A17283C}"/>
              </a:ext>
            </a:extLst>
          </p:cNvPr>
          <p:cNvGrpSpPr/>
          <p:nvPr/>
        </p:nvGrpSpPr>
        <p:grpSpPr>
          <a:xfrm>
            <a:off x="15990893" y="4936689"/>
            <a:ext cx="11299138" cy="11076591"/>
            <a:chOff x="8657200" y="1500748"/>
            <a:chExt cx="25285881" cy="24787852"/>
          </a:xfrm>
        </p:grpSpPr>
        <p:sp>
          <p:nvSpPr>
            <p:cNvPr id="12" name="Oval 11">
              <a:extLst>
                <a:ext uri="{FF2B5EF4-FFF2-40B4-BE49-F238E27FC236}">
                  <a16:creationId xmlns:a16="http://schemas.microsoft.com/office/drawing/2014/main" id="{20761B0E-D51A-0082-42DB-B7FF7BB49231}"/>
                </a:ext>
              </a:extLst>
            </p:cNvPr>
            <p:cNvSpPr/>
            <p:nvPr/>
          </p:nvSpPr>
          <p:spPr>
            <a:xfrm>
              <a:off x="10621789" y="2971191"/>
              <a:ext cx="23321292" cy="23317409"/>
            </a:xfrm>
            <a:prstGeom prst="ellipse">
              <a:avLst/>
            </a:prstGeom>
            <a:solidFill>
              <a:schemeClr val="bg2"/>
            </a:solidFill>
            <a:ln>
              <a:solidFill>
                <a:schemeClr val="accent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3" name="Picture 12">
              <a:extLst>
                <a:ext uri="{FF2B5EF4-FFF2-40B4-BE49-F238E27FC236}">
                  <a16:creationId xmlns:a16="http://schemas.microsoft.com/office/drawing/2014/main" id="{61EFF342-7B41-3909-F9F7-0A45E0E9D977}"/>
                </a:ext>
              </a:extLst>
            </p:cNvPr>
            <p:cNvPicPr>
              <a:picLocks noChangeAspect="1"/>
            </p:cNvPicPr>
            <p:nvPr/>
          </p:nvPicPr>
          <p:blipFill>
            <a:blip r:embed="rId10"/>
            <a:stretch>
              <a:fillRect/>
            </a:stretch>
          </p:blipFill>
          <p:spPr>
            <a:xfrm>
              <a:off x="10987764" y="3342074"/>
              <a:ext cx="22592895" cy="22556319"/>
            </a:xfrm>
            <a:prstGeom prst="rect">
              <a:avLst/>
            </a:prstGeom>
          </p:spPr>
        </p:pic>
        <p:sp>
          <p:nvSpPr>
            <p:cNvPr id="15" name="Rectangle 14">
              <a:extLst>
                <a:ext uri="{FF2B5EF4-FFF2-40B4-BE49-F238E27FC236}">
                  <a16:creationId xmlns:a16="http://schemas.microsoft.com/office/drawing/2014/main" id="{EA3412E6-7AC9-D639-1CF1-B43DF41C578F}"/>
                </a:ext>
              </a:extLst>
            </p:cNvPr>
            <p:cNvSpPr/>
            <p:nvPr/>
          </p:nvSpPr>
          <p:spPr>
            <a:xfrm>
              <a:off x="8657200" y="1500748"/>
              <a:ext cx="9119420" cy="12822490"/>
            </a:xfrm>
            <a:prstGeom prst="rect">
              <a:avLst/>
            </a:prstGeom>
            <a:solidFill>
              <a:schemeClr val="bg2"/>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6" name="Picture 15" descr="A diagram of red circles and arrows&#10;&#10;AI-generated content may be incorrect.">
              <a:extLst>
                <a:ext uri="{FF2B5EF4-FFF2-40B4-BE49-F238E27FC236}">
                  <a16:creationId xmlns:a16="http://schemas.microsoft.com/office/drawing/2014/main" id="{9B916438-DA1A-E5FE-8850-810FCFB64FF7}"/>
                </a:ext>
              </a:extLst>
            </p:cNvPr>
            <p:cNvPicPr>
              <a:picLocks noChangeAspect="1"/>
            </p:cNvPicPr>
            <p:nvPr/>
          </p:nvPicPr>
          <p:blipFill>
            <a:blip r:embed="rId11"/>
            <a:stretch>
              <a:fillRect/>
            </a:stretch>
          </p:blipFill>
          <p:spPr>
            <a:xfrm>
              <a:off x="8826150" y="1717407"/>
              <a:ext cx="8799510" cy="12390295"/>
            </a:xfrm>
            <a:prstGeom prst="rect">
              <a:avLst/>
            </a:prstGeom>
            <a:ln>
              <a:noFill/>
            </a:ln>
          </p:spPr>
        </p:pic>
        <p:cxnSp>
          <p:nvCxnSpPr>
            <p:cNvPr id="21" name="Straight Arrow Connector 20">
              <a:extLst>
                <a:ext uri="{FF2B5EF4-FFF2-40B4-BE49-F238E27FC236}">
                  <a16:creationId xmlns:a16="http://schemas.microsoft.com/office/drawing/2014/main" id="{2B911E40-E303-F79A-5050-D0ACE4264304}"/>
                </a:ext>
              </a:extLst>
            </p:cNvPr>
            <p:cNvCxnSpPr>
              <a:cxnSpLocks/>
            </p:cNvCxnSpPr>
            <p:nvPr/>
          </p:nvCxnSpPr>
          <p:spPr>
            <a:xfrm>
              <a:off x="13216910" y="14323238"/>
              <a:ext cx="688522" cy="1954582"/>
            </a:xfrm>
            <a:prstGeom prst="straightConnector1">
              <a:avLst/>
            </a:prstGeom>
            <a:ln w="50800" cap="sq">
              <a:tailEnd type="arrow" w="lg" len="lg"/>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1540867282"/>
      </p:ext>
    </p:extLst>
  </p:cSld>
  <p:clrMapOvr>
    <a:masterClrMapping/>
  </p:clrMapOvr>
  <p:extLst>
    <p:ext uri="{6950BFC3-D8DA-4A85-94F7-54DA5524770B}">
      <p188:commentRel xmlns:p188="http://schemas.microsoft.com/office/powerpoint/2018/8/main" r:id="rId3"/>
    </p:ext>
  </p:extLst>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lipFill dpi="0" rotWithShape="1">
          <a:blip xmlns:r="http://schemas.openxmlformats.org/officeDocument/2006/relationships" r:embed="rId1">
            <a:alphaModFix amt="37000"/>
          </a:blip>
          <a:srcRect/>
          <a:stretch>
            <a:fillRect/>
          </a:stretch>
        </a:blipFill>
        <a:ln>
          <a:noFill/>
        </a:ln>
      </a:spPr>
      <a:bodyPr rtlCol="0" anchor="ctr"/>
      <a:lstStyle>
        <a:defPPr algn="l">
          <a:defRPr sz="6600" b="1" dirty="0" smtClean="0">
            <a:solidFill>
              <a:schemeClr val="tx1"/>
            </a:solidFill>
            <a:latin typeface="Avenir Book" panose="02000503020000020003" pitchFamily="2" charset="0"/>
            <a:cs typeface="Times New Roman" panose="020206030504050203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SCAR Research Poster Template Final" id="{D86A0E3A-2FCB-0D46-B95A-195BA78DD8F9}" vid="{2124563E-4373-0242-8C6E-0A998DDC20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5245</TotalTime>
  <Words>1055</Words>
  <Application>Microsoft Macintosh PowerPoint</Application>
  <PresentationFormat>Custom</PresentationFormat>
  <Paragraphs>74</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Lucida Sans Unicode</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Jiaying Dai</dc:creator>
  <cp:lastModifiedBy>Justin Rockwell</cp:lastModifiedBy>
  <cp:revision>3</cp:revision>
  <dcterms:created xsi:type="dcterms:W3CDTF">2025-02-25T15:28:03Z</dcterms:created>
  <dcterms:modified xsi:type="dcterms:W3CDTF">2025-04-15T18:33:18Z</dcterms:modified>
</cp:coreProperties>
</file>