
<file path=[Content_Types].xml><?xml version="1.0" encoding="utf-8"?>
<Types xmlns="http://schemas.openxmlformats.org/package/2006/content-types">
  <Default Extension="bin" ContentType="video/unknown"/>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sldIdLst>
    <p:sldId id="256" r:id="rId5"/>
    <p:sldId id="262" r:id="rId6"/>
    <p:sldId id="279" r:id="rId7"/>
    <p:sldId id="288" r:id="rId8"/>
    <p:sldId id="263" r:id="rId9"/>
    <p:sldId id="275" r:id="rId10"/>
    <p:sldId id="264" r:id="rId11"/>
    <p:sldId id="265" r:id="rId12"/>
    <p:sldId id="267" r:id="rId13"/>
    <p:sldId id="266" r:id="rId14"/>
    <p:sldId id="269" r:id="rId15"/>
    <p:sldId id="268" r:id="rId16"/>
    <p:sldId id="270" r:id="rId17"/>
    <p:sldId id="271" r:id="rId18"/>
    <p:sldId id="278" r:id="rId19"/>
    <p:sldId id="273" r:id="rId20"/>
    <p:sldId id="285" r:id="rId21"/>
    <p:sldId id="286" r:id="rId22"/>
    <p:sldId id="283" r:id="rId23"/>
    <p:sldId id="284" r:id="rId24"/>
    <p:sldId id="272" r:id="rId25"/>
    <p:sldId id="280" r:id="rId26"/>
    <p:sldId id="281" r:id="rId27"/>
    <p:sldId id="289" r:id="rId28"/>
    <p:sldId id="274" r:id="rId29"/>
    <p:sldId id="287" r:id="rId30"/>
    <p:sldId id="25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060EAC1-F2EC-405E-ADAE-ECCAF93A76AF}">
          <p14:sldIdLst/>
        </p14:section>
        <p14:section name="Mack" id="{5AD93E7E-A8D3-4027-8043-AE8EBAB49380}">
          <p14:sldIdLst>
            <p14:sldId id="256"/>
            <p14:sldId id="262"/>
            <p14:sldId id="279"/>
            <p14:sldId id="288"/>
          </p14:sldIdLst>
        </p14:section>
        <p14:section name="Bisesh(Justin)" id="{D10018BF-A629-4064-ACAB-6CE71A549E01}">
          <p14:sldIdLst>
            <p14:sldId id="263"/>
            <p14:sldId id="275"/>
          </p14:sldIdLst>
        </p14:section>
        <p14:section name="Craig" id="{7E416569-656D-415D-9601-2BC0B967F32F}">
          <p14:sldIdLst>
            <p14:sldId id="264"/>
            <p14:sldId id="265"/>
            <p14:sldId id="267"/>
          </p14:sldIdLst>
        </p14:section>
        <p14:section name="Justin" id="{2730DC2F-B03F-4E9F-8321-87E1ADD408C8}">
          <p14:sldIdLst>
            <p14:sldId id="266"/>
            <p14:sldId id="269"/>
            <p14:sldId id="268"/>
            <p14:sldId id="270"/>
            <p14:sldId id="271"/>
          </p14:sldIdLst>
        </p14:section>
        <p14:section name="Craig" id="{03B58722-CF0A-4EE4-8786-166F1F23CFE3}">
          <p14:sldIdLst>
            <p14:sldId id="278"/>
          </p14:sldIdLst>
        </p14:section>
        <p14:section name="Max" id="{77E21268-469C-4942-96B4-D3D9BC68127E}">
          <p14:sldIdLst>
            <p14:sldId id="273"/>
            <p14:sldId id="285"/>
            <p14:sldId id="286"/>
          </p14:sldIdLst>
        </p14:section>
        <p14:section name="Craig" id="{C96CF8C6-2FD8-450E-A59E-443302C033DA}">
          <p14:sldIdLst>
            <p14:sldId id="283"/>
          </p14:sldIdLst>
        </p14:section>
        <p14:section name="Craig/Justin" id="{8AF0F1FC-7B60-494A-99C8-6E309BD89D70}">
          <p14:sldIdLst>
            <p14:sldId id="284"/>
            <p14:sldId id="272"/>
            <p14:sldId id="280"/>
            <p14:sldId id="281"/>
            <p14:sldId id="289"/>
            <p14:sldId id="274"/>
            <p14:sldId id="287"/>
            <p14:sldId id="25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DBFF49-FB2A-69B6-F496-4C9425591793}" name="Md Tanvir Arafin" initials="MA" userId="S::marafin@gmu.edu::eccf847f-869a-4d7e-b11f-62716a80485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52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D6BB58-FA86-51F5-4F33-48F02872A95C}" v="8" dt="2025-04-24T02:11:32.736"/>
    <p1510:client id="{746A0DAD-DBC4-1DE6-673B-93FB7373CE8D}" v="401" dt="2025-04-23T22:11:03.983"/>
    <p1510:client id="{894C1A1A-52BB-BE46-2326-2FAB301BC2E2}" v="3" dt="2025-04-24T03:07:59.311"/>
    <p1510:client id="{D5E4D51D-1196-3949-A01F-1904A9630A97}" v="263" dt="2025-04-24T13:15:08.012"/>
    <p1510:client id="{EE2551A4-B7BA-43FF-B262-8BEB393F1FC0}" v="151" dt="2025-04-23T23:06:10.823"/>
    <p1510:client id="{F77B87D5-ABFC-837B-A69A-7D55629C531C}" v="4" dt="2025-04-23T21:03:23.0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C35C03-F955-E24E-9776-5B3AA063BAF0}" type="datetimeFigureOut">
              <a:rPr lang="en-US" smtClean="0"/>
              <a:t>5/1/2025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3A79FF-E0EC-5143-820D-B601C86FB409}" type="slidenum">
              <a:rPr lang="en-US" smtClean="0"/>
              <a:t>‹#›</a:t>
            </a:fld>
            <a:endParaRPr lang="en-US"/>
          </a:p>
        </p:txBody>
      </p:sp>
    </p:spTree>
    <p:extLst>
      <p:ext uri="{BB962C8B-B14F-4D97-AF65-F5344CB8AC3E}">
        <p14:creationId xmlns:p14="http://schemas.microsoft.com/office/powerpoint/2010/main" val="2084928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1</a:t>
            </a:fld>
            <a:endParaRPr lang="en-US"/>
          </a:p>
        </p:txBody>
      </p:sp>
    </p:spTree>
    <p:extLst>
      <p:ext uri="{BB962C8B-B14F-4D97-AF65-F5344CB8AC3E}">
        <p14:creationId xmlns:p14="http://schemas.microsoft.com/office/powerpoint/2010/main" val="38749239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a:solidFill>
                  <a:srgbClr val="000000"/>
                </a:solidFill>
                <a:effectLst/>
              </a:rPr>
              <a:t>"Reverse engineering plays a vital role in malware analysis, vulnerability research, and software validation. However, manual analysis is slow, labor-intensive, and not scalable. Tools like Ghidra and IDA Pro are powerful but can misinterpret complex or obfuscated code. Optimization by compilers can also significantly change code structure. So, we’re stuck between inaccurate automation and slow manual inspection.</a:t>
            </a:r>
            <a:r>
              <a:rPr lang="en-US">
                <a:solidFill>
                  <a:srgbClr val="000000"/>
                </a:solidFill>
              </a:rPr>
              <a:t> </a:t>
            </a:r>
            <a:r>
              <a:rPr lang="en-US" b="0" i="0" u="none" strike="noStrike" err="1">
                <a:solidFill>
                  <a:srgbClr val="000000"/>
                </a:solidFill>
                <a:effectLst/>
              </a:rPr>
              <a:t>GLeNN</a:t>
            </a:r>
            <a:r>
              <a:rPr lang="en-US" b="0" i="0" u="none" strike="noStrike">
                <a:solidFill>
                  <a:srgbClr val="000000"/>
                </a:solidFill>
                <a:effectLst/>
              </a:rPr>
              <a:t> is our attempt to bridge this gap."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000000"/>
                </a:solidFill>
                <a:latin typeface="Aptos"/>
              </a:rPr>
              <a:t>Graph Language Enhanced Neural Network</a:t>
            </a:r>
            <a:br>
              <a:rPr lang="en-US">
                <a:solidFill>
                  <a:srgbClr val="000000"/>
                </a:solidFill>
                <a:latin typeface="Aptos"/>
              </a:rPr>
            </a:br>
            <a:r>
              <a:rPr lang="en-US">
                <a:solidFill>
                  <a:srgbClr val="000000"/>
                </a:solidFill>
                <a:effectLst/>
                <a:latin typeface="Helvetica"/>
                <a:cs typeface="Helvetica"/>
              </a:rPr>
              <a:t>__________________</a:t>
            </a:r>
          </a:p>
          <a:p>
            <a:r>
              <a:rPr lang="en-US" b="0" i="0" u="none" strike="noStrike">
                <a:solidFill>
                  <a:srgbClr val="000000"/>
                </a:solidFill>
                <a:effectLst/>
                <a:latin typeface="-webkit-standard"/>
              </a:rPr>
              <a:t>"Reverse engineering helps us understand code without executing it, which is critical for malware analysis. Manual methods are slow, and tools like Ghidra struggle with optimization and obfuscation. </a:t>
            </a:r>
            <a:r>
              <a:rPr lang="en-US" b="0" i="0" u="none" strike="noStrike" err="1">
                <a:solidFill>
                  <a:srgbClr val="000000"/>
                </a:solidFill>
                <a:effectLst/>
                <a:latin typeface="-webkit-standard"/>
              </a:rPr>
              <a:t>GLeNN</a:t>
            </a:r>
            <a:r>
              <a:rPr lang="en-US" b="0" i="0" u="none" strike="noStrike">
                <a:solidFill>
                  <a:srgbClr val="000000"/>
                </a:solidFill>
                <a:effectLst/>
                <a:latin typeface="-webkit-standard"/>
              </a:rPr>
              <a:t> aims to combine LLMs with reference-guided retrieval to improve both accuracy and speed."</a:t>
            </a:r>
            <a:endParaRPr lang="en-US">
              <a:solidFill>
                <a:srgbClr val="000000"/>
              </a:solidFill>
              <a:effectLst/>
              <a:latin typeface="Apto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000000"/>
                </a:solidFill>
                <a:effectLst/>
                <a:latin typeface="Helvetica"/>
                <a:cs typeface="Helvetica"/>
              </a:rPr>
              <a:t>__________________</a:t>
            </a:r>
          </a:p>
          <a:p>
            <a:endParaRPr lang="en-US">
              <a:solidFill>
                <a:srgbClr val="000000"/>
              </a:solidFill>
              <a:latin typeface="Helvetica" pitchFamily="2" charset="0"/>
            </a:endParaRPr>
          </a:p>
          <a:p>
            <a:r>
              <a:rPr lang="en-US"/>
              <a:t>Static reverse engineering is crucial for malware analysis, threat containment, and digital forensics</a:t>
            </a:r>
          </a:p>
          <a:p>
            <a:r>
              <a:rPr lang="en-US"/>
              <a:t>Manual techniques are precise but slow and heavily reliant on expert knowledge</a:t>
            </a:r>
          </a:p>
          <a:p>
            <a:r>
              <a:rPr lang="en-US"/>
              <a:t>Tools like Ghidra automate reverse engineering but struggle with optimized or obfuscated binaries</a:t>
            </a:r>
          </a:p>
          <a:p>
            <a:r>
              <a:rPr lang="en-US"/>
              <a:t>Our solution: </a:t>
            </a:r>
            <a:r>
              <a:rPr lang="en-US" err="1"/>
              <a:t>GLeNN</a:t>
            </a:r>
            <a:r>
              <a:rPr lang="en-US"/>
              <a:t> — combines retrieval with LLMs for smarter, safer decompilation</a:t>
            </a:r>
          </a:p>
          <a:p>
            <a:pPr>
              <a:buNone/>
            </a:pPr>
            <a:endParaRPr lang="en-US">
              <a:solidFill>
                <a:srgbClr val="000000"/>
              </a:solidFill>
              <a:effectLst/>
              <a:latin typeface="Helvetica"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000000"/>
                </a:solidFill>
                <a:effectLst/>
                <a:latin typeface="Helvetica"/>
                <a:cs typeface="Helvetica"/>
              </a:rPr>
              <a:t>__________________</a:t>
            </a:r>
          </a:p>
          <a:p>
            <a:pPr>
              <a:buNone/>
            </a:pPr>
            <a:endParaRPr lang="en-US">
              <a:solidFill>
                <a:srgbClr val="000000"/>
              </a:solidFill>
              <a:effectLst/>
              <a:latin typeface="Helvetica" pitchFamily="2" charset="0"/>
            </a:endParaRPr>
          </a:p>
          <a:p>
            <a:pPr>
              <a:buNone/>
            </a:pPr>
            <a:r>
              <a:rPr lang="en-US">
                <a:solidFill>
                  <a:srgbClr val="000000"/>
                </a:solidFill>
                <a:effectLst/>
                <a:latin typeface="Helvetica"/>
                <a:cs typeface="Helvetica"/>
              </a:rPr>
              <a:t>Static reverse engineering—the process of analyzing executable code without running it—plays a vital role in cybersecurity. It enables analysts to understand the functionality of potentially malicious software while avoiding the risks associated with dynamic execution. This analysis supports threat containment, post-incident recovery, and long-term defensive improvements. By uncovering what actions a program takes, how it manipulates memory, and what systems it impacts, reverse engineering offers critical insights for cyber defense teams.</a:t>
            </a:r>
          </a:p>
          <a:p>
            <a:pPr>
              <a:buNone/>
            </a:pPr>
            <a:endParaRPr lang="en-US">
              <a:solidFill>
                <a:srgbClr val="000000"/>
              </a:solidFill>
              <a:effectLst/>
              <a:latin typeface="Helvetica" pitchFamily="2" charset="0"/>
            </a:endParaRPr>
          </a:p>
          <a:p>
            <a:pPr>
              <a:buNone/>
            </a:pPr>
            <a:r>
              <a:rPr lang="en-US">
                <a:solidFill>
                  <a:srgbClr val="000000"/>
                </a:solidFill>
                <a:effectLst/>
                <a:latin typeface="Helvetica"/>
                <a:cs typeface="Helvetica"/>
              </a:rPr>
              <a:t>Traditionally, reverse engineering is conducted through one of two approaches: manual analysis or automated tooling. Manual reverse engineering is often the most accurate, allowing a skilled analyst to deeply inspect a binary's behavior. However, this process is labor-intensive and requires substantial expertise in low-level programming and binary structures. In contrast, automated tools like the NSA’s Ghidra or Hex-Rays' IDA Pro significantly speed up analysis by transforming binary code into high-level pseudocode. Yet these tools frequently produce inaccurate output when faced with highly optimized or obfuscated code, often requiring human intervention to clean up logic errors or misunderstood control structures.</a:t>
            </a:r>
          </a:p>
          <a:p>
            <a:pPr>
              <a:buNone/>
            </a:pPr>
            <a:endParaRPr lang="en-US">
              <a:solidFill>
                <a:srgbClr val="000000"/>
              </a:solidFill>
              <a:effectLst/>
              <a:latin typeface="Helvetica" pitchFamily="2" charset="0"/>
            </a:endParaRPr>
          </a:p>
          <a:p>
            <a:pPr>
              <a:buNone/>
            </a:pPr>
            <a:r>
              <a:rPr lang="en-US">
                <a:solidFill>
                  <a:srgbClr val="000000"/>
                </a:solidFill>
                <a:effectLst/>
                <a:latin typeface="Helvetica"/>
                <a:cs typeface="Helvetica"/>
              </a:rPr>
              <a:t>A significant challenge in automated reverse engineering is the loss of semantic and structural information during compilation. Even simple optimizations can drastically alter code layout, making it difficult to recover original logic. These problems are exacerbated when facing malware designed specifically to hinder analysis. Recent advances in Large Language Models (LLMs) have introduced new possibilities by framing reverse engineering as a language translation task—from low-level machine code to high-level C-like syntax. However, models like LLM4Decompile still suffer from hallucinations and limited understanding of program context. These shortcomings arise from the sheer complexity of code semantics and the unpredictable nature of machine-compiled logic.</a:t>
            </a:r>
          </a:p>
          <a:p>
            <a:pPr>
              <a:buNone/>
            </a:pPr>
            <a:endParaRPr lang="en-US">
              <a:solidFill>
                <a:srgbClr val="000000"/>
              </a:solidFill>
              <a:effectLst/>
              <a:latin typeface="Helvetica" pitchFamily="2" charset="0"/>
            </a:endParaRPr>
          </a:p>
          <a:p>
            <a:pPr>
              <a:buNone/>
            </a:pPr>
            <a:r>
              <a:rPr lang="en-US">
                <a:solidFill>
                  <a:srgbClr val="000000"/>
                </a:solidFill>
                <a:effectLst/>
                <a:latin typeface="Helvetica"/>
                <a:cs typeface="Helvetica"/>
              </a:rPr>
              <a:t>To address these challenges, our research explores the integration of Retrieval-Augmented Generation (RAG) into the reverse engineering pipeline. RAG enhances LLM performance by incorporating semantically similar reference code during inference, providing additional context that helps the model make informed predictions. This paper presents GleNN, a system that builds a graph-based database of control-flow structures and uses them to retrieve relevant C code that informs the LLM’s decompilation output. Our aim is to evaluate whether this integration improves the syntactic correctness, semantic coherence, and executable accuracy of the generated C code when compared to existing tools.</a:t>
            </a:r>
          </a:p>
          <a:p>
            <a:pPr>
              <a:buNone/>
            </a:pPr>
            <a:endParaRPr lang="en-US">
              <a:solidFill>
                <a:srgbClr val="000000"/>
              </a:solidFill>
              <a:effectLst/>
              <a:latin typeface="Helvetica" pitchFamily="2" charset="0"/>
            </a:endParaRPr>
          </a:p>
          <a:p>
            <a:pPr>
              <a:buNone/>
            </a:pPr>
            <a:r>
              <a:rPr lang="en-US">
                <a:solidFill>
                  <a:srgbClr val="000000"/>
                </a:solidFill>
                <a:effectLst/>
                <a:latin typeface="Helvetica"/>
                <a:cs typeface="Helvetica"/>
              </a:rPr>
              <a:t>The research question of this project we hope to answer is can the integration of a retrieval-augmented generation (RAG) pipeline improve the precision and completeness of LLM-based static reverse engineering when applied to obfuscated or optimized binaries?</a:t>
            </a:r>
            <a:endParaRPr lang="en-US">
              <a:latin typeface="Helvetica"/>
              <a:cs typeface="Helvetica"/>
            </a:endParaRPr>
          </a:p>
        </p:txBody>
      </p:sp>
      <p:sp>
        <p:nvSpPr>
          <p:cNvPr id="4" name="Slide Number Placeholder 3"/>
          <p:cNvSpPr>
            <a:spLocks noGrp="1"/>
          </p:cNvSpPr>
          <p:nvPr>
            <p:ph type="sldNum" sz="quarter" idx="5"/>
          </p:nvPr>
        </p:nvSpPr>
        <p:spPr/>
        <p:txBody>
          <a:bodyPr/>
          <a:lstStyle/>
          <a:p>
            <a:fld id="{833A79FF-E0EC-5143-820D-B601C86FB409}" type="slidenum">
              <a:rPr lang="en-US" smtClean="0"/>
              <a:t>2</a:t>
            </a:fld>
            <a:endParaRPr lang="en-US"/>
          </a:p>
        </p:txBody>
      </p:sp>
    </p:spTree>
    <p:extLst>
      <p:ext uri="{BB962C8B-B14F-4D97-AF65-F5344CB8AC3E}">
        <p14:creationId xmlns:p14="http://schemas.microsoft.com/office/powerpoint/2010/main" val="3396496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F0D53-F439-FFE8-E467-87672B0B6D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7B30A-220C-39A6-914A-A12C98B77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41001-5C34-559C-DF14-5832E028766A}"/>
              </a:ext>
            </a:extLst>
          </p:cNvPr>
          <p:cNvSpPr>
            <a:spLocks noGrp="1"/>
          </p:cNvSpPr>
          <p:nvPr>
            <p:ph type="body" idx="1"/>
          </p:nvPr>
        </p:nvSpPr>
        <p:spPr/>
        <p:txBody>
          <a:bodyPr/>
          <a:lstStyle/>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pPr>
              <a:buNone/>
            </a:pPr>
            <a:r>
              <a:rPr lang="en-US">
                <a:solidFill>
                  <a:srgbClr val="000000"/>
                </a:solidFill>
                <a:effectLst/>
                <a:latin typeface="Helvetica" pitchFamily="2" charset="0"/>
              </a:rPr>
              <a:t>Static reverse engineering—the process of analyzing executable code without running it—plays a vital role in cybersecurity. It enables analysts to understand the functionality of potentially malicious software while avoiding the risks associated with dynamic execution. This analysis supports threat containment, post-incident recovery, and long-term defensive improvements. By uncovering what actions a program takes, how it manipulates memory, and what systems it impacts, reverse engineering offers critical insights for cyber defense teams.</a:t>
            </a:r>
          </a:p>
          <a:p>
            <a:pPr>
              <a:buNone/>
            </a:pPr>
            <a:endParaRPr lang="en-US">
              <a:solidFill>
                <a:srgbClr val="000000"/>
              </a:solidFill>
              <a:effectLst/>
              <a:latin typeface="Helvetica" pitchFamily="2" charset="0"/>
            </a:endParaRPr>
          </a:p>
          <a:p>
            <a:pPr>
              <a:buNone/>
            </a:pPr>
            <a:r>
              <a:rPr lang="en-US">
                <a:solidFill>
                  <a:srgbClr val="000000"/>
                </a:solidFill>
                <a:effectLst/>
                <a:latin typeface="Helvetica" pitchFamily="2" charset="0"/>
              </a:rPr>
              <a:t>Traditionally, reverse engineering is conducted through one of two approaches: manual analysis or automated tooling. Manual reverse engineering is often the most accurate, allowing a skilled analyst to deeply inspect a binary's behavior. However, this process is labor-intensive and requires substantial expertise in low-level programming and binary structures. In contrast, automated tools like the NSA’s Ghidra or Hex-Rays' IDA Pro significantly speed up analysis by transforming binary code into high-level pseudocode. Yet these tools frequently produce inaccurate output when faced with highly optimized or obfuscated code, often requiring human intervention to clean up logic errors or misunderstood control structures.</a:t>
            </a:r>
          </a:p>
          <a:p>
            <a:pPr>
              <a:buNone/>
            </a:pPr>
            <a:endParaRPr lang="en-US">
              <a:solidFill>
                <a:srgbClr val="000000"/>
              </a:solidFill>
              <a:effectLst/>
              <a:latin typeface="Helvetica" pitchFamily="2" charset="0"/>
            </a:endParaRPr>
          </a:p>
          <a:p>
            <a:pPr>
              <a:buNone/>
            </a:pPr>
            <a:r>
              <a:rPr lang="en-US">
                <a:solidFill>
                  <a:srgbClr val="000000"/>
                </a:solidFill>
                <a:effectLst/>
                <a:latin typeface="Helvetica" pitchFamily="2" charset="0"/>
              </a:rPr>
              <a:t>A significant challenge in automated reverse engineering is the loss of semantic and structural information during compilation. Even simple optimizations can drastically alter code layout, making it difficult to recover original logic. These problems are exacerbated when facing malware designed specifically to hinder analysis. Recent advances in Large Language Models (LLMs) have introduced new possibilities by framing reverse engineering as a language translation task—from low-level machine code to high-level C-like syntax. However, models like LLM4Decompile still suffer from hallucinations and limited understanding of program context. These shortcomings arise from the sheer complexity of code semantics and the unpredictable nature of machine-compiled logic.</a:t>
            </a:r>
          </a:p>
          <a:p>
            <a:pPr>
              <a:buNone/>
            </a:pPr>
            <a:endParaRPr lang="en-US">
              <a:solidFill>
                <a:srgbClr val="000000"/>
              </a:solidFill>
              <a:effectLst/>
              <a:latin typeface="Helvetica" pitchFamily="2" charset="0"/>
            </a:endParaRPr>
          </a:p>
          <a:p>
            <a:pPr>
              <a:buNone/>
            </a:pPr>
            <a:r>
              <a:rPr lang="en-US">
                <a:solidFill>
                  <a:srgbClr val="000000"/>
                </a:solidFill>
                <a:effectLst/>
                <a:latin typeface="Helvetica" pitchFamily="2" charset="0"/>
              </a:rPr>
              <a:t>To address these challenges, our research explores the integration of Retrieval-Augmented Generation (RAG) into the reverse engineering pipeline. RAG enhances LLM performance by incorporating semantically similar reference code during inference, providing additional context that helps the model make informed predictions. This paper presents GleNN, a system that builds a graph-based database of control-flow structures and uses them to retrieve relevant C code that informs the LLM’s decompilation output. Our aim is to evaluate whether this integration improves the syntactic correctness, semantic coherence, and executable accuracy of the generated C code when compared to existing tools.</a:t>
            </a:r>
          </a:p>
          <a:p>
            <a:pPr>
              <a:buNone/>
            </a:pPr>
            <a:endParaRPr lang="en-US">
              <a:solidFill>
                <a:srgbClr val="000000"/>
              </a:solidFill>
              <a:effectLst/>
              <a:latin typeface="Helvetica" pitchFamily="2" charset="0"/>
            </a:endParaRPr>
          </a:p>
          <a:p>
            <a:pPr>
              <a:buNone/>
            </a:pPr>
            <a:r>
              <a:rPr lang="en-US">
                <a:solidFill>
                  <a:srgbClr val="000000"/>
                </a:solidFill>
                <a:effectLst/>
                <a:latin typeface="Helvetica" pitchFamily="2" charset="0"/>
              </a:rPr>
              <a:t>The research question of this project we hope to answer is can the integration of a retrieval-augmented generation (RAG) pipeline improve the precision and completeness of LLM-based static reverse engineering when applied to obfuscated or optimized binaries?</a:t>
            </a:r>
            <a:endParaRPr lang="en-US"/>
          </a:p>
        </p:txBody>
      </p:sp>
      <p:sp>
        <p:nvSpPr>
          <p:cNvPr id="4" name="Slide Number Placeholder 3">
            <a:extLst>
              <a:ext uri="{FF2B5EF4-FFF2-40B4-BE49-F238E27FC236}">
                <a16:creationId xmlns:a16="http://schemas.microsoft.com/office/drawing/2014/main" id="{D5D682D4-CDAC-DDA6-2853-00B280DAC690}"/>
              </a:ext>
            </a:extLst>
          </p:cNvPr>
          <p:cNvSpPr>
            <a:spLocks noGrp="1"/>
          </p:cNvSpPr>
          <p:nvPr>
            <p:ph type="sldNum" sz="quarter" idx="5"/>
          </p:nvPr>
        </p:nvSpPr>
        <p:spPr/>
        <p:txBody>
          <a:bodyPr/>
          <a:lstStyle/>
          <a:p>
            <a:fld id="{833A79FF-E0EC-5143-820D-B601C86FB409}" type="slidenum">
              <a:rPr lang="en-US" smtClean="0"/>
              <a:t>3</a:t>
            </a:fld>
            <a:endParaRPr lang="en-US"/>
          </a:p>
        </p:txBody>
      </p:sp>
    </p:spTree>
    <p:extLst>
      <p:ext uri="{BB962C8B-B14F-4D97-AF65-F5344CB8AC3E}">
        <p14:creationId xmlns:p14="http://schemas.microsoft.com/office/powerpoint/2010/main" val="3720218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4</a:t>
            </a:fld>
            <a:endParaRPr lang="en-US"/>
          </a:p>
        </p:txBody>
      </p:sp>
    </p:spTree>
    <p:extLst>
      <p:ext uri="{BB962C8B-B14F-4D97-AF65-F5344CB8AC3E}">
        <p14:creationId xmlns:p14="http://schemas.microsoft.com/office/powerpoint/2010/main" val="3516513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a:solidFill>
                  <a:srgbClr val="000000"/>
                </a:solidFill>
                <a:effectLst/>
              </a:rPr>
              <a:t>"LLMs have shown great potential in code generation and translation, but when applied to decompilation, they often hallucinate logic—adding or omitting key behaviors. These hallucinations can lead to incorrect assumptions about a program’s functionality, which is dangerous in a security context. Worse, real-world binaries are often obfuscated to hide intent. Without structural guidance, even the best models struggle. So we asked: what if we could show the model examples of code that 'looks like' the input binary?"</a:t>
            </a:r>
          </a:p>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endParaRPr lang="en-US"/>
          </a:p>
          <a:p>
            <a:r>
              <a:rPr lang="en-US"/>
              <a:t>While recent advances in Large Language Models (LLMs) have made it possible to decompile binaries by treating them as a language translation problem, there are still several important challenges that limit their effectiveness. This work is motivated by the following key observations:</a:t>
            </a:r>
          </a:p>
          <a:p>
            <a:endParaRPr lang="en-US"/>
          </a:p>
          <a:p>
            <a:r>
              <a:rPr lang="en-US"/>
              <a:t>\begin{itemize}</a:t>
            </a:r>
          </a:p>
          <a:p>
            <a:r>
              <a:rPr lang="en-US"/>
              <a:t>    \item \</a:t>
            </a:r>
            <a:r>
              <a:rPr lang="en-US" err="1"/>
              <a:t>textbf</a:t>
            </a:r>
            <a:r>
              <a:rPr lang="en-US"/>
              <a:t>{LLMs hallucinate code logic.} Models like LLM4Decompile often generate syntactically valid C code that deviates from the true behavior of the original binary. These hallucinations can include missing conditions, fabricated control flow, or overly generalized logic, making the output unsafe or misleading for analysts.</a:t>
            </a:r>
          </a:p>
          <a:p>
            <a:endParaRPr lang="en-US"/>
          </a:p>
          <a:p>
            <a:r>
              <a:rPr lang="en-US"/>
              <a:t>    \item \</a:t>
            </a:r>
            <a:r>
              <a:rPr lang="en-US" err="1"/>
              <a:t>textbf</a:t>
            </a:r>
            <a:r>
              <a:rPr lang="en-US"/>
              <a:t>{Context-free predictions are error-prone.} LLMs typically decompile functions in isolation, without understanding the broader context of how similar functions are commonly structured. Without this grounding, models lack the constraints needed to produce accurate or executable results—especially in edge cases or optimized binaries.</a:t>
            </a:r>
          </a:p>
          <a:p>
            <a:endParaRPr lang="en-US"/>
          </a:p>
          <a:p>
            <a:r>
              <a:rPr lang="en-US"/>
              <a:t>    \item \</a:t>
            </a:r>
            <a:r>
              <a:rPr lang="en-US" err="1"/>
              <a:t>textbf</a:t>
            </a:r>
            <a:r>
              <a:rPr lang="en-US"/>
              <a:t>{Obfuscation and compiler optimizations break assumptions.} Compilers regularly restructure code in ways that obscure the original logic. Malware authors take this further by intentionally obfuscating control flow. In both cases, recovering the intent of a function requires more than pattern-matching—it requires structural understanding.</a:t>
            </a:r>
          </a:p>
          <a:p>
            <a:endParaRPr lang="en-US"/>
          </a:p>
          <a:p>
            <a:r>
              <a:rPr lang="en-US"/>
              <a:t>    \item \</a:t>
            </a:r>
            <a:r>
              <a:rPr lang="en-US" err="1"/>
              <a:t>textbf</a:t>
            </a:r>
            <a:r>
              <a:rPr lang="en-US"/>
              <a:t>{Existing tools are either brittle or overly manual.} Tools like Ghidra and IDA Pro are powerful, but their decompiled outputs still often require manual cleanup or expert interpretation. LLMs offer promise, but their outputs need guidance to match the precision and reliability required in real-world reverse engineering.</a:t>
            </a:r>
          </a:p>
          <a:p>
            <a:endParaRPr lang="en-US"/>
          </a:p>
          <a:p>
            <a:r>
              <a:rPr lang="en-US"/>
              <a:t>    \item \</a:t>
            </a:r>
            <a:r>
              <a:rPr lang="en-US" err="1"/>
              <a:t>textbf</a:t>
            </a:r>
            <a:r>
              <a:rPr lang="en-US"/>
              <a:t>{Retrieval-Augmented Generation (RAG) offers a path forward.} By retrieving relevant and structurally similar examples to use as context during generation, we can ground LLM predictions in real code. This can reduce hallucinations, improve structure fidelity, and help models better align with the semantics of the binary being analyzed.</a:t>
            </a:r>
          </a:p>
          <a:p>
            <a:r>
              <a:rPr lang="en-US"/>
              <a:t>\end{itemize}</a:t>
            </a:r>
          </a:p>
          <a:p>
            <a:endParaRPr lang="en-US"/>
          </a:p>
          <a:p>
            <a:r>
              <a:rPr lang="en-US"/>
              <a:t>In this context, our work asks: \</a:t>
            </a:r>
            <a:r>
              <a:rPr lang="en-US" err="1"/>
              <a:t>emph</a:t>
            </a:r>
            <a:r>
              <a:rPr lang="en-US"/>
              <a:t>{Can the integration of a retrieval-augmented generation (RAG) pipeline improve the precision and completeness of LLM-based static reverse engineering when applied to obfuscated or optimized binaries?} GleNN is our answer to that question.</a:t>
            </a:r>
          </a:p>
        </p:txBody>
      </p:sp>
      <p:sp>
        <p:nvSpPr>
          <p:cNvPr id="4" name="Slide Number Placeholder 3"/>
          <p:cNvSpPr>
            <a:spLocks noGrp="1"/>
          </p:cNvSpPr>
          <p:nvPr>
            <p:ph type="sldNum" sz="quarter" idx="5"/>
          </p:nvPr>
        </p:nvSpPr>
        <p:spPr/>
        <p:txBody>
          <a:bodyPr/>
          <a:lstStyle/>
          <a:p>
            <a:fld id="{833A79FF-E0EC-5143-820D-B601C86FB409}" type="slidenum">
              <a:rPr lang="en-US" smtClean="0"/>
              <a:t>5</a:t>
            </a:fld>
            <a:endParaRPr lang="en-US"/>
          </a:p>
        </p:txBody>
      </p:sp>
    </p:spTree>
    <p:extLst>
      <p:ext uri="{BB962C8B-B14F-4D97-AF65-F5344CB8AC3E}">
        <p14:creationId xmlns:p14="http://schemas.microsoft.com/office/powerpoint/2010/main" val="2830069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a:solidFill>
                  <a:srgbClr val="000000"/>
                </a:solidFill>
                <a:effectLst/>
              </a:rPr>
              <a:t>"Our key innovations are: First, the application of graph-based retrieval to guide LLM decompilation. Second, a curated Neo4j database with thousands of compiled C functions, each converted into a control-flow graph. Third, a two-pass search process that balances speed and precision. And finally, our results: </a:t>
            </a:r>
            <a:r>
              <a:rPr lang="en-US" b="0" i="0" u="none" strike="noStrike" err="1">
                <a:solidFill>
                  <a:srgbClr val="000000"/>
                </a:solidFill>
                <a:effectLst/>
              </a:rPr>
              <a:t>GLeNN</a:t>
            </a:r>
            <a:r>
              <a:rPr lang="en-US" b="0" i="0" u="none" strike="noStrike">
                <a:solidFill>
                  <a:srgbClr val="000000"/>
                </a:solidFill>
                <a:effectLst/>
              </a:rPr>
              <a:t> achieved nearly perfect execution rates on test binaries."</a:t>
            </a:r>
          </a:p>
          <a:p>
            <a:r>
              <a:rPr lang="en-US" b="0" i="0" u="none" strike="noStrike">
                <a:solidFill>
                  <a:srgbClr val="000000"/>
                </a:solidFill>
                <a:effectLst/>
                <a:latin typeface="-webkit-standard"/>
              </a:rPr>
              <a:t>______________</a:t>
            </a:r>
            <a:endParaRPr lang="en-US"/>
          </a:p>
          <a:p>
            <a:endParaRPr lang="en-US"/>
          </a:p>
          <a:p>
            <a:r>
              <a:rPr lang="en-US"/>
              <a:t>This work presents \</a:t>
            </a:r>
            <a:r>
              <a:rPr lang="en-US" err="1"/>
              <a:t>textbf</a:t>
            </a:r>
            <a:r>
              <a:rPr lang="en-US"/>
              <a:t>{</a:t>
            </a:r>
            <a:r>
              <a:rPr lang="en-US" err="1"/>
              <a:t>GleNN</a:t>
            </a:r>
            <a:r>
              <a:rPr lang="en-US"/>
              <a:t>: Generative Augmented Large Language</a:t>
            </a:r>
          </a:p>
          <a:p>
            <a:r>
              <a:rPr lang="en-US"/>
              <a:t>Models for Binary Decompilation}, a reverse engineering tool that integrates graph-based code retrieval with Retrieval-Augmented Generation (RAG) to improve the quality and accuracy of LLM-assisted decompilation. </a:t>
            </a:r>
            <a:r>
              <a:rPr lang="en-US" err="1"/>
              <a:t>GleNN</a:t>
            </a:r>
            <a:r>
              <a:rPr lang="en-US"/>
              <a:t> bridges the gap between control-flow structure analysis and semantic code prediction by leveraging a graph similarity engine to retrieve functionally similar reference code, which is then injected into the prompt for a large language model.</a:t>
            </a:r>
          </a:p>
          <a:p>
            <a:endParaRPr lang="en-US"/>
          </a:p>
          <a:p>
            <a:r>
              <a:rPr lang="en-US"/>
              <a:t>To the best of our knowledge, \</a:t>
            </a:r>
            <a:r>
              <a:rPr lang="en-US" err="1"/>
              <a:t>emph</a:t>
            </a:r>
            <a:r>
              <a:rPr lang="en-US"/>
              <a:t>{this work is the first to combine graph edit distance (GED)-based control-flow similarity with LLM-based decompilation in a RAG framework}. It introduces a hybrid retrieval mechanism and a modular design that demonstrates improved decompilation outcomes across metrics of compile-ability and executability.</a:t>
            </a:r>
          </a:p>
          <a:p>
            <a:endParaRPr lang="en-US"/>
          </a:p>
          <a:p>
            <a:r>
              <a:rPr lang="en-US"/>
              <a:t>Our key contributions are summarized as follows:</a:t>
            </a:r>
          </a:p>
          <a:p>
            <a:endParaRPr lang="en-US"/>
          </a:p>
          <a:p>
            <a:r>
              <a:rPr lang="en-US"/>
              <a:t>\begin{itemize}</a:t>
            </a:r>
          </a:p>
          <a:p>
            <a:r>
              <a:rPr lang="en-US"/>
              <a:t>    \item We introduce \</a:t>
            </a:r>
            <a:r>
              <a:rPr lang="en-US" err="1"/>
              <a:t>textbf</a:t>
            </a:r>
            <a:r>
              <a:rPr lang="en-US"/>
              <a:t>{</a:t>
            </a:r>
            <a:r>
              <a:rPr lang="en-US" err="1"/>
              <a:t>GleNN</a:t>
            </a:r>
            <a:r>
              <a:rPr lang="en-US"/>
              <a:t>}, a novel reverse engineering system that uses graph-based structural retrieval to supplement an LLM with relevant C code snippets for improved decompilation. </a:t>
            </a:r>
            <a:r>
              <a:rPr lang="en-US" err="1"/>
              <a:t>GleNN</a:t>
            </a:r>
            <a:r>
              <a:rPr lang="en-US"/>
              <a:t> enhances context and reduces hallucinated logic by incorporating known examples that reflect the target function’s control flow.</a:t>
            </a:r>
          </a:p>
          <a:p>
            <a:r>
              <a:rPr lang="en-US"/>
              <a:t>    </a:t>
            </a:r>
          </a:p>
          <a:p>
            <a:r>
              <a:rPr lang="en-US"/>
              <a:t>    \item We design and implement a two-pass retrieval strategy (Section~\ref{</a:t>
            </a:r>
            <a:r>
              <a:rPr lang="en-US" err="1"/>
              <a:t>sec:methodology</a:t>
            </a:r>
            <a:r>
              <a:rPr lang="en-US"/>
              <a:t>}), combining Euclidean distance-based filtering of structural vector embeddings with a refined graph edit distance (GED) similarity search. This allows efficient and accurate retrieval across a large Neo4j graph database containing over 25,000 known function CFGs.</a:t>
            </a:r>
          </a:p>
          <a:p>
            <a:r>
              <a:rPr lang="en-US"/>
              <a:t>    </a:t>
            </a:r>
          </a:p>
          <a:p>
            <a:r>
              <a:rPr lang="en-US"/>
              <a:t>    \item We evaluate </a:t>
            </a:r>
            <a:r>
              <a:rPr lang="en-US" err="1"/>
              <a:t>GleNN</a:t>
            </a:r>
            <a:r>
              <a:rPr lang="en-US"/>
              <a:t> against LLM4Decompile and a </a:t>
            </a:r>
            <a:r>
              <a:rPr lang="en-US" err="1"/>
              <a:t>DeepSeek</a:t>
            </a:r>
            <a:r>
              <a:rPr lang="en-US"/>
              <a:t> baseline on a shared dataset (Section~\ref{</a:t>
            </a:r>
            <a:r>
              <a:rPr lang="en-US" err="1"/>
              <a:t>sec:results</a:t>
            </a:r>
            <a:r>
              <a:rPr lang="en-US"/>
              <a:t>}). </a:t>
            </a:r>
            <a:r>
              <a:rPr lang="en-US" err="1"/>
              <a:t>GleNN</a:t>
            </a:r>
            <a:r>
              <a:rPr lang="en-US"/>
              <a:t> achieved \</a:t>
            </a:r>
            <a:r>
              <a:rPr lang="en-US" err="1"/>
              <a:t>textbf</a:t>
            </a:r>
            <a:r>
              <a:rPr lang="en-US"/>
              <a:t>{99.41\%} re-executability and a \</a:t>
            </a:r>
            <a:r>
              <a:rPr lang="en-US" err="1"/>
              <a:t>textbf</a:t>
            </a:r>
            <a:r>
              <a:rPr lang="en-US"/>
              <a:t>{12.44\%} improvement over the baseline, demonstrating the impact of structurally grounded context on output fidelity.</a:t>
            </a:r>
          </a:p>
          <a:p>
            <a:r>
              <a:rPr lang="en-US"/>
              <a:t>    </a:t>
            </a:r>
          </a:p>
          <a:p>
            <a:r>
              <a:rPr lang="en-US"/>
              <a:t>    \item We provide a case study (Section~\ref{</a:t>
            </a:r>
            <a:r>
              <a:rPr lang="en-US" err="1"/>
              <a:t>sec:discussions</a:t>
            </a:r>
            <a:r>
              <a:rPr lang="en-US"/>
              <a:t>}) using the \</a:t>
            </a:r>
            <a:r>
              <a:rPr lang="en-US" err="1"/>
              <a:t>texttt</a:t>
            </a:r>
            <a:r>
              <a:rPr lang="en-US"/>
              <a:t>{count\_alpha\_digit} function from </a:t>
            </a:r>
            <a:r>
              <a:rPr lang="en-US" err="1"/>
              <a:t>ExeBench</a:t>
            </a:r>
            <a:r>
              <a:rPr lang="en-US"/>
              <a:t> to illustrate how structural similarity retrieval improves code generation quality. We analyze the baseline vs. </a:t>
            </a:r>
            <a:r>
              <a:rPr lang="en-US" err="1"/>
              <a:t>GleNN</a:t>
            </a:r>
            <a:r>
              <a:rPr lang="en-US"/>
              <a:t> outputs and show that the latter matches both control structure and semantic precision of the original source code.</a:t>
            </a:r>
          </a:p>
          <a:p>
            <a:r>
              <a:rPr lang="en-US"/>
              <a:t>\end{itemize}</a:t>
            </a:r>
          </a:p>
          <a:p>
            <a:endParaRPr lang="en-US"/>
          </a:p>
          <a:p>
            <a:r>
              <a:rPr lang="en-US"/>
              <a:t>The remainder of the paper is structured as follows: Section II surveys related work in static reverse engineering and RAG. Section III and IV describe our preliminary experiments. Section V outlines the final </a:t>
            </a:r>
            <a:r>
              <a:rPr lang="en-US" err="1"/>
              <a:t>GleNN</a:t>
            </a:r>
            <a:r>
              <a:rPr lang="en-US"/>
              <a:t> architecture and its components. Section VI presents the evaluation results. Section VII discusses real-world implications and concludes the work.</a:t>
            </a:r>
          </a:p>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6</a:t>
            </a:fld>
            <a:endParaRPr lang="en-US"/>
          </a:p>
        </p:txBody>
      </p:sp>
    </p:spTree>
    <p:extLst>
      <p:ext uri="{BB962C8B-B14F-4D97-AF65-F5344CB8AC3E}">
        <p14:creationId xmlns:p14="http://schemas.microsoft.com/office/powerpoint/2010/main" val="436977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"Tools like Ghidra and IDA Pro are essential in reverse engineering. But they were never built for deep semantic understanding. They rely on heuristics, pattern-matching, and fixed rules. Once you start dealing with hand-crafted malware or compiler-optimized code, their output can become unreliable, often missing key behaviors or misrepresenting logic.”</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"The idea of using LLMs for reverse engineering is new but exciting. If you think about it, decompilation is like translation—from machine code to human-readable C. However, LLMs alone often make things up. RAG helps solve that. By retrieving similar known examples and feeding them as context, we help the model stay grounded in reality."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"A CFG breaks down a function into basic blocks and the paths between them. This is crucial because even if the code changes, its structure often remains similar. By comparing CFGs, we can detect functions that 'behave' similarly even if the actual code is different."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a:solidFill>
                <a:srgbClr val="000000"/>
              </a:solidFill>
              <a:effectLst/>
            </a:endParaRPr>
          </a:p>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r>
              <a:rPr lang="en-US"/>
              <a:t>Traditional reverse engineering tools such as NSA’s Ghidra and Hex-Rays' IDA Pro are widely used to deconstruct binary programs into human-readable forms. These tools rely on a combination of pattern recognition, rule-based heuristics, and decompilation strategies to produce pseudo-C code from compiled binaries. While effective in streamlining the reverse engineering workflow, they often fall short in recovering semantic meaning, especially when analyzing optimized or obfuscated code. In such cases, human analysts must manually refine the generated output, resulting in significant time and expertise overhead.</a:t>
            </a:r>
          </a:p>
          <a:p>
            <a:endParaRPr lang="en-US"/>
          </a:p>
          <a:p>
            <a:r>
              <a:rPr lang="en-US"/>
              <a:t>\subsection{Large Language Models and RAG}</a:t>
            </a:r>
          </a:p>
          <a:p>
            <a:r>
              <a:rPr lang="en-US"/>
              <a:t>Large Language Models (LLMs) have shown promise in treating code translation tasks—such as decompilation—as a form of language translation. Projects like LLM4Decompile have demonstrated that transformer-based architectures can learn to map assembly code to C code. However, these models are susceptible to hallucinations, syntactic inconsistencies, and logical inaccuracies, particularly when lacking sufficient context.</a:t>
            </a:r>
          </a:p>
          <a:p>
            <a:r>
              <a:rPr lang="en-US"/>
              <a:t>To improve this, Retrieval-Augmented Generation (RAG) strategies have been explored in other natural language domains. RAG provides an LLM with supplementary reference material during inference, helping ground its predictions in actual examples. By adapting RAG to reverse engineering, it becomes possible to offer the model context that reflects real code behavior, potentially reducing hallucinations and improving semantic fidelity.</a:t>
            </a:r>
          </a:p>
          <a:p>
            <a:endParaRPr lang="en-US"/>
          </a:p>
          <a:p>
            <a:r>
              <a:rPr lang="en-US"/>
              <a:t>\subsection{Control Flow Graphs and Code Retrieval}</a:t>
            </a:r>
          </a:p>
          <a:p>
            <a:r>
              <a:rPr lang="en-US"/>
              <a:t>A control-flow graph (CFG) is a visual and structural representation of a program’s logic and branching behavior. CFGs help analysts and models alike understand how instructions flow from one segment to another, including conditions, loops, and jumps. GleNN leverages these CFGs as </a:t>
            </a:r>
            <a:r>
              <a:rPr lang="en-US" err="1"/>
              <a:t>queryable</a:t>
            </a:r>
            <a:r>
              <a:rPr lang="en-US"/>
              <a:t> graph data, using Neo4j as a storage and retrieval layer. Each function’s structure—nodes, edges, loops, decisions—is embedded and indexed, enabling efficient similarity-based retrieval.</a:t>
            </a:r>
          </a:p>
          <a:p>
            <a:endParaRPr lang="en-US"/>
          </a:p>
          <a:p>
            <a:r>
              <a:rPr lang="en-US"/>
              <a:t>By comparing the CFG of an unknown function to a database of known examples, GleNN identifies similar control structures and retrieves their corresponding C implementations. These C snippets serve as reference points for RAG-enhanced inference, helping guide the LLM toward more accurate code reconstruction. As shown in Fig.~\ref{</a:t>
            </a:r>
            <a:r>
              <a:rPr lang="en-US" err="1"/>
              <a:t>fig:cfg_example</a:t>
            </a:r>
            <a:r>
              <a:rPr lang="en-US"/>
              <a:t>}, even when two functions perform different tasks, similar control structures such as nested loops and conditionals can be identified and used to retrieve contextually relevant code examples.</a:t>
            </a:r>
          </a:p>
        </p:txBody>
      </p:sp>
      <p:sp>
        <p:nvSpPr>
          <p:cNvPr id="4" name="Slide Number Placeholder 3"/>
          <p:cNvSpPr>
            <a:spLocks noGrp="1"/>
          </p:cNvSpPr>
          <p:nvPr>
            <p:ph type="sldNum" sz="quarter" idx="5"/>
          </p:nvPr>
        </p:nvSpPr>
        <p:spPr/>
        <p:txBody>
          <a:bodyPr/>
          <a:lstStyle/>
          <a:p>
            <a:fld id="{833A79FF-E0EC-5143-820D-B601C86FB409}" type="slidenum">
              <a:rPr lang="en-US" smtClean="0"/>
              <a:t>7</a:t>
            </a:fld>
            <a:endParaRPr lang="en-US"/>
          </a:p>
        </p:txBody>
      </p:sp>
    </p:spTree>
    <p:extLst>
      <p:ext uri="{BB962C8B-B14F-4D97-AF65-F5344CB8AC3E}">
        <p14:creationId xmlns:p14="http://schemas.microsoft.com/office/powerpoint/2010/main" val="1717789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"In our first experiment, we used </a:t>
            </a:r>
            <a:r>
              <a:rPr lang="en-US" b="0" i="0" u="none" strike="noStrike" err="1">
                <a:solidFill>
                  <a:srgbClr val="000000"/>
                </a:solidFill>
                <a:effectLst/>
              </a:rPr>
              <a:t>CodeBERT</a:t>
            </a:r>
            <a:r>
              <a:rPr lang="en-US" b="0" i="0" u="none" strike="noStrike">
                <a:solidFill>
                  <a:srgbClr val="000000"/>
                </a:solidFill>
                <a:effectLst/>
              </a:rPr>
              <a:t> to embed functions into vector space and did similarity search.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This proved that context helps.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u="none" strike="noStrike">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 But embeddings alone couldn’t capture logic flow or branching structures. We needed more than just lexical similarity."</a:t>
            </a:r>
          </a:p>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r>
              <a:rPr lang="en-US"/>
              <a:t>In our first experiment, we conducted a preliminary investigation utilizing a vector-based approach before establishing our Neo4j graph database infrastructure. The primary goal was to assess whether integrating contextual information into a Large Language Model (LLM) through Retrieval-Augmented Generation (RAG) techniques could enhance decompilation outcomes. To achieve this, basic numeric vector embeddings were created </a:t>
            </a:r>
            <a:r>
              <a:rPr lang="en-US" err="1"/>
              <a:t>usign</a:t>
            </a:r>
            <a:r>
              <a:rPr lang="en-US"/>
              <a:t> the </a:t>
            </a:r>
            <a:r>
              <a:rPr lang="en-US" err="1"/>
              <a:t>CodeBERT</a:t>
            </a:r>
            <a:r>
              <a:rPr lang="en-US"/>
              <a:t> embedding model from initial code snippets of the </a:t>
            </a:r>
            <a:r>
              <a:rPr lang="en-US" err="1"/>
              <a:t>ExeBench</a:t>
            </a:r>
            <a:r>
              <a:rPr lang="en-US"/>
              <a:t> dataset. These embeddings were </a:t>
            </a:r>
            <a:r>
              <a:rPr lang="en-US" err="1"/>
              <a:t>mathmatical</a:t>
            </a:r>
            <a:r>
              <a:rPr lang="en-US"/>
              <a:t> representations of the semantic content and characteristics of the code snippets. These embeddings were stored using a Facebook AI Similarity Search (FAISS) index that allowed us to perform a K-Nearest </a:t>
            </a:r>
            <a:r>
              <a:rPr lang="en-US" err="1"/>
              <a:t>Neighbords</a:t>
            </a:r>
            <a:r>
              <a:rPr lang="en-US"/>
              <a:t> (KNN) search on the dataset. This method enabled a rapid and practical assessment of the potential advantages provided by contextual embedding in improving the output accuracy of the LLM model.</a:t>
            </a:r>
          </a:p>
          <a:p>
            <a:r>
              <a:rPr lang="en-US"/>
              <a:t>\subsection{Observations}</a:t>
            </a:r>
          </a:p>
          <a:p>
            <a:r>
              <a:rPr lang="en-US"/>
              <a:t>Our initial observations from this vector-based experiment were encouraging, demonstrating that even elementary contextual embeddings could significantly enhance the accuracy and relevance of outputs generated by the LLM. Qualitative evaluations indicated improvements in decompilation performance, confirming that providing contextual embeddings had tangible benefits. Nevertheless, given the simplified nature of the vector construction, we also observed notable limitations in capturing the  semantic details and details necessary for highly accurate retrieval. These limitations were particularly present in scenarios involving complex function logic or less frequently occurring code patterns, leading to some inaccuracies and incomplete contextual matches. This method would often produce results more closely related to the search provided C code rather than de-compiling the input function. </a:t>
            </a:r>
          </a:p>
          <a:p>
            <a:endParaRPr lang="en-US"/>
          </a:p>
          <a:p>
            <a:r>
              <a:rPr lang="en-US"/>
              <a:t>This preliminary vectorized pipeline experiment validated the foundational hypothesis that providing contextual embeddings improves LLM decompilation performance. The primary takeaway was the clear validation of the efficacy of RAG methodologies even with minimal structural context. Despite these successes, we recognized substantial room for improvement, specifically in enhancing the accuracy and semantic richness of embeddings. This insight highlighted the need for a more advanced embedding strategy, potentially incorporating deeper semantic representations or hybrid methodologies combining embeddings with structural graph-based approaches, to address the identified limitations and further enhance performance.</a:t>
            </a:r>
          </a:p>
        </p:txBody>
      </p:sp>
      <p:sp>
        <p:nvSpPr>
          <p:cNvPr id="4" name="Slide Number Placeholder 3"/>
          <p:cNvSpPr>
            <a:spLocks noGrp="1"/>
          </p:cNvSpPr>
          <p:nvPr>
            <p:ph type="sldNum" sz="quarter" idx="5"/>
          </p:nvPr>
        </p:nvSpPr>
        <p:spPr/>
        <p:txBody>
          <a:bodyPr/>
          <a:lstStyle/>
          <a:p>
            <a:fld id="{833A79FF-E0EC-5143-820D-B601C86FB409}" type="slidenum">
              <a:rPr lang="en-US" smtClean="0"/>
              <a:t>8</a:t>
            </a:fld>
            <a:endParaRPr lang="en-US"/>
          </a:p>
        </p:txBody>
      </p:sp>
    </p:spTree>
    <p:extLst>
      <p:ext uri="{BB962C8B-B14F-4D97-AF65-F5344CB8AC3E}">
        <p14:creationId xmlns:p14="http://schemas.microsoft.com/office/powerpoint/2010/main" val="34713495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9</a:t>
            </a:fld>
            <a:endParaRPr lang="en-US"/>
          </a:p>
        </p:txBody>
      </p:sp>
    </p:spTree>
    <p:extLst>
      <p:ext uri="{BB962C8B-B14F-4D97-AF65-F5344CB8AC3E}">
        <p14:creationId xmlns:p14="http://schemas.microsoft.com/office/powerpoint/2010/main" val="614834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"Next, we generated CFGs from source and compared their structures. But when we let the LLM generate C code from assembly and then tried to generate a CFG from that output, the hallucinated logic wrecked everything. We learned a crucial lesson: always extract CFGs directly from binaries, not model-generated guesses."</a:t>
            </a:r>
          </a:p>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r>
              <a:rPr lang="en-US"/>
              <a:t>In our second experiment, we aimed to develop and evaluate a reliable method for structurally comparing distinct functions using Control-Flow Graphs (CFGs). Recognizing CFGs as highly structured representations of program logic, we first generated CFGs directly from verified C source files utilizing GCC. Given the complexity of generating CFGs directly from object files at this stage, we established an alternative preliminary proof-of-concept approach. Specifically, we converted a known .c source file into assembly language (.s format) using GCC. Subsequently, we employed our LLM model to decompile this assembly code back into a new .c file, which served as the basis for CFG generation. This indirect approach provided an initial mechanism to assess the structural comparisons. Initially, our CFG comparisons utilized a straightforward vectorized string comparison approach, leveraging embeddings from </a:t>
            </a:r>
            <a:r>
              <a:rPr lang="en-US" err="1"/>
              <a:t>CodeBERT</a:t>
            </a:r>
            <a:r>
              <a:rPr lang="en-US"/>
              <a:t> to measure similarity.</a:t>
            </a:r>
          </a:p>
          <a:p>
            <a:r>
              <a:rPr lang="en-US"/>
              <a:t>\subsection{Observations}</a:t>
            </a:r>
          </a:p>
          <a:p>
            <a:r>
              <a:rPr lang="en-US"/>
              <a:t>The CFG-based experimental methodology allowed us to successfully perform structural comparisons between functions, confirming the viability of using CFGs for similarity assessments. However, significant challenges emerged from the initial step involving LLM-based decompilation from assembly back to C, where substantial inaccuracies and model hallucinations were introduced. These errors critically compromised the overall accuracy of the generated CFGs from the very beginning. Furthermore, we observed that our simplistic vectorized string comparison method, while efficient, was notably inadequate in accurately representing true structural and semantic similarities between functions. The database demonstrated good retrieval accuracy for known and previously indexed code snippets, but its performance markedly deteriorated when encountering functions or patterns not explicitly represented within our reference dataset.</a:t>
            </a:r>
          </a:p>
          <a:p>
            <a:endParaRPr lang="en-US"/>
          </a:p>
          <a:p>
            <a:r>
              <a:rPr lang="en-US"/>
              <a:t>This experiment emphasized both the potential utility and inherent limitations of CFG-based approaches, especially when CFG generation methods are indirect and reliant on intermediate, error-prone steps such as LLM-based decompilation. We clearly identified the critical need to avoid or minimize reliance on indirect generation methods that inherently introduce significant inaccuracies. Additionally, the inadequacy of basic string-based vector comparisons highlighted the necessity for more advanced structural similarity measures to accurately capture the complexities inherent in code structure. These findings underscored the importance of developing direct, accurate, and reliable methods for CFG generation and emphasized the value of robust structural comparison metrics.</a:t>
            </a:r>
          </a:p>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10</a:t>
            </a:fld>
            <a:endParaRPr lang="en-US"/>
          </a:p>
        </p:txBody>
      </p:sp>
    </p:spTree>
    <p:extLst>
      <p:ext uri="{BB962C8B-B14F-4D97-AF65-F5344CB8AC3E}">
        <p14:creationId xmlns:p14="http://schemas.microsoft.com/office/powerpoint/2010/main" val="1490718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11</a:t>
            </a:fld>
            <a:endParaRPr lang="en-US"/>
          </a:p>
        </p:txBody>
      </p:sp>
    </p:spTree>
    <p:extLst>
      <p:ext uri="{BB962C8B-B14F-4D97-AF65-F5344CB8AC3E}">
        <p14:creationId xmlns:p14="http://schemas.microsoft.com/office/powerpoint/2010/main" val="8711170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a:solidFill>
                  <a:srgbClr val="000000"/>
                </a:solidFill>
                <a:effectLst/>
              </a:rPr>
              <a:t>"Here’s our final pipeline. We start with compiled object files, extract CFGs using Radare2, and store everything in Neo4j. We then search using both vector and GED-based comparisons and feed the best matches into the LLM. This creates a </a:t>
            </a:r>
            <a:r>
              <a:rPr lang="en-US" b="0" i="0" u="none" strike="noStrike" err="1">
                <a:solidFill>
                  <a:srgbClr val="000000"/>
                </a:solidFill>
                <a:effectLst/>
              </a:rPr>
              <a:t>decompiler</a:t>
            </a:r>
            <a:r>
              <a:rPr lang="en-US" b="0" i="0" u="none" strike="noStrike">
                <a:solidFill>
                  <a:srgbClr val="000000"/>
                </a:solidFill>
                <a:effectLst/>
              </a:rPr>
              <a:t> that actually understands what it's looking at."</a:t>
            </a:r>
          </a:p>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r>
              <a:rPr lang="en-US"/>
              <a:t>The insights and experiences gained from these preliminary experiments greatly influenced the design and implementation of our final </a:t>
            </a:r>
            <a:r>
              <a:rPr lang="en-US" err="1"/>
              <a:t>GleNN</a:t>
            </a:r>
            <a:r>
              <a:rPr lang="en-US"/>
              <a:t> pipeline. The initial vectorized experiment highlighted the fundamental advantage of contextual embedding retrieval methods and validated the core concept behind RAG. Conversely, the CFG-focused experiment underscored the importance of accurate and direct CFG representations for achieving meaningful comparisons and emphasized the limitations of indirect CFG generation and overly simplistic comparison methods. Consequently, our final pipeline prioritized robust and accurate CFG extraction techniques directly from binaries, coupled with advanced structural retrieval mechanisms to improve accuracy significantly. Our future directions include refining direct CFG generation methods, further enhancing semantic and structural embedding quality, and optimizing the retrieval process through hybrid methodologies. These strategies aim to effectively balance computational efficiency with high accuracy in structural and semantic code analysis.</a:t>
            </a:r>
          </a:p>
          <a:p>
            <a:r>
              <a:rPr lang="en-US" err="1"/>
              <a:t>GleNN</a:t>
            </a:r>
            <a:r>
              <a:rPr lang="en-US"/>
              <a:t> is implemented as a modular pipeline that integrates binary analysis, graph-based retrieval, and LLM inference. Its goal is to improve decompilation accuracy by supplementing a language model’s predictions with real-world C code retrieved from a similarity-based graph database. The full process consists of five stages: source compilation and disassembly, CFG generation, structural embedding, retrieval-based filtering, and final LLM-guided decompilation.</a:t>
            </a:r>
          </a:p>
          <a:p>
            <a:endParaRPr lang="en-US"/>
          </a:p>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12</a:t>
            </a:fld>
            <a:endParaRPr lang="en-US"/>
          </a:p>
        </p:txBody>
      </p:sp>
    </p:spTree>
    <p:extLst>
      <p:ext uri="{BB962C8B-B14F-4D97-AF65-F5344CB8AC3E}">
        <p14:creationId xmlns:p14="http://schemas.microsoft.com/office/powerpoint/2010/main" val="932903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"Our Neo4j graph database is the heart of our retrieval system. Each node is a function, and we track detailed structure information like blocks, edges, loops, and decisions. We also store the original C code, DOT graph, and assembly for reference."</a:t>
            </a:r>
          </a:p>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r>
              <a:rPr lang="en-US"/>
              <a:t>\subsection{Binary Analysis and CFG Generation}</a:t>
            </a:r>
          </a:p>
          <a:p>
            <a:endParaRPr lang="en-US"/>
          </a:p>
          <a:p>
            <a:r>
              <a:rPr lang="en-US"/>
              <a:t>The pipeline begins with a dataset of source-level C code extracted from the </a:t>
            </a:r>
            <a:r>
              <a:rPr lang="en-US" err="1"/>
              <a:t>ExeBench</a:t>
            </a:r>
            <a:r>
              <a:rPr lang="en-US"/>
              <a:t> Train Real Compile split, totaling over 25,000 unique functions. These C files were selected because they compile cleanly and cover a broad range of function types, offering a strong foundation for CFG analysis. Initially, we compiled each C file using GCC with the \</a:t>
            </a:r>
            <a:r>
              <a:rPr lang="en-US" err="1"/>
              <a:t>texttt</a:t>
            </a:r>
            <a:r>
              <a:rPr lang="en-US"/>
              <a:t>{-</a:t>
            </a:r>
            <a:r>
              <a:rPr lang="en-US" err="1"/>
              <a:t>fdump</a:t>
            </a:r>
            <a:r>
              <a:rPr lang="en-US"/>
              <a:t>-tree-</a:t>
            </a:r>
            <a:r>
              <a:rPr lang="en-US" err="1"/>
              <a:t>cfg</a:t>
            </a:r>
            <a:r>
              <a:rPr lang="en-US"/>
              <a:t>-graph} flag to generate its control-flow graph (CFG) representation. Each GCC-generated CFG contains labeled basic blocks, control edges, loop indicators, and decision branches, reflecting the logical structure of the original function. These CFGs were intended to populate our Neo4j database as the reference graph set for later retrieval.</a:t>
            </a:r>
          </a:p>
          <a:p>
            <a:endParaRPr lang="en-US"/>
          </a:p>
          <a:p>
            <a:r>
              <a:rPr lang="en-US"/>
              <a:t>However, as our research progressed and we began developing the retrieval and query side of the pipeline, several issues emerged that challenged this approach. In early iterations, our pipeline attempted to reverse-engineer unknown binaries by having the LLM first generate a C version of the input assembly. We would then compile that generated C code using GCC to produce a new CFG, with the expectation that this CFG could then be compared structurally to those stored in the database.</a:t>
            </a:r>
          </a:p>
          <a:p>
            <a:endParaRPr lang="en-US"/>
          </a:p>
          <a:p>
            <a:r>
              <a:rPr lang="en-US"/>
              <a:t>This strategy introduced significant sources of error. First, the LLM-generated C code frequently included hallucinations, such as extraneous logic blocks, incomplete functions, verbose syntax, or unconventional formatting. These errors led to compiler failures or malformed CFGs, where essential control paths were either missing or split unexpectedly. Even in cases where compilation succeeded, the resulting CFGs often misrepresented the structure of the original function due to semantic deviations introduced by the model.</a:t>
            </a:r>
          </a:p>
          <a:p>
            <a:endParaRPr lang="en-US"/>
          </a:p>
          <a:p>
            <a:r>
              <a:rPr lang="en-US"/>
              <a:t>As we investigated further, a second and more subtle problem became evident: even when C code was valid and compiled cleanly, the GCC-generated CFGs were structurally inconsistent with those derived from Radare2, the tool we were using to extract CFGs from actual binary object files. Specifically, GCC would frequently split return statements into multiple basic blocks, while Radare2 would merge them into a single block. These small but significant structural mismatches led to differences in node and edge counts, which distorted our similarity metrics and reduced the reliability of retrieval.</a:t>
            </a:r>
          </a:p>
          <a:p>
            <a:endParaRPr lang="en-US"/>
          </a:p>
          <a:p>
            <a:r>
              <a:rPr lang="en-US"/>
              <a:t>These issues compelled us to reevaluate our approach. To reduce model-induced error and eliminate tool-specific variance, we made a key architectural change: all control-flow graphs—both for the reference dataset and for input queries—would be generated exclusively using Radare2. Rather than using C code to generate CFGs via GCC, we instead compiled the source code into object files and used Radare2 to extract CFGs directly from these binaries. This ensured that every function, whether part of the training corpus or a test input, underwent identical processing with consistent CFG formatting and semantics.</a:t>
            </a:r>
          </a:p>
          <a:p>
            <a:endParaRPr lang="en-US"/>
          </a:p>
          <a:p>
            <a:r>
              <a:rPr lang="en-US"/>
              <a:t>By standardizing on Radare2 as the sole CFG extraction method, we eliminated a major source of inconsistency and aligned our entire dataset under a unified structural representation. This shift dramatically improved retrieval accuracy and ensured that comparisons using Euclidean distance and graph edit distance reflected genuine logical similarity rather than differences in how CFGs were formed. In effect, our lesson learned—that tool variance can distort structural similarity—directly shaped this methodological refinement and became a cornerstone of our final pipeline design.</a:t>
            </a:r>
          </a:p>
          <a:p>
            <a:endParaRPr lang="en-US"/>
          </a:p>
          <a:p>
            <a:r>
              <a:rPr lang="en-US"/>
              <a:t>\subsection{Graph Database Construction} All reference CFGs are stored in a Neo4j graph database. Neo4j was selected due to its suitability for graph-based similarity matching. Each function node includes embedded structural metrics such as the number of basic blocks, edges, loops, and decisions. These properties allow for fast filtering and pre-selection of candidate functions before deeper graph comparison occurs.</a:t>
            </a:r>
          </a:p>
          <a:p>
            <a:endParaRPr lang="en-US"/>
          </a:p>
          <a:p>
            <a:r>
              <a:rPr lang="en-US"/>
              <a:t>Each function’s control flow is stored using a node-edge format that reflects the CFG. Relationships between basic blocks are marked using \</a:t>
            </a:r>
            <a:r>
              <a:rPr lang="en-US" err="1"/>
              <a:t>texttt</a:t>
            </a:r>
            <a:r>
              <a:rPr lang="en-US"/>
              <a:t>{NEXT} edges, while function-level metadata includes associated C code, assembly, and source file names. This structured representation allows both structural and semantic retrieval to be performed efficiently. This structure was iteratively refined based on feedback from early visualization and query testing, which revealed overly dense or cluttered graphs when edges were overly connected. Cleanup scripts and unique function identifiers were later introduced to ensure integrity and reduce noise. A visual example of this structure can be seen in Fig.~\ref{fig:neo4j-function}, which shows a parsed function with labeled basic blocks and their relationships.</a:t>
            </a:r>
          </a:p>
        </p:txBody>
      </p:sp>
      <p:sp>
        <p:nvSpPr>
          <p:cNvPr id="4" name="Slide Number Placeholder 3"/>
          <p:cNvSpPr>
            <a:spLocks noGrp="1"/>
          </p:cNvSpPr>
          <p:nvPr>
            <p:ph type="sldNum" sz="quarter" idx="5"/>
          </p:nvPr>
        </p:nvSpPr>
        <p:spPr/>
        <p:txBody>
          <a:bodyPr/>
          <a:lstStyle/>
          <a:p>
            <a:fld id="{833A79FF-E0EC-5143-820D-B601C86FB409}" type="slidenum">
              <a:rPr lang="en-US" smtClean="0"/>
              <a:t>13</a:t>
            </a:fld>
            <a:endParaRPr lang="en-US"/>
          </a:p>
        </p:txBody>
      </p:sp>
    </p:spTree>
    <p:extLst>
      <p:ext uri="{BB962C8B-B14F-4D97-AF65-F5344CB8AC3E}">
        <p14:creationId xmlns:p14="http://schemas.microsoft.com/office/powerpoint/2010/main" val="609964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"The first pass quickly narrows down candidates by comparing structure stats. Then, we do a deeper comparison using GED, which checks how many edits are needed to make two graphs match. This combo gives us both speed and accuracy."</a:t>
            </a:r>
          </a:p>
          <a:p>
            <a:endParaRPr lang="en-US"/>
          </a:p>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r>
              <a:rPr lang="en-US"/>
              <a:t>\subsection{Two-Pass Retrieval Mechanism} To balance performance and accuracy, GleNN uses a two-pass retrieval method:</a:t>
            </a:r>
          </a:p>
          <a:p>
            <a:endParaRPr lang="en-US"/>
          </a:p>
          <a:p>
            <a:r>
              <a:rPr lang="en-US"/>
              <a:t>\</a:t>
            </a:r>
            <a:r>
              <a:rPr lang="en-US" err="1"/>
              <a:t>textbf</a:t>
            </a:r>
            <a:r>
              <a:rPr lang="en-US"/>
              <a:t>{Pass 1 – Feature-Based Filtering:}</a:t>
            </a:r>
          </a:p>
          <a:p>
            <a:r>
              <a:rPr lang="en-US"/>
              <a:t>The system computes a Euclidean distance between the input function's structural vector and each function in the Neo4j database. This vector includes block count, edge count, loop count, and decision count. The closest candidates by feature distance are selected for deeper comparison. In order to preserve computations in the second pass, this pass will only return \</a:t>
            </a:r>
            <a:r>
              <a:rPr lang="en-US" err="1"/>
              <a:t>textit</a:t>
            </a:r>
            <a:r>
              <a:rPr lang="en-US"/>
              <a:t>{N} number of results, which is defined when calling the \</a:t>
            </a:r>
            <a:r>
              <a:rPr lang="en-US" err="1"/>
              <a:t>texttt</a:t>
            </a:r>
            <a:r>
              <a:rPr lang="en-US"/>
              <a:t>{GED\_search} function. \</a:t>
            </a:r>
            <a:r>
              <a:rPr lang="en-US" err="1"/>
              <a:t>textit</a:t>
            </a:r>
            <a:r>
              <a:rPr lang="en-US"/>
              <a:t>{N} can be exceeded only when a perfect distance of 0 is identified, in which case all functions with distance 0 are returned and remaining slots are filled as needed.</a:t>
            </a:r>
          </a:p>
          <a:p>
            <a:endParaRPr lang="en-US"/>
          </a:p>
          <a:p>
            <a:r>
              <a:rPr lang="en-US"/>
              <a:t>\</a:t>
            </a:r>
            <a:r>
              <a:rPr lang="en-US" err="1"/>
              <a:t>textbf</a:t>
            </a:r>
            <a:r>
              <a:rPr lang="en-US"/>
              <a:t>{Pass 2 – Graph Edit Distance (GED):}</a:t>
            </a:r>
          </a:p>
          <a:p>
            <a:r>
              <a:rPr lang="en-US"/>
              <a:t>Using </a:t>
            </a:r>
            <a:r>
              <a:rPr lang="en-US" err="1"/>
              <a:t>NetworkX</a:t>
            </a:r>
            <a:r>
              <a:rPr lang="en-US"/>
              <a:t>, the graph edit distance is calculated between the normalized CFG of the input and each candidate. GED measures how many edits (node additions, deletions, edge changes) are needed to transform one graph into another. The top \</a:t>
            </a:r>
            <a:r>
              <a:rPr lang="en-US" err="1"/>
              <a:t>textit</a:t>
            </a:r>
            <a:r>
              <a:rPr lang="en-US"/>
              <a:t>{N} CFGs with the most similarity are selected based on this score. Again, \</a:t>
            </a:r>
            <a:r>
              <a:rPr lang="en-US" err="1"/>
              <a:t>textit</a:t>
            </a:r>
            <a:r>
              <a:rPr lang="en-US"/>
              <a:t>{N} can be exceeded if multiple candidates have a perfect GED score of 0, ensuring that all structurally identical functions are retained. As illustrated in Fig.~\ref{</a:t>
            </a:r>
            <a:r>
              <a:rPr lang="en-US" err="1"/>
              <a:t>fig:cfg-comparison</a:t>
            </a:r>
            <a:r>
              <a:rPr lang="en-US"/>
              <a:t>}, our system successfully matches input functions to structurally identical entries from the Neo4j database, preserving key CFG features.</a:t>
            </a:r>
          </a:p>
          <a:p>
            <a:endParaRPr lang="en-US"/>
          </a:p>
          <a:p>
            <a:r>
              <a:rPr lang="en-US"/>
              <a:t>This two-pass architecture was shaped by performance bottlenecks observed during testing. Originally, GED was applied across the entire dataset, which proved prohibitively slow. The introduction of Pass 1 allowed us to prune irrelevant candidates early and reduce runtime from hours to minutes in large-scale batch processing. Fig.~\ref{</a:t>
            </a:r>
            <a:r>
              <a:rPr lang="en-US" err="1"/>
              <a:t>fig:two-pass</a:t>
            </a:r>
            <a:r>
              <a:rPr lang="en-US"/>
              <a:t>} summarizes both phases of the retrieval process, contrasting high-level structural filtering in the first pass with detailed graph edit distance calculations in the second.</a:t>
            </a:r>
          </a:p>
          <a:p>
            <a:endParaRPr lang="en-US"/>
          </a:p>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14</a:t>
            </a:fld>
            <a:endParaRPr lang="en-US"/>
          </a:p>
        </p:txBody>
      </p:sp>
    </p:spTree>
    <p:extLst>
      <p:ext uri="{BB962C8B-B14F-4D97-AF65-F5344CB8AC3E}">
        <p14:creationId xmlns:p14="http://schemas.microsoft.com/office/powerpoint/2010/main" val="1215280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7B44E-D841-9CE4-6406-967A801B06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E8EF1-011D-7859-E396-449FF1C57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E3ECB-8F6E-6B93-3BF6-E18987E3E161}"/>
              </a:ext>
            </a:extLst>
          </p:cNvPr>
          <p:cNvSpPr>
            <a:spLocks noGrp="1"/>
          </p:cNvSpPr>
          <p:nvPr>
            <p:ph type="body" idx="1"/>
          </p:nvPr>
        </p:nvSpPr>
        <p:spPr/>
        <p:txBody>
          <a:bodyPr/>
          <a:lstStyle/>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r>
              <a:rPr lang="en-US"/>
              <a:t>\subsection{RAG-Enhanced LLM Decompilation} Once similar functions are retrieved, their original C code is extracted and used to construct a prompt for the LLM. </a:t>
            </a:r>
            <a:r>
              <a:rPr lang="en-US" err="1"/>
              <a:t>GleNN</a:t>
            </a:r>
            <a:r>
              <a:rPr lang="en-US"/>
              <a:t> uses the </a:t>
            </a:r>
            <a:r>
              <a:rPr lang="en-US" err="1"/>
              <a:t>DeepSeek</a:t>
            </a:r>
            <a:r>
              <a:rPr lang="en-US"/>
              <a:t> R1 Distill Qwen-14B model to perform the final decompilation. The prompt includes the raw disassembled assembly code and selected reference C functions as structural guides.</a:t>
            </a:r>
          </a:p>
          <a:p>
            <a:endParaRPr lang="en-US"/>
          </a:p>
          <a:p>
            <a:r>
              <a:rPr lang="en-US"/>
              <a:t>To ensure a clean output, the model is instructed to return only the C code. However, early results often included verbose explanations or formatting inconsistencies that broke our post-processing pipeline. This prompted multiple rounds of refinement in how prompts were constructed. We introduced strict system-level instructions, discouraged extra commentary, and used explicit delimiters (e.g., triple backticks) to segment output for reliable parsing.</a:t>
            </a:r>
          </a:p>
          <a:p>
            <a:endParaRPr lang="en-US"/>
          </a:p>
          <a:p>
            <a:r>
              <a:rPr lang="en-US"/>
              <a:t>Each generated file is then evaluated through a two-step verification process: compilation using GCC and dynamic re-execution testing. These validation steps directly measure the utility of the output and have revealed that the presence of RAG context improves re-executability even when the base model remains unchanged.</a:t>
            </a:r>
          </a:p>
        </p:txBody>
      </p:sp>
      <p:sp>
        <p:nvSpPr>
          <p:cNvPr id="4" name="Slide Number Placeholder 3">
            <a:extLst>
              <a:ext uri="{FF2B5EF4-FFF2-40B4-BE49-F238E27FC236}">
                <a16:creationId xmlns:a16="http://schemas.microsoft.com/office/drawing/2014/main" id="{465A66FB-0DFB-EEF0-A41F-E182A2FD3D62}"/>
              </a:ext>
            </a:extLst>
          </p:cNvPr>
          <p:cNvSpPr>
            <a:spLocks noGrp="1"/>
          </p:cNvSpPr>
          <p:nvPr>
            <p:ph type="sldNum" sz="quarter" idx="5"/>
          </p:nvPr>
        </p:nvSpPr>
        <p:spPr/>
        <p:txBody>
          <a:bodyPr/>
          <a:lstStyle/>
          <a:p>
            <a:fld id="{833A79FF-E0EC-5143-820D-B601C86FB409}" type="slidenum">
              <a:rPr lang="en-US" smtClean="0"/>
              <a:t>15</a:t>
            </a:fld>
            <a:endParaRPr lang="en-US"/>
          </a:p>
        </p:txBody>
      </p:sp>
    </p:spTree>
    <p:extLst>
      <p:ext uri="{BB962C8B-B14F-4D97-AF65-F5344CB8AC3E}">
        <p14:creationId xmlns:p14="http://schemas.microsoft.com/office/powerpoint/2010/main" val="8103166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"Here are the results. GLeNN beat both LLM4Decompile and DeepSeek baseline. The RAG context made a 12.44% improvement in re-executability. That means the code it produced didn’t just compile—it ran as expected."</a:t>
            </a:r>
          </a:p>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r>
              <a:rPr lang="en-US"/>
              <a:t>Experiments were conducted across three configurations: LLM4Decompile (22B), the </a:t>
            </a:r>
            <a:r>
              <a:rPr lang="en-US" err="1"/>
              <a:t>DeepSeek</a:t>
            </a:r>
            <a:r>
              <a:rPr lang="en-US"/>
              <a:t> baseline model without retrieval, and </a:t>
            </a:r>
            <a:r>
              <a:rPr lang="en-US" err="1"/>
              <a:t>GleNN’s</a:t>
            </a:r>
            <a:r>
              <a:rPr lang="en-US"/>
              <a:t> RAG-enhanced pipeline. Each configuration processed a shared dataset of compiled functions.</a:t>
            </a:r>
          </a:p>
          <a:p>
            <a:endParaRPr lang="en-US"/>
          </a:p>
          <a:p>
            <a:r>
              <a:rPr lang="en-US"/>
              <a:t>To assess performance, outputs were evaluated using two metrics:</a:t>
            </a:r>
          </a:p>
          <a:p>
            <a:r>
              <a:rPr lang="en-US"/>
              <a:t>\begin{itemize}</a:t>
            </a:r>
          </a:p>
          <a:p>
            <a:r>
              <a:rPr lang="en-US"/>
              <a:t>    \item \</a:t>
            </a:r>
            <a:r>
              <a:rPr lang="en-US" err="1"/>
              <a:t>textbf</a:t>
            </a:r>
            <a:r>
              <a:rPr lang="en-US"/>
              <a:t>{Compile-ability:} Whether the generated code compiled successfully.</a:t>
            </a:r>
          </a:p>
          <a:p>
            <a:r>
              <a:rPr lang="en-US"/>
              <a:t>    \item \</a:t>
            </a:r>
            <a:r>
              <a:rPr lang="en-US" err="1"/>
              <a:t>textbf</a:t>
            </a:r>
            <a:r>
              <a:rPr lang="en-US"/>
              <a:t>{Re-executability:} Whether the resulting binaries executed without runtime errors.</a:t>
            </a:r>
          </a:p>
          <a:p>
            <a:r>
              <a:rPr lang="en-US"/>
              <a:t>\end{itemize}</a:t>
            </a:r>
          </a:p>
          <a:p>
            <a:endParaRPr lang="en-US"/>
          </a:p>
          <a:p>
            <a:r>
              <a:rPr lang="en-US"/>
              <a:t>These results demonstrate that the </a:t>
            </a:r>
            <a:r>
              <a:rPr lang="en-US" err="1"/>
              <a:t>DeepSeek</a:t>
            </a:r>
            <a:r>
              <a:rPr lang="en-US"/>
              <a:t> baseline model alone substantially outperformed LLM4Decompile in compile-ability. However, when RAG was introduced, </a:t>
            </a:r>
            <a:r>
              <a:rPr lang="en-US" err="1"/>
              <a:t>GleNN’s</a:t>
            </a:r>
            <a:r>
              <a:rPr lang="en-US"/>
              <a:t> pipeline further improved compile success and re-execution performance.</a:t>
            </a:r>
          </a:p>
          <a:p>
            <a:r>
              <a:rPr lang="en-US"/>
              <a:t>To control for the non-determinism of LLMs, each configuration was run across three iterations. Resulting C code files were collected, compiled, and executed using a standardized batch validation script. Any compilation errors or runtime faults were logged for analysis.</a:t>
            </a:r>
          </a:p>
          <a:p>
            <a:r>
              <a:rPr lang="en-US"/>
              <a:t>Notably, the addition of RAG contributed a 12.44\% improvement in re-executability over the LLM baseline, indicating that contextual retrieval helps reduce hallucinated logic and incorrect structure. The compile-ability gain over LLM4Decompile and over the baseline also supports the conclusion that structural alignment improves syntactic precision.</a:t>
            </a:r>
          </a:p>
        </p:txBody>
      </p:sp>
      <p:sp>
        <p:nvSpPr>
          <p:cNvPr id="4" name="Slide Number Placeholder 3"/>
          <p:cNvSpPr>
            <a:spLocks noGrp="1"/>
          </p:cNvSpPr>
          <p:nvPr>
            <p:ph type="sldNum" sz="quarter" idx="5"/>
          </p:nvPr>
        </p:nvSpPr>
        <p:spPr/>
        <p:txBody>
          <a:bodyPr/>
          <a:lstStyle/>
          <a:p>
            <a:fld id="{833A79FF-E0EC-5143-820D-B601C86FB409}" type="slidenum">
              <a:rPr lang="en-US" smtClean="0"/>
              <a:t>16</a:t>
            </a:fld>
            <a:endParaRPr lang="en-US"/>
          </a:p>
        </p:txBody>
      </p:sp>
    </p:spTree>
    <p:extLst>
      <p:ext uri="{BB962C8B-B14F-4D97-AF65-F5344CB8AC3E}">
        <p14:creationId xmlns:p14="http://schemas.microsoft.com/office/powerpoint/2010/main" val="85253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17</a:t>
            </a:fld>
            <a:endParaRPr lang="en-US"/>
          </a:p>
        </p:txBody>
      </p:sp>
    </p:spTree>
    <p:extLst>
      <p:ext uri="{BB962C8B-B14F-4D97-AF65-F5344CB8AC3E}">
        <p14:creationId xmlns:p14="http://schemas.microsoft.com/office/powerpoint/2010/main" val="36492126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18</a:t>
            </a:fld>
            <a:endParaRPr lang="en-US"/>
          </a:p>
        </p:txBody>
      </p:sp>
    </p:spTree>
    <p:extLst>
      <p:ext uri="{BB962C8B-B14F-4D97-AF65-F5344CB8AC3E}">
        <p14:creationId xmlns:p14="http://schemas.microsoft.com/office/powerpoint/2010/main" val="3255241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AC7AA-A805-5263-1A28-90222A023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D7FD0-552F-D2F8-30F3-816894972A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40077A-31F2-1A79-D15A-B994CDAD9080}"/>
              </a:ext>
            </a:extLst>
          </p:cNvPr>
          <p:cNvSpPr>
            <a:spLocks noGrp="1"/>
          </p:cNvSpPr>
          <p:nvPr>
            <p:ph type="body" idx="1"/>
          </p:nvPr>
        </p:nvSpPr>
        <p:spPr/>
        <p:txBody>
          <a:bodyPr/>
          <a:lstStyle/>
          <a:p>
            <a:pPr>
              <a:defRPr/>
            </a:pPr>
            <a:r>
              <a:rPr lang="en-US"/>
              <a:t>Good morning or afternoon, this video is going to be a walkthrough of the process and performance of the GLENN pipeline. The GLENN pipeline is a static decompilation tool that is capable of taking input </a:t>
            </a:r>
            <a:r>
              <a:rPr lang="en-US" err="1"/>
              <a:t>exectuable</a:t>
            </a:r>
            <a:r>
              <a:rPr lang="en-US"/>
              <a:t> binary files and returning human readable high level C code.</a:t>
            </a:r>
          </a:p>
          <a:p>
            <a:pPr>
              <a:defRPr/>
            </a:pPr>
            <a:br>
              <a:rPr lang="en-US">
                <a:cs typeface="+mn-lt"/>
              </a:rPr>
            </a:br>
            <a:r>
              <a:rPr lang="en-US"/>
              <a:t>This demo is going to follow along using this example C code.</a:t>
            </a:r>
          </a:p>
          <a:p>
            <a:pPr>
              <a:defRPr/>
            </a:pPr>
            <a:r>
              <a:rPr lang="en-US"/>
              <a:t>[Display </a:t>
            </a:r>
            <a:r>
              <a:rPr lang="en-US" err="1"/>
              <a:t>count_alpha_digit.c</a:t>
            </a:r>
            <a:r>
              <a:rPr lang="en-US"/>
              <a:t> code]</a:t>
            </a:r>
          </a:p>
          <a:p>
            <a:pPr>
              <a:defRPr/>
            </a:pPr>
            <a:endParaRPr lang="en-US"/>
          </a:p>
          <a:p>
            <a:pPr>
              <a:defRPr/>
            </a:pPr>
            <a:endParaRPr lang="en-US"/>
          </a:p>
          <a:p>
            <a:pPr>
              <a:defRPr/>
            </a:pPr>
            <a:r>
              <a:rPr lang="en-US"/>
              <a:t>This code is fairly simple but there are 3 key areas that I want to highlight and focus on. </a:t>
            </a:r>
          </a:p>
          <a:p>
            <a:pPr>
              <a:defRPr/>
            </a:pPr>
            <a:endParaRPr lang="en-US"/>
          </a:p>
          <a:p>
            <a:pPr>
              <a:defRPr/>
            </a:pPr>
            <a:r>
              <a:rPr lang="en-US"/>
              <a:t>The first is the use of two for loops to iterate over a passed in string. These loops are bound by another argument, the length, to control the stop position dynamically.</a:t>
            </a:r>
          </a:p>
          <a:p>
            <a:pPr>
              <a:defRPr/>
            </a:pPr>
            <a:r>
              <a:rPr lang="en-US"/>
              <a:t>The second is the decision structure within the program. The first for loop checks if the current character is a capital 'A' and the second for loop checks if the character is a '0'.</a:t>
            </a:r>
          </a:p>
          <a:p>
            <a:pPr>
              <a:defRPr/>
            </a:pPr>
            <a:r>
              <a:rPr lang="en-US"/>
              <a:t>The third key element is the overall structure and design of the program. This includes the two specific arguments, the local variable, and the return statement of the program.</a:t>
            </a:r>
            <a:br>
              <a:rPr lang="en-US">
                <a:cs typeface="+mn-lt"/>
              </a:rPr>
            </a:br>
            <a:br>
              <a:rPr lang="en-US">
                <a:cs typeface="+mn-lt"/>
              </a:rPr>
            </a:br>
            <a:r>
              <a:rPr lang="en-US"/>
              <a:t>As we developed our pipeline the ability to accurately recreate the input functions logic and structure was the metric of performance. </a:t>
            </a:r>
          </a:p>
          <a:p>
            <a:pPr>
              <a:defRPr/>
            </a:pPr>
            <a:endParaRPr lang="en-US"/>
          </a:p>
          <a:p>
            <a:pPr>
              <a:defRPr/>
            </a:pPr>
            <a:r>
              <a:rPr lang="en-US"/>
              <a:t>[Close C code]</a:t>
            </a:r>
          </a:p>
          <a:p>
            <a:pPr>
              <a:defRPr/>
            </a:pPr>
            <a:r>
              <a:rPr lang="en-US"/>
              <a:t>[Display terminal with directory structure][TMUX Terminal]</a:t>
            </a:r>
          </a:p>
          <a:p>
            <a:pPr>
              <a:defRPr/>
            </a:pPr>
            <a:endParaRPr lang="en-US"/>
          </a:p>
          <a:p>
            <a:pPr>
              <a:defRPr/>
            </a:pPr>
            <a:r>
              <a:rPr lang="en-US"/>
              <a:t>On our experiment environment </a:t>
            </a:r>
            <a:r>
              <a:rPr lang="en-US" err="1"/>
              <a:t>ive</a:t>
            </a:r>
            <a:r>
              <a:rPr lang="en-US"/>
              <a:t> prepared a couple files. </a:t>
            </a:r>
          </a:p>
          <a:p>
            <a:pPr>
              <a:defRPr/>
            </a:pPr>
            <a:r>
              <a:rPr lang="en-US"/>
              <a:t>The first is the C code that we just reviewed, </a:t>
            </a:r>
            <a:r>
              <a:rPr lang="en-US" err="1"/>
              <a:t>count_alpha_digit</a:t>
            </a:r>
            <a:endParaRPr lang="en-US"/>
          </a:p>
          <a:p>
            <a:pPr>
              <a:defRPr/>
            </a:pPr>
            <a:r>
              <a:rPr lang="en-US"/>
              <a:t>The second file, is the compiled binary program </a:t>
            </a:r>
            <a:r>
              <a:rPr lang="en-US" err="1"/>
              <a:t>count_alpha_digit.o</a:t>
            </a:r>
            <a:endParaRPr lang="en-US"/>
          </a:p>
          <a:p>
            <a:pPr>
              <a:defRPr/>
            </a:pPr>
            <a:r>
              <a:rPr lang="en-US"/>
              <a:t>And then two directories. The first one, temp, is used to store the inner process functions and files the pipeline creates. These are non-essential functions and can be cleared after running. </a:t>
            </a:r>
          </a:p>
          <a:p>
            <a:pPr>
              <a:defRPr/>
            </a:pPr>
            <a:r>
              <a:rPr lang="en-US"/>
              <a:t>The second directory will store our output code separately to ovoid overwriting files and to save the result of the pipeline.</a:t>
            </a:r>
          </a:p>
          <a:p>
            <a:pPr>
              <a:defRPr/>
            </a:pPr>
            <a:endParaRPr lang="en-US"/>
          </a:p>
          <a:p>
            <a:pPr>
              <a:defRPr/>
            </a:pPr>
            <a:r>
              <a:rPr lang="en-US"/>
              <a:t>[clear terminal]</a:t>
            </a:r>
          </a:p>
          <a:p>
            <a:pPr>
              <a:defRPr/>
            </a:pPr>
            <a:r>
              <a:rPr lang="en-US"/>
              <a:t>I am going to initiate the pipeline and pass in the  file path to the object file. Currently, the pipeline operates as a terminal utility with directory structures and </a:t>
            </a:r>
            <a:r>
              <a:rPr lang="en-US" err="1"/>
              <a:t>filepaths</a:t>
            </a:r>
            <a:r>
              <a:rPr lang="en-US"/>
              <a:t> stored locally or used as inputs.</a:t>
            </a:r>
          </a:p>
          <a:p>
            <a:pPr>
              <a:defRPr/>
            </a:pPr>
            <a:r>
              <a:rPr lang="en-US"/>
              <a:t>The pipeline takes a couple minutes to complete, so as it is processing I will continue to break down the steps that it performs. </a:t>
            </a:r>
          </a:p>
          <a:p>
            <a:pPr>
              <a:defRPr/>
            </a:pPr>
            <a:endParaRPr lang="en-US"/>
          </a:p>
          <a:p>
            <a:pPr>
              <a:defRPr/>
            </a:pPr>
            <a:r>
              <a:rPr lang="en-US"/>
              <a:t>[Split terminal vertically][Continue on the right side of terminal]</a:t>
            </a:r>
          </a:p>
          <a:p>
            <a:pPr>
              <a:defRPr/>
            </a:pPr>
            <a:r>
              <a:rPr lang="en-US"/>
              <a:t>[Display files in directory to show files in temp]</a:t>
            </a:r>
          </a:p>
          <a:p>
            <a:pPr>
              <a:defRPr/>
            </a:pPr>
            <a:endParaRPr lang="en-US"/>
          </a:p>
          <a:p>
            <a:pPr>
              <a:defRPr/>
            </a:pPr>
            <a:r>
              <a:rPr lang="en-US"/>
              <a:t>The first process that it performs is generating a CFG for the input function. This is performed using radare2 and happens directly to the input file. This CFG will be passed into the database to perform our similarity search.</a:t>
            </a:r>
          </a:p>
          <a:p>
            <a:pPr>
              <a:defRPr/>
            </a:pPr>
            <a:endParaRPr lang="en-US"/>
          </a:p>
          <a:p>
            <a:pPr>
              <a:defRPr/>
            </a:pPr>
            <a:r>
              <a:rPr lang="en-US"/>
              <a:t>[Display input CFG picture]</a:t>
            </a:r>
          </a:p>
          <a:p>
            <a:pPr>
              <a:defRPr/>
            </a:pPr>
            <a:r>
              <a:rPr lang="en-US"/>
              <a:t>Here we can see the CFG of the input function as well as a couple of the key elements we identified before. </a:t>
            </a:r>
          </a:p>
          <a:p>
            <a:pPr>
              <a:defRPr/>
            </a:pPr>
            <a:r>
              <a:rPr lang="en-US"/>
              <a:t>The CFG clearly represents the two loop structures of the input function and we can even recognize the decisions and if statements within the program.</a:t>
            </a:r>
            <a:br>
              <a:rPr lang="en-US">
                <a:cs typeface="+mn-lt"/>
              </a:rPr>
            </a:br>
            <a:br>
              <a:rPr lang="en-US">
                <a:cs typeface="+mn-lt"/>
              </a:rPr>
            </a:br>
            <a:r>
              <a:rPr lang="en-US"/>
              <a:t>[Close CFG image and show files again]</a:t>
            </a:r>
          </a:p>
          <a:p>
            <a:pPr>
              <a:defRPr/>
            </a:pPr>
            <a:r>
              <a:rPr lang="en-US"/>
              <a:t>The second process that happens when the pipeline starts is recovering the assembly code from the object file. To do this, </a:t>
            </a:r>
            <a:r>
              <a:rPr lang="en-US" err="1"/>
              <a:t>objdump</a:t>
            </a:r>
            <a:r>
              <a:rPr lang="en-US"/>
              <a:t> is used to generate the assembly code using the command line. In our code, we use the </a:t>
            </a:r>
            <a:r>
              <a:rPr lang="en-US" err="1"/>
              <a:t>os</a:t>
            </a:r>
            <a:r>
              <a:rPr lang="en-US"/>
              <a:t> library to execute the command line program. </a:t>
            </a:r>
          </a:p>
          <a:p>
            <a:pPr>
              <a:defRPr/>
            </a:pPr>
            <a:endParaRPr lang="en-US"/>
          </a:p>
          <a:p>
            <a:pPr>
              <a:defRPr/>
            </a:pPr>
            <a:r>
              <a:rPr lang="en-US"/>
              <a:t>The assembly code of the input function will be </a:t>
            </a:r>
            <a:r>
              <a:rPr lang="en-US" err="1"/>
              <a:t>whats</a:t>
            </a:r>
            <a:r>
              <a:rPr lang="en-US"/>
              <a:t> passed into the model for final decompilation.</a:t>
            </a:r>
          </a:p>
          <a:p>
            <a:pPr>
              <a:defRPr/>
            </a:pPr>
            <a:endParaRPr lang="en-US"/>
          </a:p>
          <a:p>
            <a:pPr>
              <a:defRPr/>
            </a:pPr>
            <a:r>
              <a:rPr lang="en-US"/>
              <a:t>[show the left terminals results of similarity search]</a:t>
            </a:r>
          </a:p>
          <a:p>
            <a:pPr>
              <a:defRPr/>
            </a:pPr>
            <a:r>
              <a:rPr lang="en-US"/>
              <a:t>By now, the pipeline should have executed all of these steps and be in the process of performing the similarity search among the Neo4j database containing 25 thousand CFG's and related information representing a unique dataset of c functions from ExeBench.</a:t>
            </a:r>
          </a:p>
          <a:p>
            <a:pPr>
              <a:defRPr/>
            </a:pPr>
            <a:endParaRPr lang="en-US"/>
          </a:p>
          <a:p>
            <a:pPr>
              <a:defRPr/>
            </a:pPr>
            <a:r>
              <a:rPr lang="en-US"/>
              <a:t>This similarity search is done in two passes.</a:t>
            </a:r>
          </a:p>
          <a:p>
            <a:pPr>
              <a:defRPr/>
            </a:pPr>
            <a:r>
              <a:rPr lang="en-US"/>
              <a:t>The first pass narrows down the scope of the search to only include functions that contain the same number of nodes, edges, loops and decisions that the input function did. This information is stored in the database as a series of custom embeddings. During this initial phase of the search, these vectors are generated by the pipeline to trim the scale of the database down to a few relevant functions to reduce the computation time required for the second phase.</a:t>
            </a:r>
          </a:p>
          <a:p>
            <a:pPr>
              <a:defRPr/>
            </a:pPr>
            <a:endParaRPr lang="en-US"/>
          </a:p>
          <a:p>
            <a:pPr>
              <a:defRPr/>
            </a:pPr>
            <a:r>
              <a:rPr lang="en-US"/>
              <a:t>This second phase, performs a graph edit distance that calculates a score based on the amount of transformations required to make the input functions CFG match the database CFG. These scores are a lower is better system so the goal of this phase is to recover as many functions with a GED value of 0. The process has some further time saving functionality to halt calculations if they are going to result in a worse GED than the current lowest in order to save as much time as possible. The GED calculation is highly accurate but also very slow.</a:t>
            </a:r>
            <a:br>
              <a:rPr lang="en-US">
                <a:cs typeface="+mn-lt"/>
              </a:rPr>
            </a:br>
            <a:endParaRPr lang="en-US">
              <a:cs typeface="+mn-lt"/>
            </a:endParaRPr>
          </a:p>
          <a:p>
            <a:pPr>
              <a:defRPr/>
            </a:pPr>
            <a:r>
              <a:rPr lang="en-US"/>
              <a:t>[Hopefully GED has finished]</a:t>
            </a:r>
            <a:br>
              <a:rPr lang="en-US">
                <a:cs typeface="+mn-lt"/>
              </a:rPr>
            </a:br>
            <a:r>
              <a:rPr lang="en-US"/>
              <a:t>[Display </a:t>
            </a:r>
            <a:r>
              <a:rPr lang="en-US" err="1"/>
              <a:t>sum_filtered_rows</a:t>
            </a:r>
            <a:r>
              <a:rPr lang="en-US"/>
              <a:t> and </a:t>
            </a:r>
            <a:r>
              <a:rPr lang="en-US" err="1"/>
              <a:t>count_alpha_digit</a:t>
            </a:r>
            <a:r>
              <a:rPr lang="en-US"/>
              <a:t> comparison photos]</a:t>
            </a:r>
          </a:p>
          <a:p>
            <a:pPr>
              <a:defRPr/>
            </a:pPr>
            <a:r>
              <a:rPr lang="en-US"/>
              <a:t>Choosing one of the functions identified in the search, we can take a manually look at the graphs to see what the pipeline performed. Here we can see the input function on the left, and the returned function on the right. By comparing these two CFGs we can identify the same looping structure and decision structure within each program, which can be seen here</a:t>
            </a:r>
          </a:p>
          <a:p>
            <a:pPr>
              <a:defRPr/>
            </a:pPr>
            <a:endParaRPr lang="en-US"/>
          </a:p>
          <a:p>
            <a:pPr>
              <a:defRPr/>
            </a:pPr>
            <a:r>
              <a:rPr lang="en-US"/>
              <a:t>As a result of the search, the closest matching functions are returned and the original C code used to create these graphs is retrieved. These functions are going to be the additional context used by our model to better understand the unknown function. By taking cues and information from the provided C functions, the model is better able to reconstruct the logic of the input function in the C language.</a:t>
            </a:r>
            <a:br>
              <a:rPr lang="en-US">
                <a:cs typeface="+mn-lt"/>
              </a:rPr>
            </a:br>
            <a:endParaRPr lang="en-US">
              <a:cs typeface="+mn-lt"/>
            </a:endParaRPr>
          </a:p>
          <a:p>
            <a:pPr>
              <a:defRPr/>
            </a:pPr>
            <a:r>
              <a:rPr lang="en-US">
                <a:cs typeface="+mn-lt"/>
              </a:rPr>
              <a:t>[Show example model input]</a:t>
            </a:r>
          </a:p>
          <a:p>
            <a:pPr>
              <a:defRPr/>
            </a:pPr>
            <a:r>
              <a:rPr lang="en-US">
                <a:cs typeface="+mn-lt"/>
              </a:rPr>
              <a:t>Here is an example of the input prompt given to the model. In this prompt we can recognize the retrieved functions provided as additional context, as well as the assembly code for the input function. The prompt to the model directs it to decompile the assembly code, using the provided c code as a reference for structure. </a:t>
            </a:r>
            <a:br>
              <a:rPr lang="en-US">
                <a:cs typeface="+mn-lt"/>
              </a:rPr>
            </a:br>
            <a:br>
              <a:rPr lang="en-US">
                <a:cs typeface="+mn-lt"/>
              </a:rPr>
            </a:br>
            <a:r>
              <a:rPr lang="en-US">
                <a:cs typeface="+mn-lt"/>
              </a:rPr>
              <a:t>After the model processes this input, it parses the return of the model and writes it to a file.</a:t>
            </a:r>
          </a:p>
          <a:p>
            <a:pPr>
              <a:defRPr/>
            </a:pPr>
            <a:endParaRPr lang="en-US">
              <a:cs typeface="+mn-lt"/>
            </a:endParaRPr>
          </a:p>
          <a:p>
            <a:pPr>
              <a:defRPr/>
            </a:pPr>
            <a:r>
              <a:rPr lang="en-US">
                <a:cs typeface="+mn-lt"/>
              </a:rPr>
              <a:t>[Display </a:t>
            </a:r>
            <a:r>
              <a:rPr lang="en-US" err="1">
                <a:cs typeface="+mn-lt"/>
              </a:rPr>
              <a:t>count_alpha_digit_out.c</a:t>
            </a:r>
            <a:r>
              <a:rPr lang="en-US">
                <a:cs typeface="+mn-lt"/>
              </a:rPr>
              <a:t>]</a:t>
            </a:r>
          </a:p>
          <a:p>
            <a:pPr>
              <a:defRPr/>
            </a:pPr>
            <a:r>
              <a:rPr lang="en-US">
                <a:cs typeface="+mn-lt"/>
              </a:rPr>
              <a:t>Here we can look at the resulting C code output of the pipeline. </a:t>
            </a:r>
            <a:br>
              <a:rPr lang="en-US">
                <a:cs typeface="+mn-lt"/>
              </a:rPr>
            </a:br>
            <a:r>
              <a:rPr lang="en-US"/>
              <a:t>Within this program we can recognize the original logic of the loop structure of two for loops as well as the correct decision structure checking for the character capital 'A' and for the number '0'</a:t>
            </a:r>
          </a:p>
          <a:p>
            <a:pPr>
              <a:defRPr/>
            </a:pPr>
            <a:r>
              <a:rPr lang="en-US">
                <a:cs typeface="+mn-lt"/>
              </a:rPr>
              <a:t>A slight difference between the input function and the output of the pipeline is the arguments in the function definition. The input function passes in an integer length that controls how much of the string the program iterates over.</a:t>
            </a:r>
          </a:p>
          <a:p>
            <a:pPr>
              <a:defRPr/>
            </a:pPr>
            <a:r>
              <a:rPr lang="en-US"/>
              <a:t>In our returned function, this is calculated based of the string length of the input function. This does not lose the functionality of the input function but in some situations you could pass a value different than the length of the string to the input function and that is a difference between the input and our pipelines output code.</a:t>
            </a:r>
          </a:p>
          <a:p>
            <a:pPr>
              <a:defRPr/>
            </a:pPr>
            <a:endParaRPr lang="en-US"/>
          </a:p>
          <a:p>
            <a:pPr>
              <a:defRPr/>
            </a:pPr>
            <a:r>
              <a:rPr lang="en-US">
                <a:cs typeface="+mn-lt"/>
              </a:rPr>
              <a:t>[Display </a:t>
            </a:r>
            <a:r>
              <a:rPr lang="en-US" err="1">
                <a:cs typeface="+mn-lt"/>
              </a:rPr>
              <a:t>baseline_count_alpha_digit_out.c</a:t>
            </a:r>
            <a:r>
              <a:rPr lang="en-US">
                <a:cs typeface="+mn-lt"/>
              </a:rPr>
              <a:t>]</a:t>
            </a:r>
          </a:p>
          <a:p>
            <a:pPr>
              <a:defRPr/>
            </a:pPr>
            <a:r>
              <a:rPr lang="en-US">
                <a:cs typeface="+mn-lt"/>
              </a:rPr>
              <a:t>For context on the impact of the RAG element of this pipeline, here is the returned result of the model without the RAG layer.</a:t>
            </a:r>
            <a:br>
              <a:rPr lang="en-US">
                <a:cs typeface="+mn-lt"/>
              </a:rPr>
            </a:br>
            <a:r>
              <a:rPr lang="en-US">
                <a:cs typeface="+mn-lt"/>
              </a:rPr>
              <a:t>In this code we can recognize some more differences. </a:t>
            </a:r>
          </a:p>
          <a:p>
            <a:pPr>
              <a:lnSpc>
                <a:spcPct val="90000"/>
              </a:lnSpc>
              <a:spcBef>
                <a:spcPts val="1000"/>
              </a:spcBef>
              <a:defRPr/>
            </a:pPr>
            <a:r>
              <a:rPr lang="en-US">
                <a:cs typeface="+mn-lt"/>
              </a:rPr>
              <a:t>The most notable difference is the change in logical decision being performed. The output function here counts ALL alphanumeric characters within the word instead of just 'A' and '0'. </a:t>
            </a:r>
            <a:br>
              <a:rPr lang="en-US">
                <a:cs typeface="+mn-lt"/>
              </a:rPr>
            </a:br>
            <a:r>
              <a:rPr lang="en-US">
                <a:cs typeface="+mn-lt"/>
              </a:rPr>
              <a:t>Additionally, this program now uses a while loop as the control loop instead of a for loop. </a:t>
            </a:r>
            <a:br>
              <a:rPr lang="en-US">
                <a:cs typeface="+mn-lt"/>
              </a:rPr>
            </a:br>
            <a:r>
              <a:rPr lang="en-US">
                <a:cs typeface="+mn-lt"/>
              </a:rPr>
              <a:t>The output of this program would not match the input functions.</a:t>
            </a:r>
            <a:br>
              <a:rPr lang="en-US">
                <a:cs typeface="+mn-lt"/>
              </a:rPr>
            </a:br>
            <a:br>
              <a:rPr lang="en-US">
                <a:cs typeface="+mn-lt"/>
              </a:rPr>
            </a:br>
            <a:endParaRPr lang="en-US">
              <a:cs typeface="+mn-lt"/>
            </a:endParaRPr>
          </a:p>
          <a:p>
            <a:pPr>
              <a:defRPr/>
            </a:pPr>
            <a:endParaRPr lang="en-US"/>
          </a:p>
        </p:txBody>
      </p:sp>
      <p:sp>
        <p:nvSpPr>
          <p:cNvPr id="4" name="Slide Number Placeholder 3">
            <a:extLst>
              <a:ext uri="{FF2B5EF4-FFF2-40B4-BE49-F238E27FC236}">
                <a16:creationId xmlns:a16="http://schemas.microsoft.com/office/drawing/2014/main" id="{C8B35C15-3914-C5A3-9FCC-A956A4E07456}"/>
              </a:ext>
            </a:extLst>
          </p:cNvPr>
          <p:cNvSpPr>
            <a:spLocks noGrp="1"/>
          </p:cNvSpPr>
          <p:nvPr>
            <p:ph type="sldNum" sz="quarter" idx="5"/>
          </p:nvPr>
        </p:nvSpPr>
        <p:spPr/>
        <p:txBody>
          <a:bodyPr/>
          <a:lstStyle/>
          <a:p>
            <a:fld id="{833A79FF-E0EC-5143-820D-B601C86FB409}" type="slidenum">
              <a:rPr lang="en-US" smtClean="0"/>
              <a:t>19</a:t>
            </a:fld>
            <a:endParaRPr lang="en-US"/>
          </a:p>
        </p:txBody>
      </p:sp>
    </p:spTree>
    <p:extLst>
      <p:ext uri="{BB962C8B-B14F-4D97-AF65-F5344CB8AC3E}">
        <p14:creationId xmlns:p14="http://schemas.microsoft.com/office/powerpoint/2010/main" val="42017945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20</a:t>
            </a:fld>
            <a:endParaRPr lang="en-US"/>
          </a:p>
        </p:txBody>
      </p:sp>
    </p:spTree>
    <p:extLst>
      <p:ext uri="{BB962C8B-B14F-4D97-AF65-F5344CB8AC3E}">
        <p14:creationId xmlns:p14="http://schemas.microsoft.com/office/powerpoint/2010/main" val="19081748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"In this example, the function counts the number of 'A' and '0' characters. The baseline model used while loops and overgeneralized logic. </a:t>
            </a:r>
            <a:r>
              <a:rPr lang="en-US" b="0" i="0" u="none" strike="noStrike" err="1">
                <a:solidFill>
                  <a:srgbClr val="000000"/>
                </a:solidFill>
                <a:effectLst/>
              </a:rPr>
              <a:t>GLeNN</a:t>
            </a:r>
            <a:r>
              <a:rPr lang="en-US" b="0" i="0" u="none" strike="noStrike">
                <a:solidFill>
                  <a:srgbClr val="000000"/>
                </a:solidFill>
                <a:effectLst/>
              </a:rPr>
              <a:t>, however, used for-loops and exact matches, recovering the original structure and behavior."</a:t>
            </a:r>
          </a:p>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21</a:t>
            </a:fld>
            <a:endParaRPr lang="en-US"/>
          </a:p>
        </p:txBody>
      </p:sp>
    </p:spTree>
    <p:extLst>
      <p:ext uri="{BB962C8B-B14F-4D97-AF65-F5344CB8AC3E}">
        <p14:creationId xmlns:p14="http://schemas.microsoft.com/office/powerpoint/2010/main" val="3251785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22</a:t>
            </a:fld>
            <a:endParaRPr lang="en-US"/>
          </a:p>
        </p:txBody>
      </p:sp>
    </p:spTree>
    <p:extLst>
      <p:ext uri="{BB962C8B-B14F-4D97-AF65-F5344CB8AC3E}">
        <p14:creationId xmlns:p14="http://schemas.microsoft.com/office/powerpoint/2010/main" val="223411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23</a:t>
            </a:fld>
            <a:endParaRPr lang="en-US"/>
          </a:p>
        </p:txBody>
      </p:sp>
    </p:spTree>
    <p:extLst>
      <p:ext uri="{BB962C8B-B14F-4D97-AF65-F5344CB8AC3E}">
        <p14:creationId xmlns:p14="http://schemas.microsoft.com/office/powerpoint/2010/main" val="18358344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D8196-120B-04AA-AD41-5422FF6D5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385CD-AE91-03B5-3642-E698E3E996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0E196-BF81-B05D-AF4A-34D7079AD8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8ACEB4-B954-416F-3F32-3FBFD583E589}"/>
              </a:ext>
            </a:extLst>
          </p:cNvPr>
          <p:cNvSpPr>
            <a:spLocks noGrp="1"/>
          </p:cNvSpPr>
          <p:nvPr>
            <p:ph type="sldNum" sz="quarter" idx="5"/>
          </p:nvPr>
        </p:nvSpPr>
        <p:spPr/>
        <p:txBody>
          <a:bodyPr/>
          <a:lstStyle/>
          <a:p>
            <a:fld id="{833A79FF-E0EC-5143-820D-B601C86FB409}" type="slidenum">
              <a:rPr lang="en-US" smtClean="0"/>
              <a:t>24</a:t>
            </a:fld>
            <a:endParaRPr lang="en-US"/>
          </a:p>
        </p:txBody>
      </p:sp>
    </p:spTree>
    <p:extLst>
      <p:ext uri="{BB962C8B-B14F-4D97-AF65-F5344CB8AC3E}">
        <p14:creationId xmlns:p14="http://schemas.microsoft.com/office/powerpoint/2010/main" val="39198959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"We’re proud of what </a:t>
            </a:r>
            <a:r>
              <a:rPr lang="en-US" b="0" i="0" u="none" strike="noStrike" err="1">
                <a:solidFill>
                  <a:srgbClr val="000000"/>
                </a:solidFill>
                <a:effectLst/>
              </a:rPr>
              <a:t>GLeNN</a:t>
            </a:r>
            <a:r>
              <a:rPr lang="en-US" b="0" i="0" u="none" strike="noStrike">
                <a:solidFill>
                  <a:srgbClr val="000000"/>
                </a:solidFill>
                <a:effectLst/>
              </a:rPr>
              <a:t> can do, but there are limitations. We’re working on scaling up to whole-program analysis and reducing GED computation time. We also want to support more compiled languages beyond C."</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a:solidFill>
                  <a:srgbClr val="000000"/>
                </a:solidFill>
                <a:effectLst/>
              </a:rPr>
              <a:t>"</a:t>
            </a:r>
            <a:r>
              <a:rPr lang="en-US" b="0" i="0" u="none" strike="noStrike" err="1">
                <a:solidFill>
                  <a:srgbClr val="000000"/>
                </a:solidFill>
                <a:effectLst/>
              </a:rPr>
              <a:t>GLeNN</a:t>
            </a:r>
            <a:r>
              <a:rPr lang="en-US" b="0" i="0" u="none" strike="noStrike">
                <a:solidFill>
                  <a:srgbClr val="000000"/>
                </a:solidFill>
                <a:effectLst/>
              </a:rPr>
              <a:t> is useful to anyone working with unknown binaries. Analysts, security researchers, and students can all benefit. It can help triage malware, analyze embedded firmware, and even teach reverse engineering more effectively."</a:t>
            </a:r>
          </a:p>
          <a:p>
            <a:endParaRPr lang="en-US" b="0" i="0" u="none" strike="noStrike">
              <a:solidFill>
                <a:srgbClr val="000000"/>
              </a:solidFill>
              <a:effectLst/>
              <a:latin typeface="-webkit-standard"/>
            </a:endParaRPr>
          </a:p>
          <a:p>
            <a:r>
              <a:rPr lang="en-US" b="0" i="0" u="none" strike="noStrike">
                <a:solidFill>
                  <a:srgbClr val="000000"/>
                </a:solidFill>
                <a:effectLst/>
                <a:latin typeface="-webkit-standard"/>
              </a:rPr>
              <a:t>______________</a:t>
            </a:r>
            <a:endParaRPr lang="en-US"/>
          </a:p>
          <a:p>
            <a:endParaRPr lang="en-US"/>
          </a:p>
          <a:p>
            <a:r>
              <a:rPr lang="en-US"/>
              <a:t>\section{Discussion and Conclusion}</a:t>
            </a:r>
          </a:p>
          <a:p>
            <a:r>
              <a:rPr lang="en-US"/>
              <a:t>The results of our experiments affirm the potential of Retrieval-Augmented Generation (RAG) in improving the performance of large language models in static reverse engineering. By leveraging graph-based similarity search through control-flow graphs (CFGs), GleNN provides semantically relevant reference code that guides the LLM toward producing more accurate and executable </a:t>
            </a:r>
            <a:r>
              <a:rPr lang="en-US" err="1"/>
              <a:t>decompilations</a:t>
            </a:r>
            <a:r>
              <a:rPr lang="en-US"/>
              <a:t>.</a:t>
            </a:r>
          </a:p>
          <a:p>
            <a:endParaRPr lang="en-US"/>
          </a:p>
          <a:p>
            <a:r>
              <a:rPr lang="en-US"/>
              <a:t>The RAG-enhanced model demonstrated a 12.44\% improvement in re-executability over the baseline model. Of the functions that successfully compiled, 99.41\% were re-executable, highlighting that RAG not only improves semantic coherence but also reduces hallucinated or invalid logic. This outcome surpasses the performance of both the standalone DeepSeek baseline and LLM4Decompile, which previously represented the state of the art. These findings suggest that integrating graph-based structural retrieval can meaningfully enhance reliability in LLM-assisted decompilation.</a:t>
            </a:r>
          </a:p>
          <a:p>
            <a:endParaRPr lang="en-US"/>
          </a:p>
          <a:p>
            <a:r>
              <a:rPr lang="en-US"/>
              <a:t>One of the primary limitations of our current system is that it operates at the function level. Each test case involves the decompilation of a single function, which does not capture the complexities of </a:t>
            </a:r>
            <a:r>
              <a:rPr lang="en-US" err="1"/>
              <a:t>interprocedural</a:t>
            </a:r>
            <a:r>
              <a:rPr lang="en-US"/>
              <a:t> relationships, shared memory, or dynamic symbol resolution. Expanding the GleNN pipeline to operate on full programs would allow us to test whether context-aware retrieval and prompt construction can scale across larger, real-world software targets.</a:t>
            </a:r>
          </a:p>
          <a:p>
            <a:endParaRPr lang="en-US"/>
          </a:p>
          <a:p>
            <a:r>
              <a:rPr lang="en-US"/>
              <a:t>Another consideration is performance. While the two-pass retrieval strategy significantly improves accuracy, it introduces computational overhead—particularly during the graph edit distance (GED) calculations. Optimizing or approximating GED, introducing candidate caching, or parallelizing retrieval operations are key future directions to improve real-time usability.</a:t>
            </a:r>
          </a:p>
          <a:p>
            <a:endParaRPr lang="en-US"/>
          </a:p>
          <a:p>
            <a:r>
              <a:rPr lang="en-US"/>
              <a:t>From a modeling perspective, while the DeepSeek R1 model performed well in generating clean C code, it is not specifically tuned for reverse engineering. As a result, outputs occasionally include redundant syntax, missed type declarations, or extraneous logic structures. Fine-tuning on assembly-to-C datasets or incorporating structure-aware decoding constraints could further reduce these inconsistencies.</a:t>
            </a:r>
          </a:p>
          <a:p>
            <a:endParaRPr lang="en-US"/>
          </a:p>
          <a:p>
            <a:r>
              <a:rPr lang="en-US"/>
              <a:t>A critical bottleneck in the current pipeline is the model’s sensitivity to prompt structure. Despite using fixed input templates, the model frequently produces inconsistent outputs—including verbose commentary, format violations, or syntax that does not compile. These inconsistencies break downstream parsing logic and hinder automated CFG generation. Improving prompt engineering practices—such as refining system instructions, enforcing stricter response formats, or using delimiters for code extraction—may significantly improve output stability and overall pipeline reliability.</a:t>
            </a:r>
          </a:p>
          <a:p>
            <a:endParaRPr lang="en-US"/>
          </a:p>
          <a:p>
            <a:r>
              <a:rPr lang="en-US"/>
              <a:t>Looking beyond C, </a:t>
            </a:r>
            <a:r>
              <a:rPr lang="en-US" err="1"/>
              <a:t>GleNN’s</a:t>
            </a:r>
            <a:r>
              <a:rPr lang="en-US"/>
              <a:t> architecture is language-agnostic and could be extended to support other compiled languages such as C++, Rust, or Go. With appropriate training data and CFG compatibility, the pipeline could be generalized to help reverse engineer binaries written in various languages or compiled for different architectures.</a:t>
            </a:r>
          </a:p>
          <a:p>
            <a:endParaRPr lang="en-US"/>
          </a:p>
          <a:p>
            <a:r>
              <a:rPr lang="en-US"/>
              <a:t>This approach also holds promise in real-world scenarios. Malware analysts could use GleNN as a triage tool to quickly produce reviewable C code from unknown binaries. Embedded firmware analysts, vulnerability researchers, or incident response teams might benefit from integrating GleNN into their toolchains to speed up static inspection workflows.</a:t>
            </a:r>
          </a:p>
          <a:p>
            <a:endParaRPr lang="en-US"/>
          </a:p>
          <a:p>
            <a:r>
              <a:rPr lang="en-US"/>
              <a:t>In conclusion, GleNN demonstrates the effectiveness of combining graph-driven retrieval with large language models to improve the reliability of automated decompilation. With continued research in model specialization, retrieval accuracy, and scalability, GleNN offers a promising foundation for next-generation reverse engineering tools.</a:t>
            </a:r>
          </a:p>
        </p:txBody>
      </p:sp>
      <p:sp>
        <p:nvSpPr>
          <p:cNvPr id="4" name="Slide Number Placeholder 3"/>
          <p:cNvSpPr>
            <a:spLocks noGrp="1"/>
          </p:cNvSpPr>
          <p:nvPr>
            <p:ph type="sldNum" sz="quarter" idx="5"/>
          </p:nvPr>
        </p:nvSpPr>
        <p:spPr/>
        <p:txBody>
          <a:bodyPr/>
          <a:lstStyle/>
          <a:p>
            <a:fld id="{833A79FF-E0EC-5143-820D-B601C86FB409}" type="slidenum">
              <a:rPr lang="en-US" smtClean="0"/>
              <a:t>25</a:t>
            </a:fld>
            <a:endParaRPr lang="en-US"/>
          </a:p>
        </p:txBody>
      </p:sp>
    </p:spTree>
    <p:extLst>
      <p:ext uri="{BB962C8B-B14F-4D97-AF65-F5344CB8AC3E}">
        <p14:creationId xmlns:p14="http://schemas.microsoft.com/office/powerpoint/2010/main" val="569638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26</a:t>
            </a:fld>
            <a:endParaRPr lang="en-US"/>
          </a:p>
        </p:txBody>
      </p:sp>
    </p:spTree>
    <p:extLst>
      <p:ext uri="{BB962C8B-B14F-4D97-AF65-F5344CB8AC3E}">
        <p14:creationId xmlns:p14="http://schemas.microsoft.com/office/powerpoint/2010/main" val="21706148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33A79FF-E0EC-5143-820D-B601C86FB409}" type="slidenum">
              <a:rPr lang="en-US" smtClean="0"/>
              <a:t>27</a:t>
            </a:fld>
            <a:endParaRPr lang="en-US"/>
          </a:p>
        </p:txBody>
      </p:sp>
    </p:spTree>
    <p:extLst>
      <p:ext uri="{BB962C8B-B14F-4D97-AF65-F5344CB8AC3E}">
        <p14:creationId xmlns:p14="http://schemas.microsoft.com/office/powerpoint/2010/main" val="31133771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580765E-9E46-F923-4537-881F829F0E54}"/>
              </a:ext>
            </a:extLst>
          </p:cNvPr>
          <p:cNvPicPr>
            <a:picLocks noChangeAspect="1"/>
          </p:cNvPicPr>
          <p:nvPr userDrawn="1"/>
        </p:nvPicPr>
        <p:blipFill rotWithShape="1">
          <a:blip r:embed="rId2">
            <a:alphaModFix amt="20000"/>
          </a:blip>
          <a:srcRect b="19027"/>
          <a:stretch/>
        </p:blipFill>
        <p:spPr>
          <a:xfrm>
            <a:off x="-89029" y="88900"/>
            <a:ext cx="6234858" cy="6769100"/>
          </a:xfrm>
          <a:prstGeom prst="rect">
            <a:avLst/>
          </a:prstGeom>
        </p:spPr>
      </p:pic>
      <p:pic>
        <p:nvPicPr>
          <p:cNvPr id="12" name="Picture 11">
            <a:extLst>
              <a:ext uri="{FF2B5EF4-FFF2-40B4-BE49-F238E27FC236}">
                <a16:creationId xmlns:a16="http://schemas.microsoft.com/office/drawing/2014/main" id="{F0AEAD9E-24CC-6878-AB18-EADB79A8DBE6}"/>
              </a:ext>
            </a:extLst>
          </p:cNvPr>
          <p:cNvPicPr>
            <a:picLocks noChangeAspect="1"/>
          </p:cNvPicPr>
          <p:nvPr userDrawn="1"/>
        </p:nvPicPr>
        <p:blipFill rotWithShape="1">
          <a:blip r:embed="rId3">
            <a:alphaModFix amt="11000"/>
          </a:blip>
          <a:srcRect l="35154" b="58161"/>
          <a:stretch/>
        </p:blipFill>
        <p:spPr>
          <a:xfrm>
            <a:off x="0" y="2743003"/>
            <a:ext cx="11725928" cy="4114997"/>
          </a:xfrm>
          <a:prstGeom prst="rect">
            <a:avLst/>
          </a:prstGeom>
        </p:spPr>
      </p:pic>
      <p:sp>
        <p:nvSpPr>
          <p:cNvPr id="2" name="Title 1">
            <a:extLst>
              <a:ext uri="{FF2B5EF4-FFF2-40B4-BE49-F238E27FC236}">
                <a16:creationId xmlns:a16="http://schemas.microsoft.com/office/drawing/2014/main" id="{F8649688-59E7-1703-6239-C6E17422C4E4}"/>
              </a:ext>
            </a:extLst>
          </p:cNvPr>
          <p:cNvSpPr>
            <a:spLocks noGrp="1"/>
          </p:cNvSpPr>
          <p:nvPr>
            <p:ph type="ctrTitle"/>
          </p:nvPr>
        </p:nvSpPr>
        <p:spPr>
          <a:xfrm>
            <a:off x="6514360" y="2582103"/>
            <a:ext cx="5068866" cy="1380539"/>
          </a:xfrm>
        </p:spPr>
        <p:txBody>
          <a:bodyPr anchor="b">
            <a:normAutofit/>
          </a:bodyPr>
          <a:lstStyle>
            <a:lvl1pPr algn="l">
              <a:defRPr sz="4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0AEE2DF3-20B9-5FE4-78BC-2A84C112A90A}"/>
              </a:ext>
            </a:extLst>
          </p:cNvPr>
          <p:cNvSpPr>
            <a:spLocks noGrp="1"/>
          </p:cNvSpPr>
          <p:nvPr>
            <p:ph type="subTitle" idx="1"/>
          </p:nvPr>
        </p:nvSpPr>
        <p:spPr>
          <a:xfrm>
            <a:off x="6514360" y="4054718"/>
            <a:ext cx="5068866"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0" name="Picture 9">
            <a:extLst>
              <a:ext uri="{FF2B5EF4-FFF2-40B4-BE49-F238E27FC236}">
                <a16:creationId xmlns:a16="http://schemas.microsoft.com/office/drawing/2014/main" id="{48E67FE4-A40D-2EE9-BF1D-253FA6650554}"/>
              </a:ext>
            </a:extLst>
          </p:cNvPr>
          <p:cNvPicPr>
            <a:picLocks noChangeAspect="1"/>
          </p:cNvPicPr>
          <p:nvPr userDrawn="1"/>
        </p:nvPicPr>
        <p:blipFill rotWithShape="1">
          <a:blip r:embed="rId4"/>
          <a:srcRect l="654" t="77958" r="56462"/>
          <a:stretch/>
        </p:blipFill>
        <p:spPr>
          <a:xfrm>
            <a:off x="8858859" y="0"/>
            <a:ext cx="3333141" cy="1030848"/>
          </a:xfrm>
          <a:prstGeom prst="rect">
            <a:avLst/>
          </a:prstGeom>
        </p:spPr>
      </p:pic>
      <p:pic>
        <p:nvPicPr>
          <p:cNvPr id="14" name="Picture 13">
            <a:extLst>
              <a:ext uri="{FF2B5EF4-FFF2-40B4-BE49-F238E27FC236}">
                <a16:creationId xmlns:a16="http://schemas.microsoft.com/office/drawing/2014/main" id="{01587E38-3EC4-A044-D625-EEAF1E6EC062}"/>
              </a:ext>
            </a:extLst>
          </p:cNvPr>
          <p:cNvPicPr>
            <a:picLocks noChangeAspect="1"/>
          </p:cNvPicPr>
          <p:nvPr userDrawn="1"/>
        </p:nvPicPr>
        <p:blipFill>
          <a:blip r:embed="rId5"/>
          <a:stretch>
            <a:fillRect/>
          </a:stretch>
        </p:blipFill>
        <p:spPr>
          <a:xfrm>
            <a:off x="5843950" y="974724"/>
            <a:ext cx="4952702" cy="1663503"/>
          </a:xfrm>
          <a:prstGeom prst="rect">
            <a:avLst/>
          </a:prstGeom>
        </p:spPr>
      </p:pic>
    </p:spTree>
    <p:extLst>
      <p:ext uri="{BB962C8B-B14F-4D97-AF65-F5344CB8AC3E}">
        <p14:creationId xmlns:p14="http://schemas.microsoft.com/office/powerpoint/2010/main" val="2852685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7D8DBDB-5261-D586-111B-F461DB46AA11}"/>
              </a:ext>
            </a:extLst>
          </p:cNvPr>
          <p:cNvPicPr>
            <a:picLocks noChangeAspect="1"/>
          </p:cNvPicPr>
          <p:nvPr userDrawn="1"/>
        </p:nvPicPr>
        <p:blipFill rotWithShape="1">
          <a:blip r:embed="rId2"/>
          <a:srcRect r="22222" b="18224"/>
          <a:stretch/>
        </p:blipFill>
        <p:spPr>
          <a:xfrm>
            <a:off x="11070437" y="5676900"/>
            <a:ext cx="1121563" cy="1194522"/>
          </a:xfrm>
          <a:prstGeom prst="rect">
            <a:avLst/>
          </a:prstGeom>
        </p:spPr>
      </p:pic>
      <p:pic>
        <p:nvPicPr>
          <p:cNvPr id="10" name="Picture 9">
            <a:extLst>
              <a:ext uri="{FF2B5EF4-FFF2-40B4-BE49-F238E27FC236}">
                <a16:creationId xmlns:a16="http://schemas.microsoft.com/office/drawing/2014/main" id="{AF95F78E-F4A5-005F-D143-98D0ABF950FA}"/>
              </a:ext>
            </a:extLst>
          </p:cNvPr>
          <p:cNvPicPr>
            <a:picLocks noChangeAspect="1"/>
          </p:cNvPicPr>
          <p:nvPr userDrawn="1"/>
        </p:nvPicPr>
        <p:blipFill rotWithShape="1">
          <a:blip r:embed="rId3"/>
          <a:srcRect l="29671" t="64971" r="26779"/>
          <a:stretch/>
        </p:blipFill>
        <p:spPr>
          <a:xfrm>
            <a:off x="0" y="0"/>
            <a:ext cx="2044700" cy="989613"/>
          </a:xfrm>
          <a:prstGeom prst="rect">
            <a:avLst/>
          </a:prstGeom>
        </p:spPr>
      </p:pic>
      <p:sp>
        <p:nvSpPr>
          <p:cNvPr id="2" name="Title 1">
            <a:extLst>
              <a:ext uri="{FF2B5EF4-FFF2-40B4-BE49-F238E27FC236}">
                <a16:creationId xmlns:a16="http://schemas.microsoft.com/office/drawing/2014/main" id="{2334430F-5A5E-5D4B-4BC7-884289535A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82327C-9D0F-B15E-C5AE-0B4402F1F5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B656B8F-F397-B870-64C7-260815F62451}"/>
              </a:ext>
            </a:extLst>
          </p:cNvPr>
          <p:cNvSpPr>
            <a:spLocks noGrp="1"/>
          </p:cNvSpPr>
          <p:nvPr>
            <p:ph type="ftr" sz="quarter" idx="11"/>
          </p:nvPr>
        </p:nvSpPr>
        <p:spPr>
          <a:xfrm>
            <a:off x="6832600" y="6356350"/>
            <a:ext cx="4114800" cy="365125"/>
          </a:xfrm>
        </p:spPr>
        <p:txBody>
          <a:bodyPr/>
          <a:lstStyle>
            <a:lvl1pPr algn="r">
              <a:defRPr>
                <a:solidFill>
                  <a:schemeClr val="tx2"/>
                </a:solidFill>
              </a:defRPr>
            </a:lvl1pPr>
          </a:lstStyle>
          <a:p>
            <a:r>
              <a:rPr lang="en-US"/>
              <a:t>GEORGE MASON UNIVERSITY</a:t>
            </a:r>
          </a:p>
        </p:txBody>
      </p:sp>
      <p:sp>
        <p:nvSpPr>
          <p:cNvPr id="6" name="Slide Number Placeholder 5">
            <a:extLst>
              <a:ext uri="{FF2B5EF4-FFF2-40B4-BE49-F238E27FC236}">
                <a16:creationId xmlns:a16="http://schemas.microsoft.com/office/drawing/2014/main" id="{919B4960-F59B-CF95-3858-F7F56D5011FC}"/>
              </a:ext>
            </a:extLst>
          </p:cNvPr>
          <p:cNvSpPr>
            <a:spLocks noGrp="1"/>
          </p:cNvSpPr>
          <p:nvPr>
            <p:ph type="sldNum" sz="quarter" idx="12"/>
          </p:nvPr>
        </p:nvSpPr>
        <p:spPr>
          <a:xfrm>
            <a:off x="10947400" y="6356350"/>
            <a:ext cx="406400" cy="365125"/>
          </a:xfrm>
        </p:spPr>
        <p:txBody>
          <a:bodyPr/>
          <a:lstStyle>
            <a:lvl1pPr>
              <a:defRPr>
                <a:solidFill>
                  <a:schemeClr val="tx2"/>
                </a:solidFill>
              </a:defRPr>
            </a:lvl1pPr>
          </a:lstStyle>
          <a:p>
            <a:fld id="{944FE883-4AC6-394B-8129-6E4BB686DB20}" type="slidenum">
              <a:rPr lang="en-US" smtClean="0"/>
              <a:pPr/>
              <a:t>‹#›</a:t>
            </a:fld>
            <a:endParaRPr lang="en-US"/>
          </a:p>
        </p:txBody>
      </p:sp>
    </p:spTree>
    <p:extLst>
      <p:ext uri="{BB962C8B-B14F-4D97-AF65-F5344CB8AC3E}">
        <p14:creationId xmlns:p14="http://schemas.microsoft.com/office/powerpoint/2010/main" val="736460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A2F6515-D6D6-585C-70C8-97944CAA7084}"/>
              </a:ext>
            </a:extLst>
          </p:cNvPr>
          <p:cNvPicPr>
            <a:picLocks noChangeAspect="1"/>
          </p:cNvPicPr>
          <p:nvPr userDrawn="1"/>
        </p:nvPicPr>
        <p:blipFill rotWithShape="1">
          <a:blip r:embed="rId2"/>
          <a:srcRect l="-10100" t="-3420" r="27678" b="5864"/>
          <a:stretch/>
        </p:blipFill>
        <p:spPr>
          <a:xfrm>
            <a:off x="11019637" y="5562599"/>
            <a:ext cx="1172363" cy="1325563"/>
          </a:xfrm>
          <a:prstGeom prst="rect">
            <a:avLst/>
          </a:prstGeom>
        </p:spPr>
      </p:pic>
      <p:pic>
        <p:nvPicPr>
          <p:cNvPr id="10" name="Picture 9">
            <a:extLst>
              <a:ext uri="{FF2B5EF4-FFF2-40B4-BE49-F238E27FC236}">
                <a16:creationId xmlns:a16="http://schemas.microsoft.com/office/drawing/2014/main" id="{AF95F78E-F4A5-005F-D143-98D0ABF950FA}"/>
              </a:ext>
            </a:extLst>
          </p:cNvPr>
          <p:cNvPicPr>
            <a:picLocks noChangeAspect="1"/>
          </p:cNvPicPr>
          <p:nvPr userDrawn="1"/>
        </p:nvPicPr>
        <p:blipFill rotWithShape="1">
          <a:blip r:embed="rId3"/>
          <a:srcRect l="29671" t="64971" r="26779"/>
          <a:stretch/>
        </p:blipFill>
        <p:spPr>
          <a:xfrm>
            <a:off x="0" y="0"/>
            <a:ext cx="2044700" cy="989613"/>
          </a:xfrm>
          <a:prstGeom prst="rect">
            <a:avLst/>
          </a:prstGeom>
        </p:spPr>
      </p:pic>
      <p:sp>
        <p:nvSpPr>
          <p:cNvPr id="2" name="Title 1">
            <a:extLst>
              <a:ext uri="{FF2B5EF4-FFF2-40B4-BE49-F238E27FC236}">
                <a16:creationId xmlns:a16="http://schemas.microsoft.com/office/drawing/2014/main" id="{2334430F-5A5E-5D4B-4BC7-884289535A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82327C-9D0F-B15E-C5AE-0B4402F1F54D}"/>
              </a:ext>
            </a:extLst>
          </p:cNvPr>
          <p:cNvSpPr>
            <a:spLocks noGrp="1"/>
          </p:cNvSpPr>
          <p:nvPr>
            <p:ph idx="1"/>
          </p:nvPr>
        </p:nvSpPr>
        <p:spPr>
          <a:xfrm>
            <a:off x="838200" y="1825625"/>
            <a:ext cx="48768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B656B8F-F397-B870-64C7-260815F62451}"/>
              </a:ext>
            </a:extLst>
          </p:cNvPr>
          <p:cNvSpPr>
            <a:spLocks noGrp="1"/>
          </p:cNvSpPr>
          <p:nvPr>
            <p:ph type="ftr" sz="quarter" idx="11"/>
          </p:nvPr>
        </p:nvSpPr>
        <p:spPr>
          <a:xfrm>
            <a:off x="6832600" y="6356350"/>
            <a:ext cx="4114800" cy="365125"/>
          </a:xfrm>
        </p:spPr>
        <p:txBody>
          <a:bodyPr/>
          <a:lstStyle>
            <a:lvl1pPr algn="r">
              <a:defRPr>
                <a:solidFill>
                  <a:schemeClr val="tx2"/>
                </a:solidFill>
              </a:defRPr>
            </a:lvl1pPr>
          </a:lstStyle>
          <a:p>
            <a:r>
              <a:rPr lang="en-US"/>
              <a:t>GEORGE MASON UNIVERSITY</a:t>
            </a:r>
          </a:p>
        </p:txBody>
      </p:sp>
      <p:sp>
        <p:nvSpPr>
          <p:cNvPr id="6" name="Slide Number Placeholder 5">
            <a:extLst>
              <a:ext uri="{FF2B5EF4-FFF2-40B4-BE49-F238E27FC236}">
                <a16:creationId xmlns:a16="http://schemas.microsoft.com/office/drawing/2014/main" id="{919B4960-F59B-CF95-3858-F7F56D5011FC}"/>
              </a:ext>
            </a:extLst>
          </p:cNvPr>
          <p:cNvSpPr>
            <a:spLocks noGrp="1"/>
          </p:cNvSpPr>
          <p:nvPr>
            <p:ph type="sldNum" sz="quarter" idx="12"/>
          </p:nvPr>
        </p:nvSpPr>
        <p:spPr>
          <a:xfrm>
            <a:off x="10947400" y="6356350"/>
            <a:ext cx="406400" cy="365125"/>
          </a:xfrm>
        </p:spPr>
        <p:txBody>
          <a:bodyPr/>
          <a:lstStyle>
            <a:lvl1pPr>
              <a:defRPr>
                <a:solidFill>
                  <a:schemeClr val="tx2"/>
                </a:solidFill>
              </a:defRPr>
            </a:lvl1pPr>
          </a:lstStyle>
          <a:p>
            <a:fld id="{944FE883-4AC6-394B-8129-6E4BB686DB20}" type="slidenum">
              <a:rPr lang="en-US" smtClean="0"/>
              <a:pPr/>
              <a:t>‹#›</a:t>
            </a:fld>
            <a:endParaRPr lang="en-US"/>
          </a:p>
        </p:txBody>
      </p:sp>
      <p:sp>
        <p:nvSpPr>
          <p:cNvPr id="7" name="Content Placeholder 6">
            <a:extLst>
              <a:ext uri="{FF2B5EF4-FFF2-40B4-BE49-F238E27FC236}">
                <a16:creationId xmlns:a16="http://schemas.microsoft.com/office/drawing/2014/main" id="{8A07B2B8-372A-822A-3B45-E45E06B6D59A}"/>
              </a:ext>
            </a:extLst>
          </p:cNvPr>
          <p:cNvSpPr>
            <a:spLocks noGrp="1"/>
          </p:cNvSpPr>
          <p:nvPr>
            <p:ph sz="quarter" idx="13"/>
          </p:nvPr>
        </p:nvSpPr>
        <p:spPr>
          <a:xfrm>
            <a:off x="5930900" y="1825625"/>
            <a:ext cx="54229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170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95F78E-F4A5-005F-D143-98D0ABF950FA}"/>
              </a:ext>
            </a:extLst>
          </p:cNvPr>
          <p:cNvPicPr>
            <a:picLocks noChangeAspect="1"/>
          </p:cNvPicPr>
          <p:nvPr userDrawn="1"/>
        </p:nvPicPr>
        <p:blipFill rotWithShape="1">
          <a:blip r:embed="rId2"/>
          <a:srcRect l="22097" t="73191" r="26779"/>
          <a:stretch/>
        </p:blipFill>
        <p:spPr>
          <a:xfrm>
            <a:off x="5956300" y="-2875"/>
            <a:ext cx="2400300" cy="757385"/>
          </a:xfrm>
          <a:prstGeom prst="rect">
            <a:avLst/>
          </a:prstGeom>
        </p:spPr>
      </p:pic>
      <p:pic>
        <p:nvPicPr>
          <p:cNvPr id="9" name="Picture 8">
            <a:extLst>
              <a:ext uri="{FF2B5EF4-FFF2-40B4-BE49-F238E27FC236}">
                <a16:creationId xmlns:a16="http://schemas.microsoft.com/office/drawing/2014/main" id="{5A2F6515-D6D6-585C-70C8-97944CAA7084}"/>
              </a:ext>
            </a:extLst>
          </p:cNvPr>
          <p:cNvPicPr>
            <a:picLocks noChangeAspect="1"/>
          </p:cNvPicPr>
          <p:nvPr userDrawn="1"/>
        </p:nvPicPr>
        <p:blipFill rotWithShape="1">
          <a:blip r:embed="rId3"/>
          <a:srcRect l="-10100" t="-3420" r="27678" b="5864"/>
          <a:stretch/>
        </p:blipFill>
        <p:spPr>
          <a:xfrm>
            <a:off x="11019637" y="5562599"/>
            <a:ext cx="1172363" cy="1325563"/>
          </a:xfrm>
          <a:prstGeom prst="rect">
            <a:avLst/>
          </a:prstGeom>
        </p:spPr>
      </p:pic>
      <p:sp>
        <p:nvSpPr>
          <p:cNvPr id="2" name="Title 1">
            <a:extLst>
              <a:ext uri="{FF2B5EF4-FFF2-40B4-BE49-F238E27FC236}">
                <a16:creationId xmlns:a16="http://schemas.microsoft.com/office/drawing/2014/main" id="{2334430F-5A5E-5D4B-4BC7-884289535AD9}"/>
              </a:ext>
            </a:extLst>
          </p:cNvPr>
          <p:cNvSpPr>
            <a:spLocks noGrp="1"/>
          </p:cNvSpPr>
          <p:nvPr>
            <p:ph type="title"/>
          </p:nvPr>
        </p:nvSpPr>
        <p:spPr>
          <a:xfrm>
            <a:off x="7239000" y="890886"/>
            <a:ext cx="46863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482327C-9D0F-B15E-C5AE-0B4402F1F54D}"/>
              </a:ext>
            </a:extLst>
          </p:cNvPr>
          <p:cNvSpPr>
            <a:spLocks noGrp="1"/>
          </p:cNvSpPr>
          <p:nvPr>
            <p:ph idx="1"/>
          </p:nvPr>
        </p:nvSpPr>
        <p:spPr>
          <a:xfrm>
            <a:off x="0" y="0"/>
            <a:ext cx="6311900" cy="685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B656B8F-F397-B870-64C7-260815F62451}"/>
              </a:ext>
            </a:extLst>
          </p:cNvPr>
          <p:cNvSpPr>
            <a:spLocks noGrp="1"/>
          </p:cNvSpPr>
          <p:nvPr>
            <p:ph type="ftr" sz="quarter" idx="11"/>
          </p:nvPr>
        </p:nvSpPr>
        <p:spPr>
          <a:xfrm>
            <a:off x="6832600" y="6356350"/>
            <a:ext cx="4114800" cy="365125"/>
          </a:xfrm>
        </p:spPr>
        <p:txBody>
          <a:bodyPr/>
          <a:lstStyle>
            <a:lvl1pPr algn="r">
              <a:defRPr>
                <a:solidFill>
                  <a:schemeClr val="tx2"/>
                </a:solidFill>
              </a:defRPr>
            </a:lvl1pPr>
          </a:lstStyle>
          <a:p>
            <a:r>
              <a:rPr lang="en-US"/>
              <a:t>GEORGE MASON UNIVERSITY</a:t>
            </a:r>
          </a:p>
        </p:txBody>
      </p:sp>
      <p:sp>
        <p:nvSpPr>
          <p:cNvPr id="6" name="Slide Number Placeholder 5">
            <a:extLst>
              <a:ext uri="{FF2B5EF4-FFF2-40B4-BE49-F238E27FC236}">
                <a16:creationId xmlns:a16="http://schemas.microsoft.com/office/drawing/2014/main" id="{919B4960-F59B-CF95-3858-F7F56D5011FC}"/>
              </a:ext>
            </a:extLst>
          </p:cNvPr>
          <p:cNvSpPr>
            <a:spLocks noGrp="1"/>
          </p:cNvSpPr>
          <p:nvPr>
            <p:ph type="sldNum" sz="quarter" idx="12"/>
          </p:nvPr>
        </p:nvSpPr>
        <p:spPr>
          <a:xfrm>
            <a:off x="10947400" y="6356350"/>
            <a:ext cx="406400" cy="365125"/>
          </a:xfrm>
        </p:spPr>
        <p:txBody>
          <a:bodyPr/>
          <a:lstStyle>
            <a:lvl1pPr>
              <a:defRPr>
                <a:solidFill>
                  <a:schemeClr val="tx2"/>
                </a:solidFill>
              </a:defRPr>
            </a:lvl1pPr>
          </a:lstStyle>
          <a:p>
            <a:fld id="{944FE883-4AC6-394B-8129-6E4BB686DB20}" type="slidenum">
              <a:rPr lang="en-US" smtClean="0"/>
              <a:pPr/>
              <a:t>‹#›</a:t>
            </a:fld>
            <a:endParaRPr lang="en-US"/>
          </a:p>
        </p:txBody>
      </p:sp>
      <p:sp>
        <p:nvSpPr>
          <p:cNvPr id="7" name="Content Placeholder 6">
            <a:extLst>
              <a:ext uri="{FF2B5EF4-FFF2-40B4-BE49-F238E27FC236}">
                <a16:creationId xmlns:a16="http://schemas.microsoft.com/office/drawing/2014/main" id="{8A07B2B8-372A-822A-3B45-E45E06B6D59A}"/>
              </a:ext>
            </a:extLst>
          </p:cNvPr>
          <p:cNvSpPr>
            <a:spLocks noGrp="1"/>
          </p:cNvSpPr>
          <p:nvPr>
            <p:ph sz="quarter" idx="13"/>
          </p:nvPr>
        </p:nvSpPr>
        <p:spPr>
          <a:xfrm>
            <a:off x="7239000" y="2489201"/>
            <a:ext cx="46863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1333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7B771-CD45-205F-806A-816788390E28}"/>
              </a:ext>
            </a:extLst>
          </p:cNvPr>
          <p:cNvSpPr>
            <a:spLocks noGrp="1"/>
          </p:cNvSpPr>
          <p:nvPr>
            <p:ph type="title"/>
          </p:nvPr>
        </p:nvSpPr>
        <p:spPr>
          <a:xfrm>
            <a:off x="6527800" y="2503174"/>
            <a:ext cx="4819650" cy="1267453"/>
          </a:xfrm>
        </p:spPr>
        <p:txBody>
          <a:bodyPr anchor="b">
            <a:normAutofit/>
          </a:bodyPr>
          <a:lstStyle>
            <a:lvl1pPr algn="r">
              <a:defRPr sz="4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D47E9AFD-F871-6540-2115-DB916F644689}"/>
              </a:ext>
            </a:extLst>
          </p:cNvPr>
          <p:cNvSpPr>
            <a:spLocks noGrp="1"/>
          </p:cNvSpPr>
          <p:nvPr>
            <p:ph type="body" idx="1"/>
          </p:nvPr>
        </p:nvSpPr>
        <p:spPr>
          <a:xfrm>
            <a:off x="6527800" y="3797615"/>
            <a:ext cx="4819650" cy="1500187"/>
          </a:xfrm>
        </p:spPr>
        <p:txBody>
          <a:bodyPr/>
          <a:lstStyle>
            <a:lvl1pPr marL="0" indent="0" algn="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a:extLst>
              <a:ext uri="{FF2B5EF4-FFF2-40B4-BE49-F238E27FC236}">
                <a16:creationId xmlns:a16="http://schemas.microsoft.com/office/drawing/2014/main" id="{A21765A9-74CD-CC1E-48E3-3A53C4270309}"/>
              </a:ext>
            </a:extLst>
          </p:cNvPr>
          <p:cNvPicPr>
            <a:picLocks noChangeAspect="1"/>
          </p:cNvPicPr>
          <p:nvPr userDrawn="1"/>
        </p:nvPicPr>
        <p:blipFill rotWithShape="1">
          <a:blip r:embed="rId2"/>
          <a:srcRect l="33259" t="9001" r="21570" b="78140"/>
          <a:stretch/>
        </p:blipFill>
        <p:spPr>
          <a:xfrm>
            <a:off x="8681059" y="6256631"/>
            <a:ext cx="3510941" cy="601370"/>
          </a:xfrm>
          <a:prstGeom prst="rect">
            <a:avLst/>
          </a:prstGeom>
        </p:spPr>
      </p:pic>
      <p:pic>
        <p:nvPicPr>
          <p:cNvPr id="9" name="Picture 8">
            <a:extLst>
              <a:ext uri="{FF2B5EF4-FFF2-40B4-BE49-F238E27FC236}">
                <a16:creationId xmlns:a16="http://schemas.microsoft.com/office/drawing/2014/main" id="{73D1F781-F4CE-AC60-F115-80945A7AEA69}"/>
              </a:ext>
            </a:extLst>
          </p:cNvPr>
          <p:cNvPicPr>
            <a:picLocks noChangeAspect="1"/>
          </p:cNvPicPr>
          <p:nvPr userDrawn="1"/>
        </p:nvPicPr>
        <p:blipFill rotWithShape="1">
          <a:blip r:embed="rId3">
            <a:alphaModFix amt="20000"/>
          </a:blip>
          <a:srcRect l="6365" r="1479"/>
          <a:stretch/>
        </p:blipFill>
        <p:spPr>
          <a:xfrm>
            <a:off x="-1435100" y="419100"/>
            <a:ext cx="8085811" cy="6985000"/>
          </a:xfrm>
          <a:prstGeom prst="rect">
            <a:avLst/>
          </a:prstGeom>
        </p:spPr>
      </p:pic>
      <p:pic>
        <p:nvPicPr>
          <p:cNvPr id="8" name="Picture 7">
            <a:extLst>
              <a:ext uri="{FF2B5EF4-FFF2-40B4-BE49-F238E27FC236}">
                <a16:creationId xmlns:a16="http://schemas.microsoft.com/office/drawing/2014/main" id="{9456F55E-839E-3694-5C2F-4668203B2C98}"/>
              </a:ext>
            </a:extLst>
          </p:cNvPr>
          <p:cNvPicPr>
            <a:picLocks noChangeAspect="1"/>
          </p:cNvPicPr>
          <p:nvPr userDrawn="1"/>
        </p:nvPicPr>
        <p:blipFill>
          <a:blip r:embed="rId4"/>
          <a:stretch>
            <a:fillRect/>
          </a:stretch>
        </p:blipFill>
        <p:spPr>
          <a:xfrm>
            <a:off x="7861300" y="276893"/>
            <a:ext cx="3773552" cy="1267453"/>
          </a:xfrm>
          <a:prstGeom prst="rect">
            <a:avLst/>
          </a:prstGeom>
        </p:spPr>
      </p:pic>
    </p:spTree>
    <p:extLst>
      <p:ext uri="{BB962C8B-B14F-4D97-AF65-F5344CB8AC3E}">
        <p14:creationId xmlns:p14="http://schemas.microsoft.com/office/powerpoint/2010/main" val="14054251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93000"/>
                <a:satMod val="150000"/>
                <a:shade val="98000"/>
                <a:lumMod val="102000"/>
              </a:schemeClr>
            </a:gs>
            <a:gs pos="36000">
              <a:schemeClr val="accent1"/>
            </a:gs>
            <a:gs pos="100000">
              <a:schemeClr val="bg2">
                <a:shade val="63000"/>
                <a:satMod val="120000"/>
              </a:schemeClr>
            </a:gs>
          </a:gsLst>
          <a:lin ang="135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3DD871-3B5C-C6B1-86B7-BAD5C9E026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15E8F-94C3-DEA7-72D7-43D974A556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33BC0-FF84-DF07-2D03-812433C8C8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0F68AE-1121-E34D-AB43-7EFA01D82E5E}" type="datetimeFigureOut">
              <a:rPr lang="en-US" smtClean="0"/>
              <a:t>5/1/2025</a:t>
            </a:fld>
            <a:endParaRPr lang="en-US"/>
          </a:p>
        </p:txBody>
      </p:sp>
      <p:sp>
        <p:nvSpPr>
          <p:cNvPr id="5" name="Footer Placeholder 4">
            <a:extLst>
              <a:ext uri="{FF2B5EF4-FFF2-40B4-BE49-F238E27FC236}">
                <a16:creationId xmlns:a16="http://schemas.microsoft.com/office/drawing/2014/main" id="{D9404D14-8F6B-6828-E58B-9590E68C80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3D5504E-6E70-6ECE-79C3-BCDDE83ED4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4FE883-4AC6-394B-8129-6E4BB686DB20}" type="slidenum">
              <a:rPr lang="en-US" smtClean="0"/>
              <a:t>‹#›</a:t>
            </a:fld>
            <a:endParaRPr lang="en-US"/>
          </a:p>
        </p:txBody>
      </p:sp>
    </p:spTree>
    <p:extLst>
      <p:ext uri="{BB962C8B-B14F-4D97-AF65-F5344CB8AC3E}">
        <p14:creationId xmlns:p14="http://schemas.microsoft.com/office/powerpoint/2010/main" val="2819475824"/>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4" r:id="rId3"/>
    <p:sldLayoutId id="2147483655" r:id="rId4"/>
    <p:sldLayoutId id="2147483651"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bin"/><Relationship Id="rId1" Type="http://schemas.microsoft.com/office/2007/relationships/media" Target="../media/media1.bin"/><Relationship Id="rId5" Type="http://schemas.openxmlformats.org/officeDocument/2006/relationships/image" Target="../media/image28.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slides/_rels/slide26.xml.rels><?xml version="1.0" encoding="UTF-8" standalone="yes"?>
<Relationships xmlns="http://schemas.openxmlformats.org/package/2006/relationships"><Relationship Id="rId8" Type="http://schemas.openxmlformats.org/officeDocument/2006/relationships/hyperlink" Target="https://github.com/facebookresearch/faiss" TargetMode="External"/><Relationship Id="rId3" Type="http://schemas.openxmlformats.org/officeDocument/2006/relationships/hyperlink" Target="https://huggingface.co/deepseek-ai" TargetMode="External"/><Relationship Id="rId7" Type="http://schemas.openxmlformats.org/officeDocument/2006/relationships/hyperlink" Target="https://gcc.gnu.org/"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s://ghidra-sre.org/" TargetMode="External"/><Relationship Id="rId5" Type="http://schemas.openxmlformats.org/officeDocument/2006/relationships/hyperlink" Target="https://rada.re/n/" TargetMode="External"/><Relationship Id="rId4" Type="http://schemas.openxmlformats.org/officeDocument/2006/relationships/hyperlink" Target="https://neo4j.com/"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8982B-9CD7-2F3B-7B40-4913DC64422A}"/>
              </a:ext>
            </a:extLst>
          </p:cNvPr>
          <p:cNvSpPr>
            <a:spLocks noGrp="1"/>
          </p:cNvSpPr>
          <p:nvPr>
            <p:ph type="ctrTitle"/>
          </p:nvPr>
        </p:nvSpPr>
        <p:spPr>
          <a:xfrm>
            <a:off x="746436" y="3039303"/>
            <a:ext cx="11224717" cy="1449811"/>
          </a:xfrm>
        </p:spPr>
        <p:txBody>
          <a:bodyPr>
            <a:normAutofit/>
          </a:bodyPr>
          <a:lstStyle/>
          <a:p>
            <a:r>
              <a:rPr lang="en-US" err="1">
                <a:solidFill>
                  <a:srgbClr val="FFFFFF"/>
                </a:solidFill>
                <a:latin typeface="Franklin Gothic Medium"/>
                <a:ea typeface="+mj-lt"/>
                <a:cs typeface="Times New Roman"/>
              </a:rPr>
              <a:t>GLeNN</a:t>
            </a:r>
            <a:r>
              <a:rPr lang="en-US">
                <a:solidFill>
                  <a:srgbClr val="FFFFFF"/>
                </a:solidFill>
                <a:latin typeface="Franklin Gothic Medium"/>
                <a:ea typeface="+mj-lt"/>
                <a:cs typeface="Times New Roman"/>
              </a:rPr>
              <a:t>: Generative Augmented Large Language</a:t>
            </a:r>
          </a:p>
          <a:p>
            <a:r>
              <a:rPr lang="en-US">
                <a:solidFill>
                  <a:srgbClr val="FFFFFF"/>
                </a:solidFill>
                <a:latin typeface="Franklin Gothic Medium"/>
                <a:ea typeface="+mj-lt"/>
                <a:cs typeface="Times New Roman"/>
              </a:rPr>
              <a:t>Models for Binary </a:t>
            </a:r>
            <a:r>
              <a:rPr lang="en-US" err="1">
                <a:solidFill>
                  <a:srgbClr val="FFFFFF"/>
                </a:solidFill>
                <a:latin typeface="Franklin Gothic Medium"/>
                <a:ea typeface="+mj-lt"/>
                <a:cs typeface="Times New Roman"/>
              </a:rPr>
              <a:t>Decompilation</a:t>
            </a:r>
            <a:endParaRPr lang="en-US" err="1"/>
          </a:p>
        </p:txBody>
      </p:sp>
      <p:sp>
        <p:nvSpPr>
          <p:cNvPr id="3" name="Subtitle 2">
            <a:extLst>
              <a:ext uri="{FF2B5EF4-FFF2-40B4-BE49-F238E27FC236}">
                <a16:creationId xmlns:a16="http://schemas.microsoft.com/office/drawing/2014/main" id="{EE65B958-4A47-BEDC-D7B7-4F6EFBE3A1A5}"/>
              </a:ext>
            </a:extLst>
          </p:cNvPr>
          <p:cNvSpPr>
            <a:spLocks noGrp="1"/>
          </p:cNvSpPr>
          <p:nvPr>
            <p:ph type="subTitle" idx="1"/>
          </p:nvPr>
        </p:nvSpPr>
        <p:spPr>
          <a:xfrm>
            <a:off x="-644561" y="5313311"/>
            <a:ext cx="5068866" cy="1655762"/>
          </a:xfrm>
        </p:spPr>
        <p:txBody>
          <a:bodyPr vert="horz" lIns="91440" tIns="45720" rIns="91440" bIns="45720" rtlCol="0" anchor="t">
            <a:normAutofit/>
          </a:bodyPr>
          <a:lstStyle/>
          <a:p>
            <a:pPr algn="ctr"/>
            <a:endParaRPr lang="en-US" sz="3600"/>
          </a:p>
          <a:p>
            <a:pPr algn="ctr"/>
            <a:r>
              <a:rPr lang="en-US" sz="3600">
                <a:solidFill>
                  <a:schemeClr val="tx1"/>
                </a:solidFill>
              </a:rPr>
              <a:t>4/24/2025</a:t>
            </a:r>
            <a:endParaRPr lang="en-US">
              <a:solidFill>
                <a:schemeClr val="tx1"/>
              </a:solidFill>
            </a:endParaRPr>
          </a:p>
        </p:txBody>
      </p:sp>
      <p:sp>
        <p:nvSpPr>
          <p:cNvPr id="4" name="Subtitle 2">
            <a:extLst>
              <a:ext uri="{FF2B5EF4-FFF2-40B4-BE49-F238E27FC236}">
                <a16:creationId xmlns:a16="http://schemas.microsoft.com/office/drawing/2014/main" id="{6C06385F-7AEE-42D5-0F6A-AD4D6BE36EDA}"/>
              </a:ext>
            </a:extLst>
          </p:cNvPr>
          <p:cNvSpPr txBox="1">
            <a:spLocks/>
          </p:cNvSpPr>
          <p:nvPr/>
        </p:nvSpPr>
        <p:spPr>
          <a:xfrm>
            <a:off x="6093277" y="4484255"/>
            <a:ext cx="3865419" cy="1655762"/>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ctr">
              <a:buChar char="•"/>
            </a:pPr>
            <a:endParaRPr lang="en-US" sz="1600">
              <a:solidFill>
                <a:schemeClr val="tx1"/>
              </a:solidFill>
            </a:endParaRPr>
          </a:p>
          <a:p>
            <a:pPr marL="342900" indent="-342900">
              <a:buFont typeface="Arial"/>
              <a:buChar char="•"/>
            </a:pPr>
            <a:r>
              <a:rPr lang="en-US" sz="1600">
                <a:solidFill>
                  <a:schemeClr val="tx1"/>
                </a:solidFill>
                <a:latin typeface="Helvetica"/>
                <a:cs typeface="Helvetica"/>
              </a:rPr>
              <a:t>Mack Bartsch</a:t>
            </a:r>
          </a:p>
          <a:p>
            <a:pPr marL="342900" indent="-342900">
              <a:buFont typeface="Arial"/>
              <a:buChar char="•"/>
            </a:pPr>
            <a:r>
              <a:rPr lang="en-US" sz="1600">
                <a:solidFill>
                  <a:schemeClr val="tx1"/>
                </a:solidFill>
                <a:latin typeface="Helvetica"/>
                <a:cs typeface="Helvetica"/>
              </a:rPr>
              <a:t>Bisesh Acharya</a:t>
            </a:r>
          </a:p>
          <a:p>
            <a:pPr marL="342900" indent="-342900">
              <a:buFont typeface="Arial"/>
              <a:buChar char="•"/>
            </a:pPr>
            <a:r>
              <a:rPr lang="en-US" sz="1600">
                <a:solidFill>
                  <a:schemeClr val="tx1"/>
                </a:solidFill>
                <a:latin typeface="Helvetica"/>
                <a:cs typeface="Helvetica"/>
              </a:rPr>
              <a:t>Craig</a:t>
            </a:r>
            <a:r>
              <a:rPr lang="en-US" sz="1600">
                <a:solidFill>
                  <a:schemeClr val="tx1"/>
                </a:solidFill>
                <a:effectLst/>
                <a:latin typeface="Helvetica"/>
                <a:cs typeface="Helvetica"/>
              </a:rPr>
              <a:t> Kimball</a:t>
            </a:r>
            <a:endParaRPr lang="en-US" sz="1600">
              <a:solidFill>
                <a:schemeClr val="tx1"/>
              </a:solidFill>
              <a:latin typeface="Helvetica"/>
              <a:cs typeface="Helvetica"/>
            </a:endParaRPr>
          </a:p>
          <a:p>
            <a:pPr marL="342900" indent="-342900">
              <a:buFont typeface="Arial"/>
              <a:buChar char="•"/>
            </a:pPr>
            <a:r>
              <a:rPr lang="en-US" sz="1600">
                <a:solidFill>
                  <a:schemeClr val="tx1"/>
                </a:solidFill>
                <a:effectLst/>
                <a:latin typeface="Helvetica"/>
                <a:cs typeface="Helvetica"/>
              </a:rPr>
              <a:t>Justin Rockwell</a:t>
            </a:r>
          </a:p>
          <a:p>
            <a:pPr marL="342900" indent="-342900">
              <a:buFont typeface="Arial"/>
              <a:buChar char="•"/>
            </a:pPr>
            <a:r>
              <a:rPr lang="en-US" sz="1600">
                <a:solidFill>
                  <a:schemeClr val="tx1"/>
                </a:solidFill>
                <a:effectLst/>
                <a:latin typeface="Helvetica"/>
                <a:cs typeface="Helvetica"/>
              </a:rPr>
              <a:t>Max </a:t>
            </a:r>
            <a:r>
              <a:rPr lang="en-US" sz="1600" err="1">
                <a:solidFill>
                  <a:schemeClr val="tx1"/>
                </a:solidFill>
                <a:effectLst/>
                <a:latin typeface="Helvetica"/>
                <a:cs typeface="Helvetica"/>
              </a:rPr>
              <a:t>Bedewi</a:t>
            </a:r>
            <a:endParaRPr lang="en-US" sz="1600">
              <a:solidFill>
                <a:schemeClr val="tx1"/>
              </a:solidFill>
              <a:effectLst/>
              <a:latin typeface="Helvetica"/>
              <a:cs typeface="Helvetica"/>
            </a:endParaRPr>
          </a:p>
          <a:p>
            <a:pPr marL="342900" indent="-342900">
              <a:buFont typeface="Arial"/>
              <a:buChar char="•"/>
            </a:pPr>
            <a:endParaRPr lang="en-US" sz="1600">
              <a:solidFill>
                <a:schemeClr val="tx1"/>
              </a:solidFill>
              <a:effectLst/>
              <a:latin typeface="Helvetica" pitchFamily="2" charset="0"/>
              <a:cs typeface="Helvetica"/>
            </a:endParaRPr>
          </a:p>
          <a:p>
            <a:pPr marL="285750" indent="-285750">
              <a:buChar char="•"/>
            </a:pPr>
            <a:endParaRPr lang="en-US" sz="1600">
              <a:solidFill>
                <a:schemeClr val="tx1"/>
              </a:solidFill>
              <a:effectLst/>
              <a:latin typeface="Helvetica" pitchFamily="2" charset="0"/>
              <a:cs typeface="Helvetica" pitchFamily="2" charset="0"/>
            </a:endParaRPr>
          </a:p>
        </p:txBody>
      </p:sp>
    </p:spTree>
    <p:extLst>
      <p:ext uri="{BB962C8B-B14F-4D97-AF65-F5344CB8AC3E}">
        <p14:creationId xmlns:p14="http://schemas.microsoft.com/office/powerpoint/2010/main" val="1765512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45E06E-E9AC-40EB-B194-C70DC3D84C69}"/>
              </a:ext>
            </a:extLst>
          </p:cNvPr>
          <p:cNvSpPr/>
          <p:nvPr/>
        </p:nvSpPr>
        <p:spPr>
          <a:xfrm>
            <a:off x="7694579" y="2051704"/>
            <a:ext cx="3975174" cy="2968755"/>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4E2FC1-4FDB-CC80-80CD-C19A3E6EA6C8}"/>
              </a:ext>
            </a:extLst>
          </p:cNvPr>
          <p:cNvSpPr>
            <a:spLocks noGrp="1"/>
          </p:cNvSpPr>
          <p:nvPr>
            <p:ph type="title"/>
          </p:nvPr>
        </p:nvSpPr>
        <p:spPr>
          <a:xfrm>
            <a:off x="838200" y="365125"/>
            <a:ext cx="10515600" cy="1325563"/>
          </a:xfrm>
        </p:spPr>
        <p:txBody>
          <a:bodyPr anchor="ctr">
            <a:normAutofit/>
          </a:bodyPr>
          <a:lstStyle/>
          <a:p>
            <a:r>
              <a:rPr lang="en-US"/>
              <a:t>Introduction</a:t>
            </a:r>
          </a:p>
        </p:txBody>
      </p:sp>
      <p:sp>
        <p:nvSpPr>
          <p:cNvPr id="3" name="Content Placeholder 2">
            <a:extLst>
              <a:ext uri="{FF2B5EF4-FFF2-40B4-BE49-F238E27FC236}">
                <a16:creationId xmlns:a16="http://schemas.microsoft.com/office/drawing/2014/main" id="{BC429465-17D0-B771-011A-7709A5F4674F}"/>
              </a:ext>
            </a:extLst>
          </p:cNvPr>
          <p:cNvSpPr>
            <a:spLocks noGrp="1"/>
          </p:cNvSpPr>
          <p:nvPr>
            <p:ph idx="1"/>
          </p:nvPr>
        </p:nvSpPr>
        <p:spPr>
          <a:xfrm>
            <a:off x="838200" y="1825625"/>
            <a:ext cx="6709611" cy="4351338"/>
          </a:xfrm>
        </p:spPr>
        <p:txBody>
          <a:bodyPr vert="horz" lIns="91440" tIns="45720" rIns="91440" bIns="45720" rtlCol="0" anchor="t">
            <a:normAutofit lnSpcReduction="10000"/>
          </a:bodyPr>
          <a:lstStyle/>
          <a:p>
            <a:r>
              <a:rPr lang="en-US"/>
              <a:t>Static reverse engineering is crucial for malware analysis, threat containment, and digital forensics</a:t>
            </a:r>
          </a:p>
          <a:p>
            <a:r>
              <a:rPr lang="en-US"/>
              <a:t>Manual techniques are precise but slow and rely on expert knowledge</a:t>
            </a:r>
          </a:p>
          <a:p>
            <a:r>
              <a:rPr lang="en-US"/>
              <a:t>Tools like Ghidra automate reverse engineering but struggle with optimized or obfuscated binaries</a:t>
            </a:r>
          </a:p>
          <a:p>
            <a:r>
              <a:rPr lang="en-US"/>
              <a:t>Our solution: </a:t>
            </a:r>
            <a:r>
              <a:rPr lang="en-US" err="1"/>
              <a:t>GLeNN</a:t>
            </a:r>
            <a:r>
              <a:rPr lang="en-US"/>
              <a:t> — combines retrieval with LLMs for smarter, safer decompilation</a:t>
            </a:r>
          </a:p>
        </p:txBody>
      </p:sp>
      <p:pic>
        <p:nvPicPr>
          <p:cNvPr id="5" name="Picture 4" descr="A black background with white text and symbols&#10;&#10;AI-generated content may be incorrect.">
            <a:extLst>
              <a:ext uri="{FF2B5EF4-FFF2-40B4-BE49-F238E27FC236}">
                <a16:creationId xmlns:a16="http://schemas.microsoft.com/office/drawing/2014/main" id="{2248A20D-33AF-0220-58F2-A5D66799F6DF}"/>
              </a:ext>
            </a:extLst>
          </p:cNvPr>
          <p:cNvPicPr>
            <a:picLocks noChangeAspect="1"/>
          </p:cNvPicPr>
          <p:nvPr/>
        </p:nvPicPr>
        <p:blipFill>
          <a:blip r:embed="rId3"/>
          <a:stretch>
            <a:fillRect/>
          </a:stretch>
        </p:blipFill>
        <p:spPr>
          <a:xfrm>
            <a:off x="7612857" y="2158381"/>
            <a:ext cx="4056896" cy="2862078"/>
          </a:xfrm>
          <a:prstGeom prst="rect">
            <a:avLst/>
          </a:prstGeom>
        </p:spPr>
      </p:pic>
    </p:spTree>
    <p:extLst>
      <p:ext uri="{BB962C8B-B14F-4D97-AF65-F5344CB8AC3E}">
        <p14:creationId xmlns:p14="http://schemas.microsoft.com/office/powerpoint/2010/main" val="131667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558C6-A2E0-B14E-021C-21442BC8D62C}"/>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8DFA3111-8943-9C93-1532-20C6118B37A6}"/>
              </a:ext>
            </a:extLst>
          </p:cNvPr>
          <p:cNvSpPr/>
          <p:nvPr/>
        </p:nvSpPr>
        <p:spPr>
          <a:xfrm>
            <a:off x="1824492" y="4975761"/>
            <a:ext cx="7861374" cy="163364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DDE406-0046-13AA-B606-05D057BAD759}"/>
              </a:ext>
            </a:extLst>
          </p:cNvPr>
          <p:cNvSpPr>
            <a:spLocks noGrp="1"/>
          </p:cNvSpPr>
          <p:nvPr>
            <p:ph type="title"/>
          </p:nvPr>
        </p:nvSpPr>
        <p:spPr/>
        <p:txBody>
          <a:bodyPr/>
          <a:lstStyle/>
          <a:p>
            <a:r>
              <a:rPr lang="en-US">
                <a:ea typeface="+mj-lt"/>
                <a:cs typeface="+mj-lt"/>
              </a:rPr>
              <a:t>Research Question</a:t>
            </a:r>
            <a:endParaRPr lang="en-US"/>
          </a:p>
        </p:txBody>
      </p:sp>
      <p:sp>
        <p:nvSpPr>
          <p:cNvPr id="3" name="Content Placeholder 2">
            <a:extLst>
              <a:ext uri="{FF2B5EF4-FFF2-40B4-BE49-F238E27FC236}">
                <a16:creationId xmlns:a16="http://schemas.microsoft.com/office/drawing/2014/main" id="{E335A87F-0824-FA33-C43F-D46A7EC994E5}"/>
              </a:ext>
            </a:extLst>
          </p:cNvPr>
          <p:cNvSpPr>
            <a:spLocks noGrp="1"/>
          </p:cNvSpPr>
          <p:nvPr>
            <p:ph idx="1"/>
          </p:nvPr>
        </p:nvSpPr>
        <p:spPr>
          <a:xfrm>
            <a:off x="935566" y="2226931"/>
            <a:ext cx="10320867" cy="2646636"/>
          </a:xfrm>
          <a:ln w="31750">
            <a:solidFill>
              <a:schemeClr val="tx1"/>
            </a:solidFill>
          </a:ln>
        </p:spPr>
        <p:txBody>
          <a:bodyPr vert="horz" lIns="457200" tIns="45720" rIns="457200" bIns="45720" rtlCol="0" anchor="ctr" anchorCtr="0">
            <a:normAutofit/>
          </a:bodyPr>
          <a:lstStyle/>
          <a:p>
            <a:pPr marL="0" indent="0">
              <a:buNone/>
            </a:pPr>
            <a:r>
              <a:rPr lang="en-US" sz="3200"/>
              <a:t>Can the integration of a retrieval-augmented generation (RAG) pipeline improve the precision and completeness of LLM-based static reverse engineering when applied to compiled binaries?”</a:t>
            </a:r>
            <a:endParaRPr lang="en-US"/>
          </a:p>
        </p:txBody>
      </p:sp>
      <p:pic>
        <p:nvPicPr>
          <p:cNvPr id="7" name="Graphic 6" descr="Open quotation mark with solid fill">
            <a:extLst>
              <a:ext uri="{FF2B5EF4-FFF2-40B4-BE49-F238E27FC236}">
                <a16:creationId xmlns:a16="http://schemas.microsoft.com/office/drawing/2014/main" id="{02191706-D1B1-2017-63F8-CBA8541931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0663766" y="4297834"/>
            <a:ext cx="914400" cy="914400"/>
          </a:xfrm>
          <a:prstGeom prst="rect">
            <a:avLst/>
          </a:prstGeom>
        </p:spPr>
      </p:pic>
      <p:pic>
        <p:nvPicPr>
          <p:cNvPr id="9" name="Graphic 8" descr="Open quotation mark with solid fill">
            <a:extLst>
              <a:ext uri="{FF2B5EF4-FFF2-40B4-BE49-F238E27FC236}">
                <a16:creationId xmlns:a16="http://schemas.microsoft.com/office/drawing/2014/main" id="{D6B38406-9F22-096A-0C4C-4F536C773BE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3833" y="1888264"/>
            <a:ext cx="914400" cy="914400"/>
          </a:xfrm>
          <a:prstGeom prst="rect">
            <a:avLst/>
          </a:prstGeom>
        </p:spPr>
      </p:pic>
      <p:pic>
        <p:nvPicPr>
          <p:cNvPr id="8" name="Picture 7">
            <a:extLst>
              <a:ext uri="{FF2B5EF4-FFF2-40B4-BE49-F238E27FC236}">
                <a16:creationId xmlns:a16="http://schemas.microsoft.com/office/drawing/2014/main" id="{9430B3E0-FD6C-0B74-8D69-4CECD6E7249C}"/>
              </a:ext>
            </a:extLst>
          </p:cNvPr>
          <p:cNvPicPr>
            <a:picLocks noChangeAspect="1"/>
          </p:cNvPicPr>
          <p:nvPr/>
        </p:nvPicPr>
        <p:blipFill>
          <a:blip r:embed="rId5"/>
          <a:stretch>
            <a:fillRect/>
          </a:stretch>
        </p:blipFill>
        <p:spPr>
          <a:xfrm>
            <a:off x="1913466" y="4873567"/>
            <a:ext cx="7772400" cy="1735836"/>
          </a:xfrm>
          <a:prstGeom prst="rect">
            <a:avLst/>
          </a:prstGeom>
        </p:spPr>
      </p:pic>
    </p:spTree>
    <p:extLst>
      <p:ext uri="{BB962C8B-B14F-4D97-AF65-F5344CB8AC3E}">
        <p14:creationId xmlns:p14="http://schemas.microsoft.com/office/powerpoint/2010/main" val="1469330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0CBC3-FAAF-FF02-307C-5F6364D974C6}"/>
              </a:ext>
            </a:extLst>
          </p:cNvPr>
          <p:cNvSpPr>
            <a:spLocks noGrp="1"/>
          </p:cNvSpPr>
          <p:nvPr>
            <p:ph type="title"/>
          </p:nvPr>
        </p:nvSpPr>
        <p:spPr/>
        <p:txBody>
          <a:bodyPr/>
          <a:lstStyle/>
          <a:p>
            <a:r>
              <a:rPr lang="en-US"/>
              <a:t>Achievements</a:t>
            </a:r>
          </a:p>
        </p:txBody>
      </p:sp>
      <p:sp>
        <p:nvSpPr>
          <p:cNvPr id="3" name="Content Placeholder 2">
            <a:extLst>
              <a:ext uri="{FF2B5EF4-FFF2-40B4-BE49-F238E27FC236}">
                <a16:creationId xmlns:a16="http://schemas.microsoft.com/office/drawing/2014/main" id="{DDBFBA59-D948-A29F-C89B-64B5935D6EA0}"/>
              </a:ext>
            </a:extLst>
          </p:cNvPr>
          <p:cNvSpPr>
            <a:spLocks noGrp="1"/>
          </p:cNvSpPr>
          <p:nvPr>
            <p:ph idx="1"/>
          </p:nvPr>
        </p:nvSpPr>
        <p:spPr>
          <a:xfrm>
            <a:off x="838200" y="1825625"/>
            <a:ext cx="8222673" cy="4351338"/>
          </a:xfrm>
        </p:spPr>
        <p:txBody>
          <a:bodyPr vert="horz" lIns="91440" tIns="45720" rIns="91440" bIns="45720" rtlCol="0" anchor="t">
            <a:normAutofit/>
          </a:bodyPr>
          <a:lstStyle/>
          <a:p>
            <a:r>
              <a:rPr lang="en-US" sz="3200" b="1"/>
              <a:t>35 pp increase over LLM4Decompile</a:t>
            </a:r>
          </a:p>
          <a:p>
            <a:r>
              <a:rPr lang="en-US"/>
              <a:t>Two-pass</a:t>
            </a:r>
            <a:r>
              <a:rPr lang="en-US">
                <a:ea typeface="+mn-lt"/>
                <a:cs typeface="+mn-lt"/>
              </a:rPr>
              <a:t> Neo4j retrieval (vector + GED) </a:t>
            </a:r>
            <a:r>
              <a:rPr lang="en-US">
                <a:solidFill>
                  <a:srgbClr val="FFFFFF"/>
                </a:solidFill>
                <a:latin typeface="Franklin Gothic Book"/>
                <a:ea typeface="+mn-lt"/>
                <a:cs typeface="Times New Roman"/>
              </a:rPr>
              <a:t>→ </a:t>
            </a:r>
            <a:r>
              <a:rPr lang="en-US">
                <a:ea typeface="+mn-lt"/>
                <a:cs typeface="+mn-lt"/>
              </a:rPr>
              <a:t>cuts down on LLM hallucinations</a:t>
            </a:r>
            <a:endParaRPr lang="en-US"/>
          </a:p>
          <a:p>
            <a:r>
              <a:rPr lang="en-US"/>
              <a:t>Proved</a:t>
            </a:r>
            <a:r>
              <a:rPr lang="en-US">
                <a:ea typeface="+mn-lt"/>
                <a:cs typeface="+mn-lt"/>
              </a:rPr>
              <a:t> that RAG enabled LLMs greatly enhance static decompilation precision &amp; completeness</a:t>
            </a:r>
          </a:p>
          <a:p>
            <a:r>
              <a:rPr lang="en-US"/>
              <a:t>Fully open source and available on GitHub</a:t>
            </a:r>
          </a:p>
          <a:p>
            <a:endParaRPr lang="en-US"/>
          </a:p>
        </p:txBody>
      </p:sp>
      <p:pic>
        <p:nvPicPr>
          <p:cNvPr id="5" name="Picture 4">
            <a:extLst>
              <a:ext uri="{FF2B5EF4-FFF2-40B4-BE49-F238E27FC236}">
                <a16:creationId xmlns:a16="http://schemas.microsoft.com/office/drawing/2014/main" id="{536D42CD-6C30-0FDB-33FD-2AB338B7C615}"/>
              </a:ext>
            </a:extLst>
          </p:cNvPr>
          <p:cNvPicPr>
            <a:picLocks noChangeAspect="1"/>
          </p:cNvPicPr>
          <p:nvPr/>
        </p:nvPicPr>
        <p:blipFill>
          <a:blip r:embed="rId3"/>
          <a:stretch>
            <a:fillRect/>
          </a:stretch>
        </p:blipFill>
        <p:spPr>
          <a:xfrm>
            <a:off x="9318666" y="2893295"/>
            <a:ext cx="2177638" cy="2467990"/>
          </a:xfrm>
          <a:prstGeom prst="rect">
            <a:avLst/>
          </a:prstGeom>
        </p:spPr>
      </p:pic>
    </p:spTree>
    <p:extLst>
      <p:ext uri="{BB962C8B-B14F-4D97-AF65-F5344CB8AC3E}">
        <p14:creationId xmlns:p14="http://schemas.microsoft.com/office/powerpoint/2010/main" val="197315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54210-5591-1CFA-7B38-5549D1D44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1CB99-1283-B8AF-C2B9-8721E07462C8}"/>
              </a:ext>
            </a:extLst>
          </p:cNvPr>
          <p:cNvSpPr>
            <a:spLocks noGrp="1"/>
          </p:cNvSpPr>
          <p:nvPr>
            <p:ph type="title"/>
          </p:nvPr>
        </p:nvSpPr>
        <p:spPr/>
        <p:txBody>
          <a:bodyPr/>
          <a:lstStyle/>
          <a:p>
            <a:r>
              <a:rPr lang="en-US"/>
              <a:t>Key Challenges</a:t>
            </a:r>
          </a:p>
        </p:txBody>
      </p:sp>
      <p:sp>
        <p:nvSpPr>
          <p:cNvPr id="3" name="Content Placeholder 2">
            <a:extLst>
              <a:ext uri="{FF2B5EF4-FFF2-40B4-BE49-F238E27FC236}">
                <a16:creationId xmlns:a16="http://schemas.microsoft.com/office/drawing/2014/main" id="{BC6B191B-4503-2222-9C03-B6A6D36DF19E}"/>
              </a:ext>
            </a:extLst>
          </p:cNvPr>
          <p:cNvSpPr>
            <a:spLocks noGrp="1"/>
          </p:cNvSpPr>
          <p:nvPr>
            <p:ph idx="1"/>
          </p:nvPr>
        </p:nvSpPr>
        <p:spPr/>
        <p:txBody>
          <a:bodyPr vert="horz" lIns="91440" tIns="45720" rIns="91440" bIns="45720" rtlCol="0" anchor="t">
            <a:normAutofit/>
          </a:bodyPr>
          <a:lstStyle/>
          <a:p>
            <a:r>
              <a:rPr lang="en-US">
                <a:ea typeface="+mn-lt"/>
                <a:cs typeface="+mn-lt"/>
              </a:rPr>
              <a:t>LLMs hallucinate or oversimplify logic</a:t>
            </a:r>
          </a:p>
          <a:p>
            <a:r>
              <a:rPr lang="en-US">
                <a:ea typeface="+mn-lt"/>
                <a:cs typeface="+mn-lt"/>
              </a:rPr>
              <a:t>Context-free predictions often miss intent</a:t>
            </a:r>
          </a:p>
          <a:p>
            <a:r>
              <a:rPr lang="en-US">
                <a:ea typeface="+mn-lt"/>
                <a:cs typeface="+mn-lt"/>
              </a:rPr>
              <a:t>Obfuscation complicates analysis</a:t>
            </a:r>
          </a:p>
          <a:p>
            <a:r>
              <a:rPr lang="en-US">
                <a:ea typeface="+mn-lt"/>
                <a:cs typeface="+mn-lt"/>
              </a:rPr>
              <a:t>Existing tools still require manual cleanup</a:t>
            </a:r>
          </a:p>
          <a:p>
            <a:r>
              <a:rPr lang="en-US">
                <a:ea typeface="+mn-lt"/>
                <a:cs typeface="+mn-lt"/>
              </a:rPr>
              <a:t>RAG provides structural grounding, reducing hallucinations and improving accuracy.</a:t>
            </a:r>
          </a:p>
          <a:p>
            <a:endParaRPr lang="en-US"/>
          </a:p>
        </p:txBody>
      </p:sp>
    </p:spTree>
    <p:extLst>
      <p:ext uri="{BB962C8B-B14F-4D97-AF65-F5344CB8AC3E}">
        <p14:creationId xmlns:p14="http://schemas.microsoft.com/office/powerpoint/2010/main" val="1132264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30D26-4795-3449-7735-6AF9CB6345A7}"/>
              </a:ext>
            </a:extLst>
          </p:cNvPr>
          <p:cNvSpPr>
            <a:spLocks noGrp="1"/>
          </p:cNvSpPr>
          <p:nvPr>
            <p:ph type="title"/>
          </p:nvPr>
        </p:nvSpPr>
        <p:spPr/>
        <p:txBody>
          <a:bodyPr/>
          <a:lstStyle/>
          <a:p>
            <a:r>
              <a:rPr lang="en-US"/>
              <a:t>Our Approach</a:t>
            </a:r>
          </a:p>
        </p:txBody>
      </p:sp>
      <p:sp>
        <p:nvSpPr>
          <p:cNvPr id="3" name="Content Placeholder 2">
            <a:extLst>
              <a:ext uri="{FF2B5EF4-FFF2-40B4-BE49-F238E27FC236}">
                <a16:creationId xmlns:a16="http://schemas.microsoft.com/office/drawing/2014/main" id="{7E140180-7624-68AE-B618-15B28EE2DD28}"/>
              </a:ext>
            </a:extLst>
          </p:cNvPr>
          <p:cNvSpPr>
            <a:spLocks noGrp="1"/>
          </p:cNvSpPr>
          <p:nvPr>
            <p:ph idx="1"/>
          </p:nvPr>
        </p:nvSpPr>
        <p:spPr/>
        <p:txBody>
          <a:bodyPr vert="horz" lIns="91440" tIns="45720" rIns="91440" bIns="45720" rtlCol="0" anchor="t">
            <a:normAutofit/>
          </a:bodyPr>
          <a:lstStyle/>
          <a:p>
            <a:pPr>
              <a:buFont typeface="Arial" pitchFamily="2" charset="2"/>
              <a:buChar char="•"/>
            </a:pPr>
            <a:r>
              <a:rPr lang="en-US">
                <a:ea typeface="+mn-lt"/>
                <a:cs typeface="+mn-lt"/>
              </a:rPr>
              <a:t>Developed </a:t>
            </a:r>
            <a:r>
              <a:rPr lang="en-US" err="1">
                <a:ea typeface="+mn-lt"/>
                <a:cs typeface="+mn-lt"/>
              </a:rPr>
              <a:t>GLeNN</a:t>
            </a:r>
            <a:r>
              <a:rPr lang="en-US">
                <a:ea typeface="+mn-lt"/>
                <a:cs typeface="+mn-lt"/>
              </a:rPr>
              <a:t>: first system combining graph-edit similarity with LLM-based decompilation.</a:t>
            </a:r>
            <a:endParaRPr lang="en-US"/>
          </a:p>
          <a:p>
            <a:pPr>
              <a:buFont typeface="Arial" pitchFamily="2" charset="2"/>
              <a:buChar char="•"/>
            </a:pPr>
            <a:r>
              <a:rPr lang="en-US">
                <a:ea typeface="+mn-lt"/>
                <a:cs typeface="+mn-lt"/>
              </a:rPr>
              <a:t>Introduced a two-pass retrieval pipeline using vector and GED-based filtering.</a:t>
            </a:r>
            <a:endParaRPr lang="en-US"/>
          </a:p>
          <a:p>
            <a:pPr>
              <a:buFont typeface="Arial" pitchFamily="2" charset="2"/>
              <a:buChar char="•"/>
            </a:pPr>
            <a:r>
              <a:rPr lang="en-US">
                <a:ea typeface="+mn-lt"/>
                <a:cs typeface="+mn-lt"/>
              </a:rPr>
              <a:t>Constructed a graph database (Neo4j) of 25,000+ C function CFGs.</a:t>
            </a:r>
            <a:endParaRPr lang="en-US"/>
          </a:p>
          <a:p>
            <a:r>
              <a:rPr lang="en-US" sz="2800" b="1"/>
              <a:t>35 pp increase over LLM4Decompile</a:t>
            </a:r>
          </a:p>
          <a:p>
            <a:pPr>
              <a:buFont typeface="Arial" pitchFamily="2" charset="2"/>
              <a:buChar char="•"/>
            </a:pPr>
            <a:endParaRPr lang="en-US"/>
          </a:p>
        </p:txBody>
      </p:sp>
    </p:spTree>
    <p:extLst>
      <p:ext uri="{BB962C8B-B14F-4D97-AF65-F5344CB8AC3E}">
        <p14:creationId xmlns:p14="http://schemas.microsoft.com/office/powerpoint/2010/main" val="2694582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EDD37-9E7F-D820-0939-E772706DE42D}"/>
              </a:ext>
            </a:extLst>
          </p:cNvPr>
          <p:cNvSpPr>
            <a:spLocks noGrp="1"/>
          </p:cNvSpPr>
          <p:nvPr>
            <p:ph type="title"/>
          </p:nvPr>
        </p:nvSpPr>
        <p:spPr>
          <a:xfrm>
            <a:off x="838200" y="365125"/>
            <a:ext cx="10515600" cy="1325563"/>
          </a:xfrm>
        </p:spPr>
        <p:txBody>
          <a:bodyPr anchor="ctr">
            <a:normAutofit/>
          </a:bodyPr>
          <a:lstStyle/>
          <a:p>
            <a:r>
              <a:rPr lang="en-US"/>
              <a:t>Related Work</a:t>
            </a:r>
          </a:p>
        </p:txBody>
      </p:sp>
      <p:sp>
        <p:nvSpPr>
          <p:cNvPr id="3" name="Content Placeholder 2">
            <a:extLst>
              <a:ext uri="{FF2B5EF4-FFF2-40B4-BE49-F238E27FC236}">
                <a16:creationId xmlns:a16="http://schemas.microsoft.com/office/drawing/2014/main" id="{CFFE56DF-8240-6E02-392D-4E77651C00C6}"/>
              </a:ext>
            </a:extLst>
          </p:cNvPr>
          <p:cNvSpPr>
            <a:spLocks noGrp="1"/>
          </p:cNvSpPr>
          <p:nvPr>
            <p:ph idx="1"/>
          </p:nvPr>
        </p:nvSpPr>
        <p:spPr>
          <a:xfrm>
            <a:off x="838200" y="1825625"/>
            <a:ext cx="4876800" cy="4351338"/>
          </a:xfrm>
        </p:spPr>
        <p:txBody>
          <a:bodyPr vert="horz" lIns="91440" tIns="45720" rIns="91440" bIns="45720" rtlCol="0" anchor="t">
            <a:normAutofit/>
          </a:bodyPr>
          <a:lstStyle/>
          <a:p>
            <a:r>
              <a:rPr lang="en-US" sz="2400" b="1"/>
              <a:t>Static Tools</a:t>
            </a:r>
            <a:r>
              <a:rPr lang="en-US" sz="2400"/>
              <a:t>: Ghidra, IDA Pro: Fast but semantically weak</a:t>
            </a:r>
          </a:p>
          <a:p>
            <a:r>
              <a:rPr lang="en-US" sz="2400" b="1"/>
              <a:t>LLMs</a:t>
            </a:r>
            <a:r>
              <a:rPr lang="en-US" sz="2400"/>
              <a:t>: </a:t>
            </a:r>
          </a:p>
          <a:p>
            <a:pPr lvl="1"/>
            <a:r>
              <a:rPr lang="en-US"/>
              <a:t>LLM4Decompile:High-level translation, suffers hallucination</a:t>
            </a:r>
          </a:p>
          <a:p>
            <a:pPr lvl="1"/>
            <a:r>
              <a:rPr lang="en-US"/>
              <a:t>DeepSeek R1: State of the Art model available to the public</a:t>
            </a:r>
          </a:p>
          <a:p>
            <a:r>
              <a:rPr lang="en-US" sz="2400" b="1"/>
              <a:t>Control Flow Graph (CFG)</a:t>
            </a:r>
            <a:r>
              <a:rPr lang="en-US" sz="2400"/>
              <a:t>: Capture logic structure for better retrieval guidance</a:t>
            </a:r>
          </a:p>
          <a:p>
            <a:endParaRPr lang="en-US" sz="2400"/>
          </a:p>
        </p:txBody>
      </p:sp>
      <p:pic>
        <p:nvPicPr>
          <p:cNvPr id="5" name="Picture 4">
            <a:extLst>
              <a:ext uri="{FF2B5EF4-FFF2-40B4-BE49-F238E27FC236}">
                <a16:creationId xmlns:a16="http://schemas.microsoft.com/office/drawing/2014/main" id="{0E1266DC-763D-FC97-E130-467D4EAE2A4C}"/>
              </a:ext>
            </a:extLst>
          </p:cNvPr>
          <p:cNvPicPr>
            <a:picLocks noChangeAspect="1"/>
          </p:cNvPicPr>
          <p:nvPr/>
        </p:nvPicPr>
        <p:blipFill>
          <a:blip r:embed="rId3"/>
          <a:stretch>
            <a:fillRect/>
          </a:stretch>
        </p:blipFill>
        <p:spPr>
          <a:xfrm>
            <a:off x="7812279" y="1027906"/>
            <a:ext cx="3051370" cy="2064162"/>
          </a:xfrm>
          <a:prstGeom prst="rect">
            <a:avLst/>
          </a:prstGeom>
        </p:spPr>
      </p:pic>
      <p:pic>
        <p:nvPicPr>
          <p:cNvPr id="12" name="Picture 11">
            <a:extLst>
              <a:ext uri="{FF2B5EF4-FFF2-40B4-BE49-F238E27FC236}">
                <a16:creationId xmlns:a16="http://schemas.microsoft.com/office/drawing/2014/main" id="{8294D8D9-1D0C-4567-F5B9-C9BD333DE36C}"/>
              </a:ext>
            </a:extLst>
          </p:cNvPr>
          <p:cNvPicPr>
            <a:picLocks noChangeAspect="1"/>
          </p:cNvPicPr>
          <p:nvPr/>
        </p:nvPicPr>
        <p:blipFill>
          <a:blip r:embed="rId4"/>
          <a:stretch>
            <a:fillRect/>
          </a:stretch>
        </p:blipFill>
        <p:spPr>
          <a:xfrm>
            <a:off x="7420264" y="3429000"/>
            <a:ext cx="3835400" cy="635000"/>
          </a:xfrm>
          <a:prstGeom prst="rect">
            <a:avLst/>
          </a:prstGeom>
        </p:spPr>
      </p:pic>
      <p:pic>
        <p:nvPicPr>
          <p:cNvPr id="14" name="Picture 13">
            <a:extLst>
              <a:ext uri="{FF2B5EF4-FFF2-40B4-BE49-F238E27FC236}">
                <a16:creationId xmlns:a16="http://schemas.microsoft.com/office/drawing/2014/main" id="{B0D2B1E9-A502-C548-70CA-3BEC8278EAEB}"/>
              </a:ext>
            </a:extLst>
          </p:cNvPr>
          <p:cNvPicPr>
            <a:picLocks noChangeAspect="1"/>
          </p:cNvPicPr>
          <p:nvPr/>
        </p:nvPicPr>
        <p:blipFill>
          <a:blip r:embed="rId5"/>
          <a:stretch>
            <a:fillRect/>
          </a:stretch>
        </p:blipFill>
        <p:spPr>
          <a:xfrm>
            <a:off x="8607880" y="4400932"/>
            <a:ext cx="1628651" cy="1628651"/>
          </a:xfrm>
          <a:prstGeom prst="rect">
            <a:avLst/>
          </a:prstGeom>
        </p:spPr>
      </p:pic>
    </p:spTree>
    <p:extLst>
      <p:ext uri="{BB962C8B-B14F-4D97-AF65-F5344CB8AC3E}">
        <p14:creationId xmlns:p14="http://schemas.microsoft.com/office/powerpoint/2010/main" val="2132302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6436F-8380-A1AD-CBEF-D220936256D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6017613-4597-C2B4-3F59-2E41454464A5}"/>
              </a:ext>
            </a:extLst>
          </p:cNvPr>
          <p:cNvSpPr/>
          <p:nvPr/>
        </p:nvSpPr>
        <p:spPr>
          <a:xfrm>
            <a:off x="6316723" y="1477772"/>
            <a:ext cx="5384318" cy="472873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B01302-D67E-C0D6-1514-AF57733ADEA2}"/>
              </a:ext>
            </a:extLst>
          </p:cNvPr>
          <p:cNvSpPr>
            <a:spLocks noGrp="1"/>
          </p:cNvSpPr>
          <p:nvPr>
            <p:ph type="title"/>
          </p:nvPr>
        </p:nvSpPr>
        <p:spPr/>
        <p:txBody>
          <a:bodyPr/>
          <a:lstStyle/>
          <a:p>
            <a:r>
              <a:rPr lang="en-US"/>
              <a:t>Experiment 1 – Vector Embeddings</a:t>
            </a:r>
          </a:p>
        </p:txBody>
      </p:sp>
      <p:sp>
        <p:nvSpPr>
          <p:cNvPr id="3" name="Content Placeholder 2">
            <a:extLst>
              <a:ext uri="{FF2B5EF4-FFF2-40B4-BE49-F238E27FC236}">
                <a16:creationId xmlns:a16="http://schemas.microsoft.com/office/drawing/2014/main" id="{F8E07593-6E56-DCF7-C80F-8314855A913E}"/>
              </a:ext>
            </a:extLst>
          </p:cNvPr>
          <p:cNvSpPr>
            <a:spLocks noGrp="1"/>
          </p:cNvSpPr>
          <p:nvPr>
            <p:ph idx="1"/>
          </p:nvPr>
        </p:nvSpPr>
        <p:spPr>
          <a:xfrm>
            <a:off x="838200" y="1825625"/>
            <a:ext cx="5498592" cy="4351338"/>
          </a:xfrm>
        </p:spPr>
        <p:txBody>
          <a:bodyPr vert="horz" lIns="91440" tIns="45720" rIns="91440" bIns="45720" rtlCol="0" anchor="t">
            <a:normAutofit/>
          </a:bodyPr>
          <a:lstStyle/>
          <a:p>
            <a:pPr marL="0" indent="0">
              <a:buNone/>
            </a:pPr>
            <a:r>
              <a:rPr lang="en-US"/>
              <a:t>Objective:</a:t>
            </a:r>
          </a:p>
          <a:p>
            <a:r>
              <a:rPr lang="en-US"/>
              <a:t>Apply RAG layer to LLM </a:t>
            </a:r>
          </a:p>
          <a:p>
            <a:r>
              <a:rPr lang="en-US"/>
              <a:t>Prove that context rich prompts assists in decompilation</a:t>
            </a:r>
          </a:p>
          <a:p>
            <a:endParaRPr lang="en-US"/>
          </a:p>
          <a:p>
            <a:pPr marL="0" indent="0">
              <a:buNone/>
            </a:pPr>
            <a:r>
              <a:rPr lang="en-US"/>
              <a:t>Implementation:</a:t>
            </a:r>
          </a:p>
          <a:p>
            <a:pPr>
              <a:buFont typeface="Arial"/>
              <a:buChar char="•"/>
            </a:pPr>
            <a:r>
              <a:rPr lang="en-US"/>
              <a:t>Embedding model: </a:t>
            </a:r>
            <a:r>
              <a:rPr lang="en-US" b="1" err="1"/>
              <a:t>CodeBERT</a:t>
            </a:r>
            <a:r>
              <a:rPr lang="en-US"/>
              <a:t>.</a:t>
            </a:r>
          </a:p>
          <a:p>
            <a:pPr>
              <a:buFont typeface="Arial"/>
              <a:buChar char="•"/>
            </a:pPr>
            <a:r>
              <a:rPr lang="en-US"/>
              <a:t>Vector index: </a:t>
            </a:r>
            <a:r>
              <a:rPr lang="en-US" b="1"/>
              <a:t>FAISS</a:t>
            </a:r>
            <a:r>
              <a:rPr lang="en-US"/>
              <a:t>, allowed KNN-based retrieval.</a:t>
            </a:r>
          </a:p>
        </p:txBody>
      </p:sp>
      <p:pic>
        <p:nvPicPr>
          <p:cNvPr id="5" name="Picture 4">
            <a:extLst>
              <a:ext uri="{FF2B5EF4-FFF2-40B4-BE49-F238E27FC236}">
                <a16:creationId xmlns:a16="http://schemas.microsoft.com/office/drawing/2014/main" id="{DFD717B6-5402-DBCF-946D-EAB8C40FD143}"/>
              </a:ext>
            </a:extLst>
          </p:cNvPr>
          <p:cNvPicPr>
            <a:picLocks noChangeAspect="1"/>
          </p:cNvPicPr>
          <p:nvPr/>
        </p:nvPicPr>
        <p:blipFill>
          <a:blip r:embed="rId3"/>
          <a:stretch>
            <a:fillRect/>
          </a:stretch>
        </p:blipFill>
        <p:spPr>
          <a:xfrm>
            <a:off x="6454711" y="1649393"/>
            <a:ext cx="5050629" cy="4465899"/>
          </a:xfrm>
          <a:prstGeom prst="rect">
            <a:avLst/>
          </a:prstGeom>
        </p:spPr>
      </p:pic>
    </p:spTree>
    <p:extLst>
      <p:ext uri="{BB962C8B-B14F-4D97-AF65-F5344CB8AC3E}">
        <p14:creationId xmlns:p14="http://schemas.microsoft.com/office/powerpoint/2010/main" val="175952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3E9C7-53B3-1AC5-695C-F6185863B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5D5B8F-3765-1EC8-073F-01CE8D3BAFED}"/>
              </a:ext>
            </a:extLst>
          </p:cNvPr>
          <p:cNvSpPr>
            <a:spLocks noGrp="1"/>
          </p:cNvSpPr>
          <p:nvPr>
            <p:ph type="title"/>
          </p:nvPr>
        </p:nvSpPr>
        <p:spPr/>
        <p:txBody>
          <a:bodyPr/>
          <a:lstStyle/>
          <a:p>
            <a:r>
              <a:rPr lang="en-US"/>
              <a:t>Experiment 1 – Vector Embeddings</a:t>
            </a:r>
          </a:p>
        </p:txBody>
      </p:sp>
      <p:sp>
        <p:nvSpPr>
          <p:cNvPr id="3" name="Content Placeholder 2">
            <a:extLst>
              <a:ext uri="{FF2B5EF4-FFF2-40B4-BE49-F238E27FC236}">
                <a16:creationId xmlns:a16="http://schemas.microsoft.com/office/drawing/2014/main" id="{BECFD7C3-91A5-01F7-4810-56F5D8C391C3}"/>
              </a:ext>
            </a:extLst>
          </p:cNvPr>
          <p:cNvSpPr>
            <a:spLocks noGrp="1"/>
          </p:cNvSpPr>
          <p:nvPr>
            <p:ph idx="1"/>
          </p:nvPr>
        </p:nvSpPr>
        <p:spPr/>
        <p:txBody>
          <a:bodyPr vert="horz" lIns="91440" tIns="45720" rIns="91440" bIns="45720" rtlCol="0" anchor="t">
            <a:normAutofit/>
          </a:bodyPr>
          <a:lstStyle/>
          <a:p>
            <a:pPr marL="0" indent="0">
              <a:buNone/>
            </a:pPr>
            <a:r>
              <a:rPr lang="en-US">
                <a:ea typeface="+mn-lt"/>
                <a:cs typeface="+mn-lt"/>
              </a:rPr>
              <a:t>Observations:</a:t>
            </a:r>
          </a:p>
          <a:p>
            <a:r>
              <a:rPr lang="en-US">
                <a:ea typeface="+mn-lt"/>
                <a:cs typeface="+mn-lt"/>
              </a:rPr>
              <a:t>Validated RAG improves output relevance but lacked deep structural understanding.</a:t>
            </a:r>
            <a:endParaRPr lang="en-US"/>
          </a:p>
          <a:p>
            <a:r>
              <a:rPr lang="en-US">
                <a:ea typeface="+mn-lt"/>
                <a:cs typeface="+mn-lt"/>
              </a:rPr>
              <a:t>Similarity on embedding alone missed important control structures.</a:t>
            </a:r>
            <a:endParaRPr lang="en-US"/>
          </a:p>
          <a:p>
            <a:r>
              <a:rPr lang="en-US"/>
              <a:t>Introduced a new source of error, too much influence from context code</a:t>
            </a:r>
          </a:p>
          <a:p>
            <a:endParaRPr lang="en-US"/>
          </a:p>
        </p:txBody>
      </p:sp>
    </p:spTree>
    <p:extLst>
      <p:ext uri="{BB962C8B-B14F-4D97-AF65-F5344CB8AC3E}">
        <p14:creationId xmlns:p14="http://schemas.microsoft.com/office/powerpoint/2010/main" val="561078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5D120-38D6-EB8E-99D1-0E5D5DE96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563A01-A797-F9A2-3270-F9E2405E2AD8}"/>
              </a:ext>
            </a:extLst>
          </p:cNvPr>
          <p:cNvSpPr>
            <a:spLocks noGrp="1"/>
          </p:cNvSpPr>
          <p:nvPr>
            <p:ph type="title"/>
          </p:nvPr>
        </p:nvSpPr>
        <p:spPr>
          <a:xfrm>
            <a:off x="838200" y="365125"/>
            <a:ext cx="10515600" cy="1325563"/>
          </a:xfrm>
        </p:spPr>
        <p:txBody>
          <a:bodyPr anchor="ctr">
            <a:normAutofit/>
          </a:bodyPr>
          <a:lstStyle/>
          <a:p>
            <a:r>
              <a:rPr lang="en-US"/>
              <a:t>Experiment 2 – CFG Comparison</a:t>
            </a:r>
          </a:p>
        </p:txBody>
      </p:sp>
      <p:sp>
        <p:nvSpPr>
          <p:cNvPr id="3" name="Content Placeholder 2">
            <a:extLst>
              <a:ext uri="{FF2B5EF4-FFF2-40B4-BE49-F238E27FC236}">
                <a16:creationId xmlns:a16="http://schemas.microsoft.com/office/drawing/2014/main" id="{E8F00BD8-5830-8780-A0D4-A96F38DB2649}"/>
              </a:ext>
            </a:extLst>
          </p:cNvPr>
          <p:cNvSpPr>
            <a:spLocks noGrp="1"/>
          </p:cNvSpPr>
          <p:nvPr>
            <p:ph idx="1"/>
          </p:nvPr>
        </p:nvSpPr>
        <p:spPr>
          <a:xfrm>
            <a:off x="838200" y="1825625"/>
            <a:ext cx="4483608" cy="4351338"/>
          </a:xfrm>
        </p:spPr>
        <p:txBody>
          <a:bodyPr vert="horz" lIns="91440" tIns="45720" rIns="91440" bIns="45720" rtlCol="0">
            <a:normAutofit/>
          </a:bodyPr>
          <a:lstStyle/>
          <a:p>
            <a:pPr marL="0" indent="0">
              <a:buNone/>
            </a:pPr>
            <a:r>
              <a:rPr lang="en-US"/>
              <a:t>Objective:</a:t>
            </a:r>
          </a:p>
          <a:p>
            <a:r>
              <a:rPr lang="en-US"/>
              <a:t>Apply CFG comparison to RAG</a:t>
            </a:r>
          </a:p>
          <a:p>
            <a:pPr marL="0" indent="0">
              <a:buNone/>
            </a:pPr>
            <a:r>
              <a:rPr lang="en-US"/>
              <a:t>Implementation:</a:t>
            </a:r>
          </a:p>
          <a:p>
            <a:r>
              <a:rPr lang="en-US"/>
              <a:t>Generated CFGs from source via GCC</a:t>
            </a:r>
          </a:p>
          <a:p>
            <a:r>
              <a:rPr lang="en-US"/>
              <a:t>Compared structures with string vectors</a:t>
            </a:r>
          </a:p>
        </p:txBody>
      </p:sp>
      <p:grpSp>
        <p:nvGrpSpPr>
          <p:cNvPr id="8" name="Group 7">
            <a:extLst>
              <a:ext uri="{FF2B5EF4-FFF2-40B4-BE49-F238E27FC236}">
                <a16:creationId xmlns:a16="http://schemas.microsoft.com/office/drawing/2014/main" id="{046E42C8-7B1D-CBBC-4C4A-6D4AFB42720C}"/>
              </a:ext>
            </a:extLst>
          </p:cNvPr>
          <p:cNvGrpSpPr/>
          <p:nvPr/>
        </p:nvGrpSpPr>
        <p:grpSpPr>
          <a:xfrm>
            <a:off x="5491988" y="1825625"/>
            <a:ext cx="6440932" cy="4264279"/>
            <a:chOff x="5930900" y="1950406"/>
            <a:chExt cx="5422900" cy="3517706"/>
          </a:xfrm>
        </p:grpSpPr>
        <p:sp>
          <p:nvSpPr>
            <p:cNvPr id="7" name="Rectangle 6">
              <a:extLst>
                <a:ext uri="{FF2B5EF4-FFF2-40B4-BE49-F238E27FC236}">
                  <a16:creationId xmlns:a16="http://schemas.microsoft.com/office/drawing/2014/main" id="{FD810884-BD6B-2D98-2BD8-0FD31D503E23}"/>
                </a:ext>
              </a:extLst>
            </p:cNvPr>
            <p:cNvSpPr/>
            <p:nvPr/>
          </p:nvSpPr>
          <p:spPr>
            <a:xfrm>
              <a:off x="5930900" y="1950406"/>
              <a:ext cx="5422900" cy="351770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 program&#10;&#10;AI-generated content may be incorrect.">
              <a:extLst>
                <a:ext uri="{FF2B5EF4-FFF2-40B4-BE49-F238E27FC236}">
                  <a16:creationId xmlns:a16="http://schemas.microsoft.com/office/drawing/2014/main" id="{8B093E6A-B176-3CE5-5249-EB07DF90AF15}"/>
                </a:ext>
              </a:extLst>
            </p:cNvPr>
            <p:cNvPicPr>
              <a:picLocks noChangeAspect="1"/>
            </p:cNvPicPr>
            <p:nvPr/>
          </p:nvPicPr>
          <p:blipFill>
            <a:blip r:embed="rId3"/>
            <a:stretch>
              <a:fillRect/>
            </a:stretch>
          </p:blipFill>
          <p:spPr>
            <a:xfrm>
              <a:off x="5958332" y="1959550"/>
              <a:ext cx="5304826" cy="3444554"/>
            </a:xfrm>
            <a:prstGeom prst="rect">
              <a:avLst/>
            </a:prstGeom>
          </p:spPr>
        </p:pic>
      </p:grpSp>
    </p:spTree>
    <p:extLst>
      <p:ext uri="{BB962C8B-B14F-4D97-AF65-F5344CB8AC3E}">
        <p14:creationId xmlns:p14="http://schemas.microsoft.com/office/powerpoint/2010/main" val="1285091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1EAB6-7F13-9577-0403-905258148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3E8A0-CE93-6278-E7CC-3035EC030BCE}"/>
              </a:ext>
            </a:extLst>
          </p:cNvPr>
          <p:cNvSpPr>
            <a:spLocks noGrp="1"/>
          </p:cNvSpPr>
          <p:nvPr>
            <p:ph type="title"/>
          </p:nvPr>
        </p:nvSpPr>
        <p:spPr>
          <a:xfrm>
            <a:off x="838200" y="365125"/>
            <a:ext cx="10515600" cy="1325563"/>
          </a:xfrm>
        </p:spPr>
        <p:txBody>
          <a:bodyPr anchor="ctr">
            <a:normAutofit/>
          </a:bodyPr>
          <a:lstStyle/>
          <a:p>
            <a:r>
              <a:rPr lang="en-US"/>
              <a:t>Experiment 2 – CFG Comparison</a:t>
            </a:r>
          </a:p>
        </p:txBody>
      </p:sp>
      <p:sp>
        <p:nvSpPr>
          <p:cNvPr id="3" name="Content Placeholder 2">
            <a:extLst>
              <a:ext uri="{FF2B5EF4-FFF2-40B4-BE49-F238E27FC236}">
                <a16:creationId xmlns:a16="http://schemas.microsoft.com/office/drawing/2014/main" id="{AE089297-7935-E10D-9EB8-1D7E03810401}"/>
              </a:ext>
            </a:extLst>
          </p:cNvPr>
          <p:cNvSpPr>
            <a:spLocks noGrp="1"/>
          </p:cNvSpPr>
          <p:nvPr>
            <p:ph idx="1"/>
          </p:nvPr>
        </p:nvSpPr>
        <p:spPr>
          <a:xfrm>
            <a:off x="838200" y="1825625"/>
            <a:ext cx="4876800" cy="4351338"/>
          </a:xfrm>
        </p:spPr>
        <p:txBody>
          <a:bodyPr vert="horz" lIns="91440" tIns="45720" rIns="91440" bIns="45720" rtlCol="0">
            <a:normAutofit/>
          </a:bodyPr>
          <a:lstStyle/>
          <a:p>
            <a:pPr marL="0" indent="0">
              <a:buNone/>
            </a:pPr>
            <a:r>
              <a:rPr lang="en-US"/>
              <a:t>Observations</a:t>
            </a:r>
          </a:p>
          <a:p>
            <a:r>
              <a:rPr lang="en-US"/>
              <a:t>Process required CFGs to be created from C code which required doing two passes to the model</a:t>
            </a:r>
          </a:p>
          <a:p>
            <a:r>
              <a:rPr lang="en-US"/>
              <a:t>Would introduce error in the first pass of model generation</a:t>
            </a:r>
          </a:p>
          <a:p>
            <a:r>
              <a:rPr lang="en-US"/>
              <a:t>Provided key insight into the capabilities of CFGs</a:t>
            </a:r>
          </a:p>
        </p:txBody>
      </p:sp>
      <p:pic>
        <p:nvPicPr>
          <p:cNvPr id="4" name="Picture 3" descr="A diagram of a function&#10;&#10;AI-generated content may be incorrect.">
            <a:extLst>
              <a:ext uri="{FF2B5EF4-FFF2-40B4-BE49-F238E27FC236}">
                <a16:creationId xmlns:a16="http://schemas.microsoft.com/office/drawing/2014/main" id="{30F58D06-D8A7-1843-5C7E-F5D5AEA5BE6A}"/>
              </a:ext>
            </a:extLst>
          </p:cNvPr>
          <p:cNvPicPr>
            <a:picLocks noChangeAspect="1"/>
          </p:cNvPicPr>
          <p:nvPr/>
        </p:nvPicPr>
        <p:blipFill>
          <a:blip r:embed="rId3"/>
          <a:stretch>
            <a:fillRect/>
          </a:stretch>
        </p:blipFill>
        <p:spPr>
          <a:xfrm>
            <a:off x="5715000" y="2298820"/>
            <a:ext cx="6017770" cy="3114196"/>
          </a:xfrm>
          <a:prstGeom prst="rect">
            <a:avLst/>
          </a:prstGeom>
          <a:noFill/>
        </p:spPr>
      </p:pic>
    </p:spTree>
    <p:extLst>
      <p:ext uri="{BB962C8B-B14F-4D97-AF65-F5344CB8AC3E}">
        <p14:creationId xmlns:p14="http://schemas.microsoft.com/office/powerpoint/2010/main" val="3739581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F5679-D35C-0E0E-3465-9429F9F49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C0EA5-8176-3B38-03E4-C023E206D194}"/>
              </a:ext>
            </a:extLst>
          </p:cNvPr>
          <p:cNvSpPr>
            <a:spLocks noGrp="1"/>
          </p:cNvSpPr>
          <p:nvPr>
            <p:ph type="title"/>
          </p:nvPr>
        </p:nvSpPr>
        <p:spPr>
          <a:xfrm>
            <a:off x="838200" y="365125"/>
            <a:ext cx="10515600" cy="1325563"/>
          </a:xfrm>
        </p:spPr>
        <p:txBody>
          <a:bodyPr anchor="ctr">
            <a:normAutofit/>
          </a:bodyPr>
          <a:lstStyle/>
          <a:p>
            <a:r>
              <a:rPr lang="en-US"/>
              <a:t>Final Design – GLeNN Pipeline</a:t>
            </a:r>
          </a:p>
        </p:txBody>
      </p:sp>
      <p:sp>
        <p:nvSpPr>
          <p:cNvPr id="3" name="Content Placeholder 2">
            <a:extLst>
              <a:ext uri="{FF2B5EF4-FFF2-40B4-BE49-F238E27FC236}">
                <a16:creationId xmlns:a16="http://schemas.microsoft.com/office/drawing/2014/main" id="{3E79B694-8319-D5D8-F73C-3AA015AE9E90}"/>
              </a:ext>
            </a:extLst>
          </p:cNvPr>
          <p:cNvSpPr>
            <a:spLocks noGrp="1"/>
          </p:cNvSpPr>
          <p:nvPr>
            <p:ph idx="1"/>
          </p:nvPr>
        </p:nvSpPr>
        <p:spPr>
          <a:xfrm>
            <a:off x="838200" y="1825625"/>
            <a:ext cx="4876800" cy="4351338"/>
          </a:xfrm>
        </p:spPr>
        <p:txBody>
          <a:bodyPr vert="horz" lIns="91440" tIns="45720" rIns="91440" bIns="45720" rtlCol="0" anchor="t">
            <a:normAutofit/>
          </a:bodyPr>
          <a:lstStyle/>
          <a:p>
            <a:pPr marL="0" indent="0">
              <a:buNone/>
            </a:pPr>
            <a:r>
              <a:rPr lang="en-US" sz="2000"/>
              <a:t>Comprehensive pipeline to decompile executable programs into C code</a:t>
            </a:r>
            <a:endParaRPr lang="en-US"/>
          </a:p>
          <a:p>
            <a:pPr lvl="1"/>
            <a:r>
              <a:rPr lang="en-US" sz="2000"/>
              <a:t>Takes in compiled binary code</a:t>
            </a:r>
          </a:p>
          <a:p>
            <a:pPr lvl="1"/>
            <a:r>
              <a:rPr lang="en-US" sz="2000"/>
              <a:t>Generates CFG and relative embeddings directly from input file</a:t>
            </a:r>
          </a:p>
          <a:p>
            <a:pPr lvl="1"/>
            <a:r>
              <a:rPr lang="en-US" sz="2000"/>
              <a:t>Performs a two-pass search on a function database</a:t>
            </a:r>
          </a:p>
          <a:p>
            <a:pPr lvl="1"/>
            <a:r>
              <a:rPr lang="en-US" sz="2000"/>
              <a:t>Retrieves relevant contextual information from database</a:t>
            </a:r>
          </a:p>
          <a:p>
            <a:pPr lvl="1"/>
            <a:r>
              <a:rPr lang="en-US" sz="2000"/>
              <a:t>Queries the generative model with a context rich prompt</a:t>
            </a:r>
          </a:p>
          <a:p>
            <a:pPr lvl="1"/>
            <a:r>
              <a:rPr lang="en-US" sz="2000"/>
              <a:t>Delivers C code file with disassembly</a:t>
            </a:r>
          </a:p>
        </p:txBody>
      </p:sp>
      <p:grpSp>
        <p:nvGrpSpPr>
          <p:cNvPr id="9" name="Group 8">
            <a:extLst>
              <a:ext uri="{FF2B5EF4-FFF2-40B4-BE49-F238E27FC236}">
                <a16:creationId xmlns:a16="http://schemas.microsoft.com/office/drawing/2014/main" id="{649EBD5E-E882-4D52-D80D-F1A0A63EDA11}"/>
              </a:ext>
            </a:extLst>
          </p:cNvPr>
          <p:cNvGrpSpPr/>
          <p:nvPr/>
        </p:nvGrpSpPr>
        <p:grpSpPr>
          <a:xfrm>
            <a:off x="5930900" y="1950406"/>
            <a:ext cx="5422900" cy="4101776"/>
            <a:chOff x="5930900" y="1950406"/>
            <a:chExt cx="5422900" cy="4101776"/>
          </a:xfrm>
        </p:grpSpPr>
        <p:sp>
          <p:nvSpPr>
            <p:cNvPr id="7" name="Rectangle 6">
              <a:extLst>
                <a:ext uri="{FF2B5EF4-FFF2-40B4-BE49-F238E27FC236}">
                  <a16:creationId xmlns:a16="http://schemas.microsoft.com/office/drawing/2014/main" id="{C746A09A-0356-43D3-D1AB-29F8AA0072A0}"/>
                </a:ext>
              </a:extLst>
            </p:cNvPr>
            <p:cNvSpPr/>
            <p:nvPr/>
          </p:nvSpPr>
          <p:spPr>
            <a:xfrm>
              <a:off x="5930900" y="1950406"/>
              <a:ext cx="5422900" cy="410177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10;&#10;AI-generated content may be incorrect.">
              <a:extLst>
                <a:ext uri="{FF2B5EF4-FFF2-40B4-BE49-F238E27FC236}">
                  <a16:creationId xmlns:a16="http://schemas.microsoft.com/office/drawing/2014/main" id="{0A8CA469-A56C-5DD4-B5C3-291E0482B78C}"/>
                </a:ext>
              </a:extLst>
            </p:cNvPr>
            <p:cNvPicPr>
              <a:picLocks noChangeAspect="1"/>
            </p:cNvPicPr>
            <p:nvPr/>
          </p:nvPicPr>
          <p:blipFill>
            <a:blip r:embed="rId3"/>
            <a:stretch>
              <a:fillRect/>
            </a:stretch>
          </p:blipFill>
          <p:spPr>
            <a:xfrm>
              <a:off x="5993384" y="2005270"/>
              <a:ext cx="5297932" cy="3972671"/>
            </a:xfrm>
            <a:prstGeom prst="rect">
              <a:avLst/>
            </a:prstGeom>
          </p:spPr>
        </p:pic>
      </p:grpSp>
    </p:spTree>
    <p:extLst>
      <p:ext uri="{BB962C8B-B14F-4D97-AF65-F5344CB8AC3E}">
        <p14:creationId xmlns:p14="http://schemas.microsoft.com/office/powerpoint/2010/main" val="1961369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4A03-F44A-3225-9222-03EBA03ADBBB}"/>
              </a:ext>
            </a:extLst>
          </p:cNvPr>
          <p:cNvSpPr>
            <a:spLocks noGrp="1"/>
          </p:cNvSpPr>
          <p:nvPr>
            <p:ph type="title"/>
          </p:nvPr>
        </p:nvSpPr>
        <p:spPr/>
        <p:txBody>
          <a:bodyPr/>
          <a:lstStyle/>
          <a:p>
            <a:r>
              <a:rPr lang="en-US"/>
              <a:t>Neo4j Graph Database and Retrieval</a:t>
            </a:r>
          </a:p>
        </p:txBody>
      </p:sp>
      <p:sp>
        <p:nvSpPr>
          <p:cNvPr id="3" name="Content Placeholder 2">
            <a:extLst>
              <a:ext uri="{FF2B5EF4-FFF2-40B4-BE49-F238E27FC236}">
                <a16:creationId xmlns:a16="http://schemas.microsoft.com/office/drawing/2014/main" id="{A13DC6BB-2005-1D4E-4C25-1B57E0EAF10A}"/>
              </a:ext>
            </a:extLst>
          </p:cNvPr>
          <p:cNvSpPr>
            <a:spLocks noGrp="1"/>
          </p:cNvSpPr>
          <p:nvPr>
            <p:ph idx="1"/>
          </p:nvPr>
        </p:nvSpPr>
        <p:spPr>
          <a:xfrm>
            <a:off x="838200" y="1825625"/>
            <a:ext cx="5890017" cy="4351338"/>
          </a:xfrm>
        </p:spPr>
        <p:txBody>
          <a:bodyPr vert="horz" lIns="91440" tIns="45720" rIns="91440" bIns="45720" rtlCol="0" anchor="t">
            <a:normAutofit/>
          </a:bodyPr>
          <a:lstStyle/>
          <a:p>
            <a:r>
              <a:rPr lang="en-US"/>
              <a:t>25,000 C code functions stored as CFGs</a:t>
            </a:r>
          </a:p>
          <a:p>
            <a:pPr lvl="1">
              <a:buFont typeface="Courier New" panose="020B0604020202020204" pitchFamily="34" charset="0"/>
              <a:buChar char="o"/>
            </a:pPr>
            <a:r>
              <a:rPr lang="en-US" err="1"/>
              <a:t>ExeBench</a:t>
            </a:r>
            <a:r>
              <a:rPr lang="en-US"/>
              <a:t> Training dataset of C Code snippets</a:t>
            </a:r>
          </a:p>
          <a:p>
            <a:r>
              <a:rPr lang="en-US"/>
              <a:t>Embeddings and metadata includes blocks, edges, loops, decisions</a:t>
            </a:r>
          </a:p>
        </p:txBody>
      </p:sp>
      <p:grpSp>
        <p:nvGrpSpPr>
          <p:cNvPr id="18" name="Group 17">
            <a:extLst>
              <a:ext uri="{FF2B5EF4-FFF2-40B4-BE49-F238E27FC236}">
                <a16:creationId xmlns:a16="http://schemas.microsoft.com/office/drawing/2014/main" id="{11D6838F-7286-36ED-16D5-A02856A682DC}"/>
              </a:ext>
            </a:extLst>
          </p:cNvPr>
          <p:cNvGrpSpPr/>
          <p:nvPr/>
        </p:nvGrpSpPr>
        <p:grpSpPr>
          <a:xfrm>
            <a:off x="6728217" y="1825625"/>
            <a:ext cx="5156703" cy="4079519"/>
            <a:chOff x="6367309" y="2377547"/>
            <a:chExt cx="5531240" cy="4375818"/>
          </a:xfrm>
        </p:grpSpPr>
        <p:grpSp>
          <p:nvGrpSpPr>
            <p:cNvPr id="17" name="Group 16">
              <a:extLst>
                <a:ext uri="{FF2B5EF4-FFF2-40B4-BE49-F238E27FC236}">
                  <a16:creationId xmlns:a16="http://schemas.microsoft.com/office/drawing/2014/main" id="{61CE59F6-E326-C1E9-821A-71114B3C8226}"/>
                </a:ext>
              </a:extLst>
            </p:cNvPr>
            <p:cNvGrpSpPr/>
            <p:nvPr/>
          </p:nvGrpSpPr>
          <p:grpSpPr>
            <a:xfrm>
              <a:off x="7972744" y="2828213"/>
              <a:ext cx="3925805" cy="3925152"/>
              <a:chOff x="7972744" y="2828213"/>
              <a:chExt cx="3925805" cy="3925152"/>
            </a:xfrm>
          </p:grpSpPr>
          <p:sp>
            <p:nvSpPr>
              <p:cNvPr id="14" name="Oval 13">
                <a:extLst>
                  <a:ext uri="{FF2B5EF4-FFF2-40B4-BE49-F238E27FC236}">
                    <a16:creationId xmlns:a16="http://schemas.microsoft.com/office/drawing/2014/main" id="{1844CA0E-CFE9-4515-A095-CD25718CF68F}"/>
                  </a:ext>
                </a:extLst>
              </p:cNvPr>
              <p:cNvSpPr/>
              <p:nvPr/>
            </p:nvSpPr>
            <p:spPr>
              <a:xfrm>
                <a:off x="7972744" y="2828213"/>
                <a:ext cx="3925805" cy="3925152"/>
              </a:xfrm>
              <a:prstGeom prst="ellipse">
                <a:avLst/>
              </a:prstGeom>
              <a:solidFill>
                <a:schemeClr val="accent6">
                  <a:lumMod val="20000"/>
                  <a:lumOff val="80000"/>
                </a:schemeClr>
              </a:solidFill>
              <a:ln>
                <a:solidFill>
                  <a:schemeClr val="accent5"/>
                </a:solidFill>
              </a:ln>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5" name="Picture 14">
                <a:extLst>
                  <a:ext uri="{FF2B5EF4-FFF2-40B4-BE49-F238E27FC236}">
                    <a16:creationId xmlns:a16="http://schemas.microsoft.com/office/drawing/2014/main" id="{FF007779-4C7A-210E-62D5-0EDAA29DCB90}"/>
                  </a:ext>
                </a:extLst>
              </p:cNvPr>
              <p:cNvPicPr>
                <a:picLocks noChangeAspect="1"/>
              </p:cNvPicPr>
              <p:nvPr/>
            </p:nvPicPr>
            <p:blipFill>
              <a:blip r:embed="rId3"/>
              <a:stretch>
                <a:fillRect/>
              </a:stretch>
            </p:blipFill>
            <p:spPr>
              <a:xfrm>
                <a:off x="8034051" y="2892272"/>
                <a:ext cx="3803190" cy="3797033"/>
              </a:xfrm>
              <a:prstGeom prst="rect">
                <a:avLst/>
              </a:prstGeom>
            </p:spPr>
          </p:pic>
          <p:cxnSp>
            <p:nvCxnSpPr>
              <p:cNvPr id="11" name="Straight Arrow Connector 10">
                <a:extLst>
                  <a:ext uri="{FF2B5EF4-FFF2-40B4-BE49-F238E27FC236}">
                    <a16:creationId xmlns:a16="http://schemas.microsoft.com/office/drawing/2014/main" id="{8DB582DC-37EA-557D-198D-253B8961F205}"/>
                  </a:ext>
                </a:extLst>
              </p:cNvPr>
              <p:cNvCxnSpPr>
                <a:cxnSpLocks/>
              </p:cNvCxnSpPr>
              <p:nvPr/>
            </p:nvCxnSpPr>
            <p:spPr>
              <a:xfrm>
                <a:off x="8858003" y="4128969"/>
                <a:ext cx="616371" cy="373532"/>
              </a:xfrm>
              <a:prstGeom prst="straightConnector1">
                <a:avLst/>
              </a:prstGeom>
              <a:ln w="28575" cap="sq">
                <a:tailEnd type="arrow" w="lg" len="lg"/>
              </a:ln>
            </p:spPr>
            <p:style>
              <a:lnRef idx="3">
                <a:schemeClr val="dk1"/>
              </a:lnRef>
              <a:fillRef idx="0">
                <a:schemeClr val="dk1"/>
              </a:fillRef>
              <a:effectRef idx="2">
                <a:schemeClr val="dk1"/>
              </a:effectRef>
              <a:fontRef idx="minor">
                <a:schemeClr val="tx1"/>
              </a:fontRef>
            </p:style>
          </p:cxnSp>
        </p:grpSp>
        <p:grpSp>
          <p:nvGrpSpPr>
            <p:cNvPr id="16" name="Group 15">
              <a:extLst>
                <a:ext uri="{FF2B5EF4-FFF2-40B4-BE49-F238E27FC236}">
                  <a16:creationId xmlns:a16="http://schemas.microsoft.com/office/drawing/2014/main" id="{763B9E1E-6C1B-E672-C9FC-EF2D20AEDBFD}"/>
                </a:ext>
              </a:extLst>
            </p:cNvPr>
            <p:cNvGrpSpPr/>
            <p:nvPr/>
          </p:nvGrpSpPr>
          <p:grpSpPr>
            <a:xfrm>
              <a:off x="6367309" y="2377547"/>
              <a:ext cx="2485790" cy="3495180"/>
              <a:chOff x="6367309" y="2377547"/>
              <a:chExt cx="2485790" cy="3495180"/>
            </a:xfrm>
          </p:grpSpPr>
          <p:sp>
            <p:nvSpPr>
              <p:cNvPr id="12" name="Rectangle 11">
                <a:extLst>
                  <a:ext uri="{FF2B5EF4-FFF2-40B4-BE49-F238E27FC236}">
                    <a16:creationId xmlns:a16="http://schemas.microsoft.com/office/drawing/2014/main" id="{39CFCEEF-7442-0638-BA7C-3D9BB079AC71}"/>
                  </a:ext>
                </a:extLst>
              </p:cNvPr>
              <p:cNvSpPr/>
              <p:nvPr/>
            </p:nvSpPr>
            <p:spPr>
              <a:xfrm>
                <a:off x="6367309" y="2377547"/>
                <a:ext cx="2485790" cy="3495180"/>
              </a:xfrm>
              <a:prstGeom prst="rect">
                <a:avLst/>
              </a:prstGeom>
              <a:solidFill>
                <a:schemeClr val="accent6">
                  <a:lumMod val="20000"/>
                  <a:lumOff val="8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3" name="Picture 12" descr="A diagram of red circles and arrows&#10;&#10;AI-generated content may be incorrect.">
                <a:extLst>
                  <a:ext uri="{FF2B5EF4-FFF2-40B4-BE49-F238E27FC236}">
                    <a16:creationId xmlns:a16="http://schemas.microsoft.com/office/drawing/2014/main" id="{B185EE03-9189-81C3-EB47-A102FDA5FCCA}"/>
                  </a:ext>
                </a:extLst>
              </p:cNvPr>
              <p:cNvPicPr>
                <a:picLocks noChangeAspect="1"/>
              </p:cNvPicPr>
              <p:nvPr/>
            </p:nvPicPr>
            <p:blipFill>
              <a:blip r:embed="rId4"/>
              <a:stretch>
                <a:fillRect/>
              </a:stretch>
            </p:blipFill>
            <p:spPr>
              <a:xfrm>
                <a:off x="6428612" y="2436451"/>
                <a:ext cx="2398588" cy="3377371"/>
              </a:xfrm>
              <a:prstGeom prst="rect">
                <a:avLst/>
              </a:prstGeom>
              <a:ln>
                <a:noFill/>
              </a:ln>
            </p:spPr>
          </p:pic>
        </p:grpSp>
      </p:grpSp>
    </p:spTree>
    <p:extLst>
      <p:ext uri="{BB962C8B-B14F-4D97-AF65-F5344CB8AC3E}">
        <p14:creationId xmlns:p14="http://schemas.microsoft.com/office/powerpoint/2010/main" val="4061062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C224A-E98F-A762-BDD4-A03E81617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CB4B25-1A1B-1653-D4FE-C05371303A0D}"/>
              </a:ext>
            </a:extLst>
          </p:cNvPr>
          <p:cNvSpPr>
            <a:spLocks noGrp="1"/>
          </p:cNvSpPr>
          <p:nvPr>
            <p:ph type="title"/>
          </p:nvPr>
        </p:nvSpPr>
        <p:spPr/>
        <p:txBody>
          <a:bodyPr/>
          <a:lstStyle/>
          <a:p>
            <a:r>
              <a:rPr lang="en-US"/>
              <a:t>Two-Pass Retrieval</a:t>
            </a:r>
          </a:p>
        </p:txBody>
      </p:sp>
      <p:sp>
        <p:nvSpPr>
          <p:cNvPr id="3" name="Content Placeholder 2">
            <a:extLst>
              <a:ext uri="{FF2B5EF4-FFF2-40B4-BE49-F238E27FC236}">
                <a16:creationId xmlns:a16="http://schemas.microsoft.com/office/drawing/2014/main" id="{BA81DF34-2602-3727-7E17-79E6DAAFB232}"/>
              </a:ext>
            </a:extLst>
          </p:cNvPr>
          <p:cNvSpPr>
            <a:spLocks noGrp="1"/>
          </p:cNvSpPr>
          <p:nvPr>
            <p:ph idx="1"/>
          </p:nvPr>
        </p:nvSpPr>
        <p:spPr>
          <a:xfrm>
            <a:off x="838200" y="1825625"/>
            <a:ext cx="10913533" cy="2695575"/>
          </a:xfrm>
        </p:spPr>
        <p:txBody>
          <a:bodyPr vert="horz" lIns="91440" tIns="45720" rIns="91440" bIns="45720" rtlCol="0" anchor="t">
            <a:normAutofit fontScale="92500"/>
          </a:bodyPr>
          <a:lstStyle/>
          <a:p>
            <a:r>
              <a:rPr lang="en-US"/>
              <a:t>Pass 1: Euclidean distance filtering on vectors</a:t>
            </a:r>
          </a:p>
          <a:p>
            <a:pPr lvl="1">
              <a:buFont typeface="Courier New" panose="020B0604020202020204" pitchFamily="34" charset="0"/>
              <a:buChar char="o"/>
            </a:pPr>
            <a:r>
              <a:rPr lang="en-US"/>
              <a:t>Refines the 25k database entries to only consider structurally similar functions</a:t>
            </a:r>
          </a:p>
          <a:p>
            <a:r>
              <a:rPr lang="en-US"/>
              <a:t>Pass 2: Graph Edit Distance</a:t>
            </a:r>
          </a:p>
          <a:p>
            <a:pPr lvl="1">
              <a:buFont typeface="Courier New" panose="020B0604020202020204" pitchFamily="34" charset="0"/>
              <a:buChar char="o"/>
            </a:pPr>
            <a:r>
              <a:rPr lang="en-US"/>
              <a:t>Further refines the pass 1 results performing a GED calculation on each entry</a:t>
            </a:r>
          </a:p>
          <a:p>
            <a:pPr lvl="1">
              <a:buFont typeface="Courier New" panose="020B0604020202020204" pitchFamily="34" charset="0"/>
              <a:buChar char="o"/>
            </a:pPr>
            <a:endParaRPr lang="en-US"/>
          </a:p>
          <a:p>
            <a:r>
              <a:rPr lang="en-US"/>
              <a:t>This improved retrieval speed without sacrificing accuracy</a:t>
            </a:r>
          </a:p>
        </p:txBody>
      </p:sp>
      <p:grpSp>
        <p:nvGrpSpPr>
          <p:cNvPr id="8" name="Group 7">
            <a:extLst>
              <a:ext uri="{FF2B5EF4-FFF2-40B4-BE49-F238E27FC236}">
                <a16:creationId xmlns:a16="http://schemas.microsoft.com/office/drawing/2014/main" id="{814DEE6A-E52B-84ED-14A2-21C046E3BF1D}"/>
              </a:ext>
            </a:extLst>
          </p:cNvPr>
          <p:cNvGrpSpPr/>
          <p:nvPr/>
        </p:nvGrpSpPr>
        <p:grpSpPr>
          <a:xfrm>
            <a:off x="2026412" y="4344638"/>
            <a:ext cx="7837932" cy="2431066"/>
            <a:chOff x="2017268" y="4426934"/>
            <a:chExt cx="7837932" cy="2431066"/>
          </a:xfrm>
        </p:grpSpPr>
        <p:sp>
          <p:nvSpPr>
            <p:cNvPr id="5" name="Rectangle 4">
              <a:extLst>
                <a:ext uri="{FF2B5EF4-FFF2-40B4-BE49-F238E27FC236}">
                  <a16:creationId xmlns:a16="http://schemas.microsoft.com/office/drawing/2014/main" id="{04E8B565-2160-34C6-FB9C-A1B18FB3F587}"/>
                </a:ext>
              </a:extLst>
            </p:cNvPr>
            <p:cNvSpPr/>
            <p:nvPr/>
          </p:nvSpPr>
          <p:spPr>
            <a:xfrm>
              <a:off x="2017268" y="4426934"/>
              <a:ext cx="7772400" cy="243106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diagram of a diagram&#10;&#10;AI-generated content may be incorrect.">
              <a:extLst>
                <a:ext uri="{FF2B5EF4-FFF2-40B4-BE49-F238E27FC236}">
                  <a16:creationId xmlns:a16="http://schemas.microsoft.com/office/drawing/2014/main" id="{712D14CF-E716-06DF-D6B8-10DD29804DAF}"/>
                </a:ext>
              </a:extLst>
            </p:cNvPr>
            <p:cNvPicPr>
              <a:picLocks noChangeAspect="1"/>
            </p:cNvPicPr>
            <p:nvPr/>
          </p:nvPicPr>
          <p:blipFill>
            <a:blip r:embed="rId3"/>
            <a:stretch>
              <a:fillRect/>
            </a:stretch>
          </p:blipFill>
          <p:spPr>
            <a:xfrm>
              <a:off x="2082800" y="4426934"/>
              <a:ext cx="7772400" cy="2431066"/>
            </a:xfrm>
            <a:prstGeom prst="rect">
              <a:avLst/>
            </a:prstGeom>
          </p:spPr>
        </p:pic>
      </p:grpSp>
    </p:spTree>
    <p:extLst>
      <p:ext uri="{BB962C8B-B14F-4D97-AF65-F5344CB8AC3E}">
        <p14:creationId xmlns:p14="http://schemas.microsoft.com/office/powerpoint/2010/main" val="2852109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D465D-B108-DA2F-8180-0ECDA94A5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B8CF4-0A33-C9C2-84C2-BFE88C367555}"/>
              </a:ext>
            </a:extLst>
          </p:cNvPr>
          <p:cNvSpPr>
            <a:spLocks noGrp="1"/>
          </p:cNvSpPr>
          <p:nvPr>
            <p:ph type="title"/>
          </p:nvPr>
        </p:nvSpPr>
        <p:spPr/>
        <p:txBody>
          <a:bodyPr/>
          <a:lstStyle/>
          <a:p>
            <a:r>
              <a:rPr lang="en-US"/>
              <a:t>LLM Decompilation</a:t>
            </a:r>
          </a:p>
        </p:txBody>
      </p:sp>
      <p:sp>
        <p:nvSpPr>
          <p:cNvPr id="3" name="Content Placeholder 2">
            <a:extLst>
              <a:ext uri="{FF2B5EF4-FFF2-40B4-BE49-F238E27FC236}">
                <a16:creationId xmlns:a16="http://schemas.microsoft.com/office/drawing/2014/main" id="{66282EFE-33AD-4C8A-7FEB-415482B5B1D1}"/>
              </a:ext>
            </a:extLst>
          </p:cNvPr>
          <p:cNvSpPr>
            <a:spLocks noGrp="1"/>
          </p:cNvSpPr>
          <p:nvPr>
            <p:ph idx="1"/>
          </p:nvPr>
        </p:nvSpPr>
        <p:spPr/>
        <p:txBody>
          <a:bodyPr vert="horz" lIns="91440" tIns="45720" rIns="91440" bIns="45720" rtlCol="0" anchor="t">
            <a:normAutofit/>
          </a:bodyPr>
          <a:lstStyle/>
          <a:p>
            <a:r>
              <a:rPr lang="en-US">
                <a:ea typeface="+mn-lt"/>
                <a:cs typeface="+mn-lt"/>
              </a:rPr>
              <a:t>Uses </a:t>
            </a:r>
            <a:r>
              <a:rPr lang="en-US" b="1">
                <a:ea typeface="+mn-lt"/>
                <a:cs typeface="+mn-lt"/>
              </a:rPr>
              <a:t>DeepSeek R1 (Qwen-14B Distill)</a:t>
            </a:r>
            <a:r>
              <a:rPr lang="en-US">
                <a:ea typeface="+mn-lt"/>
                <a:cs typeface="+mn-lt"/>
              </a:rPr>
              <a:t> model.</a:t>
            </a:r>
            <a:endParaRPr lang="en-US"/>
          </a:p>
          <a:p>
            <a:r>
              <a:rPr lang="en-US">
                <a:ea typeface="+mn-lt"/>
                <a:cs typeface="+mn-lt"/>
              </a:rPr>
              <a:t>Prompt includes raw disassembly + similar C code retrieved.</a:t>
            </a:r>
            <a:endParaRPr lang="en-US"/>
          </a:p>
          <a:p>
            <a:r>
              <a:rPr lang="en-US">
                <a:ea typeface="+mn-lt"/>
                <a:cs typeface="+mn-lt"/>
              </a:rPr>
              <a:t>Output constrained via prompt engineering, delimiters, and system instructions.</a:t>
            </a:r>
            <a:endParaRPr lang="en-US"/>
          </a:p>
          <a:p>
            <a:r>
              <a:rPr lang="en-US">
                <a:ea typeface="+mn-lt"/>
                <a:cs typeface="+mn-lt"/>
              </a:rPr>
              <a:t>Results evaluated on compile-ability and re-executability.</a:t>
            </a:r>
            <a:endParaRPr lang="en-US"/>
          </a:p>
          <a:p>
            <a:endParaRPr lang="en-US"/>
          </a:p>
        </p:txBody>
      </p:sp>
    </p:spTree>
    <p:extLst>
      <p:ext uri="{BB962C8B-B14F-4D97-AF65-F5344CB8AC3E}">
        <p14:creationId xmlns:p14="http://schemas.microsoft.com/office/powerpoint/2010/main" val="3379141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C3A33-7BDE-638B-7B22-55A0BE848F67}"/>
              </a:ext>
            </a:extLst>
          </p:cNvPr>
          <p:cNvSpPr>
            <a:spLocks noGrp="1"/>
          </p:cNvSpPr>
          <p:nvPr>
            <p:ph type="title"/>
          </p:nvPr>
        </p:nvSpPr>
        <p:spPr/>
        <p:txBody>
          <a:bodyPr/>
          <a:lstStyle/>
          <a:p>
            <a:r>
              <a:rPr lang="en-US"/>
              <a:t>Results</a:t>
            </a:r>
          </a:p>
        </p:txBody>
      </p:sp>
      <p:sp>
        <p:nvSpPr>
          <p:cNvPr id="11" name="Rectangle 10">
            <a:extLst>
              <a:ext uri="{FF2B5EF4-FFF2-40B4-BE49-F238E27FC236}">
                <a16:creationId xmlns:a16="http://schemas.microsoft.com/office/drawing/2014/main" id="{FD294A96-E826-68DF-0ADD-332DE9B858C3}"/>
              </a:ext>
            </a:extLst>
          </p:cNvPr>
          <p:cNvSpPr/>
          <p:nvPr/>
        </p:nvSpPr>
        <p:spPr>
          <a:xfrm>
            <a:off x="419100" y="1879375"/>
            <a:ext cx="11353799" cy="376837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able 8">
            <a:extLst>
              <a:ext uri="{FF2B5EF4-FFF2-40B4-BE49-F238E27FC236}">
                <a16:creationId xmlns:a16="http://schemas.microsoft.com/office/drawing/2014/main" id="{C215FBA2-8260-FE7F-32F4-1A3C4BBBB98D}"/>
              </a:ext>
            </a:extLst>
          </p:cNvPr>
          <p:cNvGraphicFramePr>
            <a:graphicFrameLocks noGrp="1"/>
          </p:cNvGraphicFramePr>
          <p:nvPr>
            <p:extLst>
              <p:ext uri="{D42A27DB-BD31-4B8C-83A1-F6EECF244321}">
                <p14:modId xmlns:p14="http://schemas.microsoft.com/office/powerpoint/2010/main" val="919452986"/>
              </p:ext>
            </p:extLst>
          </p:nvPr>
        </p:nvGraphicFramePr>
        <p:xfrm>
          <a:off x="419100" y="1879375"/>
          <a:ext cx="11353799" cy="3768370"/>
        </p:xfrm>
        <a:graphic>
          <a:graphicData uri="http://schemas.openxmlformats.org/drawingml/2006/table">
            <a:tbl>
              <a:tblPr firstRow="1" bandRow="1">
                <a:tableStyleId>{93296810-A885-4BE3-A3E7-6D5BEEA58F35}</a:tableStyleId>
              </a:tblPr>
              <a:tblGrid>
                <a:gridCol w="2699656">
                  <a:extLst>
                    <a:ext uri="{9D8B030D-6E8A-4147-A177-3AD203B41FA5}">
                      <a16:colId xmlns:a16="http://schemas.microsoft.com/office/drawing/2014/main" val="3561105543"/>
                    </a:ext>
                  </a:extLst>
                </a:gridCol>
                <a:gridCol w="1903188">
                  <a:extLst>
                    <a:ext uri="{9D8B030D-6E8A-4147-A177-3AD203B41FA5}">
                      <a16:colId xmlns:a16="http://schemas.microsoft.com/office/drawing/2014/main" val="1647563163"/>
                    </a:ext>
                  </a:extLst>
                </a:gridCol>
                <a:gridCol w="2209435">
                  <a:extLst>
                    <a:ext uri="{9D8B030D-6E8A-4147-A177-3AD203B41FA5}">
                      <a16:colId xmlns:a16="http://schemas.microsoft.com/office/drawing/2014/main" val="2327981214"/>
                    </a:ext>
                  </a:extLst>
                </a:gridCol>
                <a:gridCol w="2270760">
                  <a:extLst>
                    <a:ext uri="{9D8B030D-6E8A-4147-A177-3AD203B41FA5}">
                      <a16:colId xmlns:a16="http://schemas.microsoft.com/office/drawing/2014/main" val="523663781"/>
                    </a:ext>
                  </a:extLst>
                </a:gridCol>
                <a:gridCol w="2270760">
                  <a:extLst>
                    <a:ext uri="{9D8B030D-6E8A-4147-A177-3AD203B41FA5}">
                      <a16:colId xmlns:a16="http://schemas.microsoft.com/office/drawing/2014/main" val="3125046981"/>
                    </a:ext>
                  </a:extLst>
                </a:gridCol>
              </a:tblGrid>
              <a:tr h="453215">
                <a:tc rowSpan="2">
                  <a:txBody>
                    <a:bodyPr/>
                    <a:lstStyle/>
                    <a:p>
                      <a:pPr algn="ctr"/>
                      <a:r>
                        <a:rPr lang="en-US" sz="2400">
                          <a:latin typeface="Lucida Sans Unicode"/>
                          <a:cs typeface="Lucida Sans Unicode"/>
                        </a:rPr>
                        <a:t>Models</a:t>
                      </a:r>
                    </a:p>
                  </a:txBody>
                  <a:tcPr anchor="ctr">
                    <a:solidFill>
                      <a:srgbClr val="025239"/>
                    </a:solidFill>
                  </a:tcPr>
                </a:tc>
                <a:tc rowSpan="2">
                  <a:txBody>
                    <a:bodyPr/>
                    <a:lstStyle/>
                    <a:p>
                      <a:pPr algn="ctr"/>
                      <a:r>
                        <a:rPr lang="en-US" sz="2400" b="1">
                          <a:latin typeface="Lucida Sans Unicode"/>
                          <a:cs typeface="Lucida Sans Unicode"/>
                        </a:rPr>
                        <a:t>Re-compliable</a:t>
                      </a:r>
                    </a:p>
                  </a:txBody>
                  <a:tcPr anchor="ctr">
                    <a:solidFill>
                      <a:srgbClr val="025239"/>
                    </a:solidFill>
                  </a:tcPr>
                </a:tc>
                <a:tc gridSpan="3">
                  <a:txBody>
                    <a:bodyPr/>
                    <a:lstStyle/>
                    <a:p>
                      <a:pPr algn="ctr"/>
                      <a:r>
                        <a:rPr lang="en-US" sz="2400">
                          <a:latin typeface="Lucida Sans Unicode"/>
                          <a:cs typeface="Lucida Sans Unicode"/>
                        </a:rPr>
                        <a:t>Re-executable</a:t>
                      </a:r>
                    </a:p>
                  </a:txBody>
                  <a:tcPr>
                    <a:solidFill>
                      <a:srgbClr val="02523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95183698"/>
                  </a:ext>
                </a:extLst>
              </a:tr>
              <a:tr h="767202">
                <a:tc vMerge="1">
                  <a:txBody>
                    <a:bodyPr/>
                    <a:lstStyle/>
                    <a:p>
                      <a:endParaRPr lang="en-US"/>
                    </a:p>
                  </a:txBody>
                  <a:tcPr/>
                </a:tc>
                <a:tc vMerge="1">
                  <a:txBody>
                    <a:bodyPr/>
                    <a:lstStyle/>
                    <a:p>
                      <a:endParaRPr lang="en-US" err="1"/>
                    </a:p>
                  </a:txBody>
                  <a:tcPr/>
                </a:tc>
                <a:tc>
                  <a:txBody>
                    <a:bodyPr/>
                    <a:lstStyle/>
                    <a:p>
                      <a:pPr lvl="0" algn="ctr">
                        <a:buNone/>
                      </a:pPr>
                      <a:r>
                        <a:rPr lang="en-US" sz="2400">
                          <a:solidFill>
                            <a:schemeClr val="bg1"/>
                          </a:solidFill>
                          <a:latin typeface="Lucida Sans Unicode"/>
                          <a:cs typeface="Lucida Sans Unicode"/>
                        </a:rPr>
                        <a:t>Compiles as Executable</a:t>
                      </a:r>
                    </a:p>
                  </a:txBody>
                  <a:tcPr anchor="ctr">
                    <a:solidFill>
                      <a:srgbClr val="025239">
                        <a:alpha val="80000"/>
                      </a:srgbClr>
                    </a:solidFill>
                  </a:tcPr>
                </a:tc>
                <a:tc>
                  <a:txBody>
                    <a:bodyPr/>
                    <a:lstStyle/>
                    <a:p>
                      <a:pPr lvl="0" algn="ctr">
                        <a:buNone/>
                      </a:pPr>
                      <a:r>
                        <a:rPr lang="en-US" sz="2400">
                          <a:solidFill>
                            <a:schemeClr val="bg1"/>
                          </a:solidFill>
                          <a:latin typeface="Lucida Sans Unicode"/>
                          <a:cs typeface="Lucida Sans Unicode"/>
                        </a:rPr>
                        <a:t>Executes</a:t>
                      </a:r>
                    </a:p>
                  </a:txBody>
                  <a:tcPr anchor="ctr">
                    <a:solidFill>
                      <a:srgbClr val="025239">
                        <a:alpha val="80000"/>
                      </a:srgbClr>
                    </a:solidFill>
                  </a:tcPr>
                </a:tc>
                <a:tc>
                  <a:txBody>
                    <a:bodyPr/>
                    <a:lstStyle/>
                    <a:p>
                      <a:pPr lvl="0" algn="ctr">
                        <a:buNone/>
                      </a:pPr>
                      <a:r>
                        <a:rPr lang="en-US" sz="2400">
                          <a:solidFill>
                            <a:schemeClr val="bg1"/>
                          </a:solidFill>
                          <a:latin typeface="Lucida Sans Unicode"/>
                          <a:cs typeface="Lucida Sans Unicode"/>
                        </a:rPr>
                        <a:t>Does Not Compile</a:t>
                      </a:r>
                    </a:p>
                  </a:txBody>
                  <a:tcPr anchor="ctr">
                    <a:solidFill>
                      <a:srgbClr val="025239">
                        <a:alpha val="80000"/>
                      </a:srgbClr>
                    </a:solidFill>
                  </a:tcPr>
                </a:tc>
                <a:extLst>
                  <a:ext uri="{0D108BD9-81ED-4DB2-BD59-A6C34878D82A}">
                    <a16:rowId xmlns:a16="http://schemas.microsoft.com/office/drawing/2014/main" val="1777849756"/>
                  </a:ext>
                </a:extLst>
              </a:tr>
              <a:tr h="925652">
                <a:tc>
                  <a:txBody>
                    <a:bodyPr/>
                    <a:lstStyle/>
                    <a:p>
                      <a:pPr algn="ctr"/>
                      <a:r>
                        <a:rPr lang="en-US" sz="2400" b="1">
                          <a:latin typeface="Lucida Sans Unicode"/>
                          <a:cs typeface="Lucida Sans Unicode"/>
                        </a:rPr>
                        <a:t>LLM4Decompile</a:t>
                      </a:r>
                    </a:p>
                  </a:txBody>
                  <a:tcPr anchor="ctr">
                    <a:solidFill>
                      <a:srgbClr val="025239">
                        <a:alpha val="25882"/>
                      </a:srgbClr>
                    </a:solidFill>
                  </a:tcPr>
                </a:tc>
                <a:tc>
                  <a:txBody>
                    <a:bodyPr/>
                    <a:lstStyle/>
                    <a:p>
                      <a:pPr algn="ctr"/>
                      <a:r>
                        <a:rPr lang="en-US" sz="2400">
                          <a:latin typeface="Lucida Sans Unicode"/>
                          <a:cs typeface="Lucida Sans Unicode"/>
                        </a:rPr>
                        <a:t>63.8%</a:t>
                      </a:r>
                      <a:endParaRPr lang="en-US" sz="2400">
                        <a:latin typeface="Lucida Sans Unicode" panose="020B0602030504020204" pitchFamily="34" charset="0"/>
                        <a:cs typeface="Lucida Sans Unicode" panose="020B0602030504020204" pitchFamily="34" charset="0"/>
                      </a:endParaRPr>
                    </a:p>
                  </a:txBody>
                  <a:tcPr anchor="ctr">
                    <a:solidFill>
                      <a:srgbClr val="025239">
                        <a:alpha val="25882"/>
                      </a:srgbClr>
                    </a:solidFill>
                  </a:tcPr>
                </a:tc>
                <a:tc>
                  <a:txBody>
                    <a:bodyPr/>
                    <a:lstStyle/>
                    <a:p>
                      <a:pPr algn="ctr"/>
                      <a:r>
                        <a:rPr lang="en-US" sz="2400">
                          <a:latin typeface="Lucida Sans Unicode"/>
                          <a:cs typeface="Lucida Sans Unicode"/>
                        </a:rPr>
                        <a:t>--</a:t>
                      </a:r>
                    </a:p>
                  </a:txBody>
                  <a:tcPr anchor="ctr">
                    <a:solidFill>
                      <a:srgbClr val="025239">
                        <a:alpha val="25882"/>
                      </a:srgbClr>
                    </a:solidFill>
                  </a:tcPr>
                </a:tc>
                <a:tc>
                  <a:txBody>
                    <a:bodyPr/>
                    <a:lstStyle/>
                    <a:p>
                      <a:pPr algn="ctr"/>
                      <a:r>
                        <a:rPr lang="en-US" sz="2400">
                          <a:latin typeface="Lucida Sans Unicode"/>
                          <a:cs typeface="Lucida Sans Unicode"/>
                        </a:rPr>
                        <a:t>63.4%</a:t>
                      </a:r>
                    </a:p>
                  </a:txBody>
                  <a:tcPr anchor="ctr">
                    <a:solidFill>
                      <a:srgbClr val="025239">
                        <a:alpha val="25882"/>
                      </a:srgbClr>
                    </a:solidFill>
                  </a:tcPr>
                </a:tc>
                <a:tc>
                  <a:txBody>
                    <a:bodyPr/>
                    <a:lstStyle/>
                    <a:p>
                      <a:pPr algn="ctr"/>
                      <a:r>
                        <a:rPr lang="en-US" sz="2400">
                          <a:latin typeface="Lucida Sans Unicode"/>
                          <a:cs typeface="Lucida Sans Unicode"/>
                        </a:rPr>
                        <a:t>--</a:t>
                      </a:r>
                    </a:p>
                  </a:txBody>
                  <a:tcPr anchor="ctr">
                    <a:solidFill>
                      <a:srgbClr val="025239">
                        <a:alpha val="25882"/>
                      </a:srgbClr>
                    </a:solidFill>
                  </a:tcPr>
                </a:tc>
                <a:extLst>
                  <a:ext uri="{0D108BD9-81ED-4DB2-BD59-A6C34878D82A}">
                    <a16:rowId xmlns:a16="http://schemas.microsoft.com/office/drawing/2014/main" val="3098425967"/>
                  </a:ext>
                </a:extLst>
              </a:tr>
              <a:tr h="636906">
                <a:tc>
                  <a:txBody>
                    <a:bodyPr/>
                    <a:lstStyle/>
                    <a:p>
                      <a:pPr algn="ctr"/>
                      <a:r>
                        <a:rPr lang="en-US" sz="2400" b="1">
                          <a:latin typeface="Lucida Sans Unicode"/>
                          <a:cs typeface="Lucida Sans Unicode"/>
                        </a:rPr>
                        <a:t>LLM Baseline</a:t>
                      </a:r>
                    </a:p>
                  </a:txBody>
                  <a:tcPr anchor="ctr">
                    <a:solidFill>
                      <a:srgbClr val="025239">
                        <a:alpha val="50196"/>
                      </a:srgbClr>
                    </a:solidFill>
                  </a:tcPr>
                </a:tc>
                <a:tc>
                  <a:txBody>
                    <a:bodyPr/>
                    <a:lstStyle/>
                    <a:p>
                      <a:pPr algn="ctr"/>
                      <a:r>
                        <a:rPr lang="en-US" sz="2400">
                          <a:latin typeface="Lucida Sans Unicode"/>
                          <a:cs typeface="Lucida Sans Unicode"/>
                        </a:rPr>
                        <a:t>81.3%</a:t>
                      </a:r>
                    </a:p>
                  </a:txBody>
                  <a:tcPr anchor="ctr">
                    <a:solidFill>
                      <a:srgbClr val="025239">
                        <a:alpha val="50196"/>
                      </a:srgbClr>
                    </a:solidFill>
                  </a:tcPr>
                </a:tc>
                <a:tc>
                  <a:txBody>
                    <a:bodyPr/>
                    <a:lstStyle/>
                    <a:p>
                      <a:pPr algn="ctr"/>
                      <a:r>
                        <a:rPr lang="en-US" sz="2400">
                          <a:latin typeface="Lucida Sans Unicode"/>
                          <a:cs typeface="Lucida Sans Unicode"/>
                        </a:rPr>
                        <a:t>63.69%</a:t>
                      </a:r>
                    </a:p>
                  </a:txBody>
                  <a:tcPr anchor="ctr">
                    <a:solidFill>
                      <a:srgbClr val="025239">
                        <a:alpha val="50196"/>
                      </a:srgbClr>
                    </a:solidFill>
                  </a:tcPr>
                </a:tc>
                <a:tc>
                  <a:txBody>
                    <a:bodyPr/>
                    <a:lstStyle/>
                    <a:p>
                      <a:pPr lvl="0" algn="ctr">
                        <a:buNone/>
                      </a:pPr>
                      <a:r>
                        <a:rPr lang="en-US" sz="2400">
                          <a:latin typeface="Lucida Sans Unicode"/>
                          <a:cs typeface="Lucida Sans Unicode"/>
                        </a:rPr>
                        <a:t>86.97%</a:t>
                      </a:r>
                    </a:p>
                  </a:txBody>
                  <a:tcPr anchor="ctr">
                    <a:solidFill>
                      <a:srgbClr val="025239">
                        <a:alpha val="50196"/>
                      </a:srgbClr>
                    </a:solidFill>
                  </a:tcPr>
                </a:tc>
                <a:tc>
                  <a:txBody>
                    <a:bodyPr/>
                    <a:lstStyle/>
                    <a:p>
                      <a:pPr lvl="0" algn="ctr">
                        <a:buNone/>
                      </a:pPr>
                      <a:r>
                        <a:rPr lang="en-US" sz="2400" kern="1200" noProof="0">
                          <a:solidFill>
                            <a:schemeClr val="dk1"/>
                          </a:solidFill>
                          <a:latin typeface="Lucida Sans Unicode"/>
                          <a:ea typeface="+mn-ea"/>
                          <a:cs typeface="Lucida Sans Unicode"/>
                        </a:rPr>
                        <a:t>36.31%</a:t>
                      </a:r>
                      <a:endParaRPr lang="en-US" sz="2400" kern="1200">
                        <a:solidFill>
                          <a:schemeClr val="dk1"/>
                        </a:solidFill>
                        <a:latin typeface="Lucida Sans Unicode"/>
                        <a:ea typeface="+mn-ea"/>
                        <a:cs typeface="Lucida Sans Unicode"/>
                      </a:endParaRPr>
                    </a:p>
                  </a:txBody>
                  <a:tcPr anchor="ctr">
                    <a:solidFill>
                      <a:srgbClr val="025239">
                        <a:alpha val="50196"/>
                      </a:srgbClr>
                    </a:solidFill>
                  </a:tcPr>
                </a:tc>
                <a:extLst>
                  <a:ext uri="{0D108BD9-81ED-4DB2-BD59-A6C34878D82A}">
                    <a16:rowId xmlns:a16="http://schemas.microsoft.com/office/drawing/2014/main" val="2410166582"/>
                  </a:ext>
                </a:extLst>
              </a:tr>
              <a:tr h="925652">
                <a:tc>
                  <a:txBody>
                    <a:bodyPr/>
                    <a:lstStyle/>
                    <a:p>
                      <a:pPr lvl="0" algn="ctr">
                        <a:buNone/>
                      </a:pPr>
                      <a:r>
                        <a:rPr lang="en-US" sz="2400" b="1">
                          <a:latin typeface="Lucida Sans Unicode"/>
                          <a:cs typeface="Lucida Sans Unicode"/>
                        </a:rPr>
                        <a:t>LLM with RAG</a:t>
                      </a:r>
                    </a:p>
                  </a:txBody>
                  <a:tcPr anchor="ctr">
                    <a:solidFill>
                      <a:srgbClr val="025239">
                        <a:alpha val="25490"/>
                      </a:srgbClr>
                    </a:solidFill>
                  </a:tcPr>
                </a:tc>
                <a:tc>
                  <a:txBody>
                    <a:bodyPr/>
                    <a:lstStyle/>
                    <a:p>
                      <a:pPr lvl="0" algn="ctr">
                        <a:buNone/>
                      </a:pPr>
                      <a:r>
                        <a:rPr lang="en-US" sz="2400">
                          <a:latin typeface="Lucida Sans Unicode"/>
                          <a:cs typeface="Lucida Sans Unicode"/>
                        </a:rPr>
                        <a:t>74.2%</a:t>
                      </a:r>
                      <a:endParaRPr lang="en-US" sz="2400">
                        <a:latin typeface="Lucida Sans Unicode" panose="020B0602030504020204" pitchFamily="34" charset="0"/>
                        <a:cs typeface="Lucida Sans Unicode" panose="020B0602030504020204" pitchFamily="34" charset="0"/>
                      </a:endParaRPr>
                    </a:p>
                  </a:txBody>
                  <a:tcPr anchor="ctr">
                    <a:solidFill>
                      <a:srgbClr val="025239">
                        <a:alpha val="25490"/>
                      </a:srgbClr>
                    </a:solidFill>
                  </a:tcPr>
                </a:tc>
                <a:tc>
                  <a:txBody>
                    <a:bodyPr/>
                    <a:lstStyle/>
                    <a:p>
                      <a:pPr lvl="0" algn="ctr">
                        <a:buNone/>
                      </a:pPr>
                      <a:r>
                        <a:rPr lang="en-US" sz="2400">
                          <a:latin typeface="Lucida Sans Unicode"/>
                          <a:cs typeface="Lucida Sans Unicode"/>
                        </a:rPr>
                        <a:t>85.87%</a:t>
                      </a:r>
                      <a:endParaRPr lang="en-US" sz="2400">
                        <a:latin typeface="Lucida Sans Unicode" panose="020B0602030504020204" pitchFamily="34" charset="0"/>
                        <a:cs typeface="Lucida Sans Unicode" panose="020B0602030504020204" pitchFamily="34" charset="0"/>
                      </a:endParaRPr>
                    </a:p>
                  </a:txBody>
                  <a:tcPr anchor="ctr">
                    <a:solidFill>
                      <a:srgbClr val="025239">
                        <a:alpha val="25490"/>
                      </a:srgbClr>
                    </a:solidFill>
                  </a:tcPr>
                </a:tc>
                <a:tc>
                  <a:txBody>
                    <a:bodyPr/>
                    <a:lstStyle/>
                    <a:p>
                      <a:pPr lvl="0" algn="ctr">
                        <a:buNone/>
                      </a:pPr>
                      <a:r>
                        <a:rPr lang="en-US" sz="2400">
                          <a:latin typeface="Lucida Sans Unicode"/>
                          <a:cs typeface="Lucida Sans Unicode"/>
                        </a:rPr>
                        <a:t>99.41%</a:t>
                      </a:r>
                      <a:endParaRPr lang="en-US" sz="2400">
                        <a:latin typeface="Lucida Sans Unicode" panose="020B0602030504020204" pitchFamily="34" charset="0"/>
                        <a:cs typeface="Lucida Sans Unicode" panose="020B0602030504020204" pitchFamily="34" charset="0"/>
                      </a:endParaRPr>
                    </a:p>
                  </a:txBody>
                  <a:tcPr anchor="ctr">
                    <a:solidFill>
                      <a:srgbClr val="025239">
                        <a:alpha val="25490"/>
                      </a:srgbClr>
                    </a:solidFill>
                  </a:tcPr>
                </a:tc>
                <a:tc>
                  <a:txBody>
                    <a:bodyPr/>
                    <a:lstStyle/>
                    <a:p>
                      <a:pPr lvl="0" algn="ctr">
                        <a:buNone/>
                      </a:pPr>
                      <a:r>
                        <a:rPr lang="en-US" sz="2400">
                          <a:latin typeface="Lucida Sans Unicode"/>
                          <a:cs typeface="Lucida Sans Unicode"/>
                        </a:rPr>
                        <a:t>14.12%</a:t>
                      </a:r>
                      <a:endParaRPr lang="en-US" sz="2400">
                        <a:latin typeface="Lucida Sans Unicode" panose="020B0602030504020204" pitchFamily="34" charset="0"/>
                        <a:cs typeface="Lucida Sans Unicode" panose="020B0602030504020204" pitchFamily="34" charset="0"/>
                      </a:endParaRPr>
                    </a:p>
                  </a:txBody>
                  <a:tcPr anchor="ctr">
                    <a:solidFill>
                      <a:srgbClr val="025239">
                        <a:alpha val="25490"/>
                      </a:srgbClr>
                    </a:solidFill>
                  </a:tcPr>
                </a:tc>
                <a:extLst>
                  <a:ext uri="{0D108BD9-81ED-4DB2-BD59-A6C34878D82A}">
                    <a16:rowId xmlns:a16="http://schemas.microsoft.com/office/drawing/2014/main" val="1476894949"/>
                  </a:ext>
                </a:extLst>
              </a:tr>
            </a:tbl>
          </a:graphicData>
        </a:graphic>
      </p:graphicFrame>
    </p:spTree>
    <p:extLst>
      <p:ext uri="{BB962C8B-B14F-4D97-AF65-F5344CB8AC3E}">
        <p14:creationId xmlns:p14="http://schemas.microsoft.com/office/powerpoint/2010/main" val="3879548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D549-E78A-6661-4E60-E9A333253E4E}"/>
              </a:ext>
            </a:extLst>
          </p:cNvPr>
          <p:cNvSpPr>
            <a:spLocks noGrp="1"/>
          </p:cNvSpPr>
          <p:nvPr>
            <p:ph type="title"/>
          </p:nvPr>
        </p:nvSpPr>
        <p:spPr/>
        <p:txBody>
          <a:bodyPr/>
          <a:lstStyle/>
          <a:p>
            <a:r>
              <a:rPr lang="en-US"/>
              <a:t>Common Errors With LLM4Decompile</a:t>
            </a:r>
          </a:p>
        </p:txBody>
      </p:sp>
      <p:sp>
        <p:nvSpPr>
          <p:cNvPr id="3" name="Content Placeholder 2">
            <a:extLst>
              <a:ext uri="{FF2B5EF4-FFF2-40B4-BE49-F238E27FC236}">
                <a16:creationId xmlns:a16="http://schemas.microsoft.com/office/drawing/2014/main" id="{3CAEA80B-E7BC-50B4-90E8-FFC2E8BCF2B8}"/>
              </a:ext>
            </a:extLst>
          </p:cNvPr>
          <p:cNvSpPr>
            <a:spLocks noGrp="1"/>
          </p:cNvSpPr>
          <p:nvPr>
            <p:ph idx="1"/>
          </p:nvPr>
        </p:nvSpPr>
        <p:spPr>
          <a:xfrm>
            <a:off x="838200" y="1825625"/>
            <a:ext cx="4412736" cy="4818148"/>
          </a:xfrm>
        </p:spPr>
        <p:txBody>
          <a:bodyPr vert="horz" lIns="91440" tIns="45720" rIns="91440" bIns="45720" rtlCol="0" anchor="t">
            <a:normAutofit/>
          </a:bodyPr>
          <a:lstStyle/>
          <a:p>
            <a:r>
              <a:rPr lang="en-US"/>
              <a:t>Hallucinated includes not present in original code</a:t>
            </a:r>
          </a:p>
          <a:p>
            <a:pPr lvl="1">
              <a:buFont typeface="Courier New" panose="020B0604020202020204" pitchFamily="34" charset="0"/>
              <a:buChar char="o"/>
            </a:pPr>
            <a:r>
              <a:rPr lang="en-US"/>
              <a:t>Possibly related to training data for the LLM</a:t>
            </a:r>
          </a:p>
          <a:p>
            <a:r>
              <a:rPr lang="en-US"/>
              <a:t>Infinitely repeated lines</a:t>
            </a:r>
          </a:p>
          <a:p>
            <a:pPr lvl="1">
              <a:buFont typeface="Courier New" panose="020B0604020202020204" pitchFamily="34" charset="0"/>
              <a:buChar char="o"/>
            </a:pPr>
            <a:r>
              <a:rPr lang="en-US"/>
              <a:t>Repeated lines until some character limit is reached</a:t>
            </a:r>
          </a:p>
          <a:p>
            <a:r>
              <a:rPr lang="en-US"/>
              <a:t>Re-executable tests kills processes very quickly.</a:t>
            </a:r>
          </a:p>
          <a:p>
            <a:pPr lvl="1">
              <a:buFont typeface="Courier New" panose="020B0604020202020204" pitchFamily="34" charset="0"/>
              <a:buChar char="o"/>
            </a:pPr>
            <a:r>
              <a:rPr lang="en-US"/>
              <a:t>Possible missed errors later in code</a:t>
            </a:r>
          </a:p>
          <a:p>
            <a:endParaRPr lang="en-US"/>
          </a:p>
        </p:txBody>
      </p:sp>
      <p:pic>
        <p:nvPicPr>
          <p:cNvPr id="6" name="Picture 5" descr="A computer screen shot of text&#10;&#10;AI-generated content may be incorrect.">
            <a:extLst>
              <a:ext uri="{FF2B5EF4-FFF2-40B4-BE49-F238E27FC236}">
                <a16:creationId xmlns:a16="http://schemas.microsoft.com/office/drawing/2014/main" id="{D493C4E3-60E0-EF26-9AA9-5BE7219C0195}"/>
              </a:ext>
            </a:extLst>
          </p:cNvPr>
          <p:cNvPicPr>
            <a:picLocks noChangeAspect="1"/>
          </p:cNvPicPr>
          <p:nvPr/>
        </p:nvPicPr>
        <p:blipFill>
          <a:blip r:embed="rId3"/>
          <a:stretch>
            <a:fillRect/>
          </a:stretch>
        </p:blipFill>
        <p:spPr>
          <a:xfrm>
            <a:off x="8440061" y="2737419"/>
            <a:ext cx="3666870" cy="1942071"/>
          </a:xfrm>
          <a:prstGeom prst="rect">
            <a:avLst/>
          </a:prstGeom>
        </p:spPr>
      </p:pic>
      <p:pic>
        <p:nvPicPr>
          <p:cNvPr id="7" name="Picture 6" descr="A screen shot of a computer program&#10;&#10;AI-generated content may be incorrect.">
            <a:extLst>
              <a:ext uri="{FF2B5EF4-FFF2-40B4-BE49-F238E27FC236}">
                <a16:creationId xmlns:a16="http://schemas.microsoft.com/office/drawing/2014/main" id="{172164B1-6F80-96DF-D2B2-A7C166495534}"/>
              </a:ext>
            </a:extLst>
          </p:cNvPr>
          <p:cNvPicPr>
            <a:picLocks noChangeAspect="1"/>
          </p:cNvPicPr>
          <p:nvPr/>
        </p:nvPicPr>
        <p:blipFill>
          <a:blip r:embed="rId4"/>
          <a:stretch>
            <a:fillRect/>
          </a:stretch>
        </p:blipFill>
        <p:spPr>
          <a:xfrm>
            <a:off x="5141164" y="2052595"/>
            <a:ext cx="3234591" cy="3816865"/>
          </a:xfrm>
          <a:prstGeom prst="rect">
            <a:avLst/>
          </a:prstGeom>
        </p:spPr>
      </p:pic>
    </p:spTree>
    <p:extLst>
      <p:ext uri="{BB962C8B-B14F-4D97-AF65-F5344CB8AC3E}">
        <p14:creationId xmlns:p14="http://schemas.microsoft.com/office/powerpoint/2010/main" val="834497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2A050-AF0C-FA2E-E708-94210AE1A49D}"/>
              </a:ext>
            </a:extLst>
          </p:cNvPr>
          <p:cNvSpPr>
            <a:spLocks noGrp="1"/>
          </p:cNvSpPr>
          <p:nvPr>
            <p:ph type="title"/>
          </p:nvPr>
        </p:nvSpPr>
        <p:spPr/>
        <p:txBody>
          <a:bodyPr/>
          <a:lstStyle/>
          <a:p>
            <a:r>
              <a:rPr lang="en-US"/>
              <a:t>Common Errors With </a:t>
            </a:r>
            <a:r>
              <a:rPr lang="en-US" err="1"/>
              <a:t>GLeNN</a:t>
            </a:r>
          </a:p>
        </p:txBody>
      </p:sp>
      <p:sp>
        <p:nvSpPr>
          <p:cNvPr id="3" name="Content Placeholder 2">
            <a:extLst>
              <a:ext uri="{FF2B5EF4-FFF2-40B4-BE49-F238E27FC236}">
                <a16:creationId xmlns:a16="http://schemas.microsoft.com/office/drawing/2014/main" id="{46CDB53C-73B5-7B00-54C9-D7AA4E3C93BC}"/>
              </a:ext>
            </a:extLst>
          </p:cNvPr>
          <p:cNvSpPr>
            <a:spLocks noGrp="1"/>
          </p:cNvSpPr>
          <p:nvPr>
            <p:ph idx="1"/>
          </p:nvPr>
        </p:nvSpPr>
        <p:spPr>
          <a:xfrm>
            <a:off x="838200" y="1693821"/>
            <a:ext cx="4224823" cy="4789497"/>
          </a:xfrm>
        </p:spPr>
        <p:txBody>
          <a:bodyPr vert="horz" lIns="91440" tIns="45720" rIns="91440" bIns="45720" rtlCol="0" anchor="t">
            <a:normAutofit/>
          </a:bodyPr>
          <a:lstStyle/>
          <a:p>
            <a:r>
              <a:rPr lang="en-US"/>
              <a:t>Conversation within code delimiter</a:t>
            </a:r>
          </a:p>
          <a:p>
            <a:pPr lvl="1">
              <a:buFont typeface="Courier New,monospace" panose="020B0604020202020204" pitchFamily="34" charset="0"/>
              <a:buChar char="o"/>
            </a:pPr>
            <a:r>
              <a:rPr lang="en-US"/>
              <a:t>A result of </a:t>
            </a:r>
            <a:r>
              <a:rPr lang="en-US">
                <a:ea typeface="+mn-lt"/>
                <a:cs typeface="+mn-lt"/>
              </a:rPr>
              <a:t>programmatic </a:t>
            </a:r>
            <a:r>
              <a:rPr lang="en-US"/>
              <a:t>testing</a:t>
            </a:r>
          </a:p>
          <a:p>
            <a:r>
              <a:rPr lang="en-US"/>
              <a:t>Inline Assembly</a:t>
            </a:r>
          </a:p>
          <a:p>
            <a:r>
              <a:rPr lang="en-US"/>
              <a:t>Functions with no content</a:t>
            </a:r>
          </a:p>
          <a:p>
            <a:r>
              <a:rPr lang="en-US"/>
              <a:t>Re-executable tests kills processes very quickly.</a:t>
            </a:r>
          </a:p>
          <a:p>
            <a:pPr lvl="1">
              <a:buFont typeface="Courier New,monospace" panose="020B0604020202020204" pitchFamily="34" charset="0"/>
              <a:buChar char="o"/>
            </a:pPr>
            <a:r>
              <a:rPr lang="en-US" sz="2800"/>
              <a:t>Possible missed errors later in code</a:t>
            </a:r>
          </a:p>
          <a:p>
            <a:endParaRPr lang="en-US" sz="2800"/>
          </a:p>
        </p:txBody>
      </p:sp>
      <p:pic>
        <p:nvPicPr>
          <p:cNvPr id="6" name="Picture 5">
            <a:extLst>
              <a:ext uri="{FF2B5EF4-FFF2-40B4-BE49-F238E27FC236}">
                <a16:creationId xmlns:a16="http://schemas.microsoft.com/office/drawing/2014/main" id="{B8681E11-AF20-14BB-700C-3395AE0F9219}"/>
              </a:ext>
            </a:extLst>
          </p:cNvPr>
          <p:cNvPicPr>
            <a:picLocks noChangeAspect="1"/>
          </p:cNvPicPr>
          <p:nvPr/>
        </p:nvPicPr>
        <p:blipFill>
          <a:blip r:embed="rId3"/>
          <a:stretch>
            <a:fillRect/>
          </a:stretch>
        </p:blipFill>
        <p:spPr>
          <a:xfrm>
            <a:off x="9038202" y="1716783"/>
            <a:ext cx="2762093" cy="1352550"/>
          </a:xfrm>
          <a:prstGeom prst="rect">
            <a:avLst/>
          </a:prstGeom>
        </p:spPr>
      </p:pic>
      <p:pic>
        <p:nvPicPr>
          <p:cNvPr id="7" name="Picture 6">
            <a:extLst>
              <a:ext uri="{FF2B5EF4-FFF2-40B4-BE49-F238E27FC236}">
                <a16:creationId xmlns:a16="http://schemas.microsoft.com/office/drawing/2014/main" id="{EB5976E8-543B-D514-FA0F-6791D042B1EE}"/>
              </a:ext>
            </a:extLst>
          </p:cNvPr>
          <p:cNvPicPr>
            <a:picLocks noChangeAspect="1"/>
          </p:cNvPicPr>
          <p:nvPr/>
        </p:nvPicPr>
        <p:blipFill>
          <a:blip r:embed="rId4"/>
          <a:stretch>
            <a:fillRect/>
          </a:stretch>
        </p:blipFill>
        <p:spPr>
          <a:xfrm>
            <a:off x="5371235" y="1687736"/>
            <a:ext cx="3578092" cy="4679058"/>
          </a:xfrm>
          <a:prstGeom prst="rect">
            <a:avLst/>
          </a:prstGeom>
        </p:spPr>
      </p:pic>
      <p:pic>
        <p:nvPicPr>
          <p:cNvPr id="4" name="Picture 3" descr="A black background with blue and green text&#10;&#10;AI-generated content may be incorrect.">
            <a:extLst>
              <a:ext uri="{FF2B5EF4-FFF2-40B4-BE49-F238E27FC236}">
                <a16:creationId xmlns:a16="http://schemas.microsoft.com/office/drawing/2014/main" id="{5162490F-706E-5AFD-F53D-213C975E51CF}"/>
              </a:ext>
            </a:extLst>
          </p:cNvPr>
          <p:cNvPicPr>
            <a:picLocks noChangeAspect="1"/>
          </p:cNvPicPr>
          <p:nvPr/>
        </p:nvPicPr>
        <p:blipFill>
          <a:blip r:embed="rId5"/>
          <a:stretch>
            <a:fillRect/>
          </a:stretch>
        </p:blipFill>
        <p:spPr>
          <a:xfrm>
            <a:off x="9038123" y="3242672"/>
            <a:ext cx="1389391" cy="2224127"/>
          </a:xfrm>
          <a:prstGeom prst="rect">
            <a:avLst/>
          </a:prstGeom>
        </p:spPr>
      </p:pic>
    </p:spTree>
    <p:extLst>
      <p:ext uri="{BB962C8B-B14F-4D97-AF65-F5344CB8AC3E}">
        <p14:creationId xmlns:p14="http://schemas.microsoft.com/office/powerpoint/2010/main" val="3751184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F4AD6-2633-AB3F-7E6D-059A25133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CB57AF-8A92-B6CE-E0BF-64273E394416}"/>
              </a:ext>
            </a:extLst>
          </p:cNvPr>
          <p:cNvSpPr>
            <a:spLocks noGrp="1"/>
          </p:cNvSpPr>
          <p:nvPr>
            <p:ph type="title"/>
          </p:nvPr>
        </p:nvSpPr>
        <p:spPr/>
        <p:txBody>
          <a:bodyPr/>
          <a:lstStyle/>
          <a:p>
            <a:r>
              <a:rPr lang="en-US"/>
              <a:t>Case Study – Demo</a:t>
            </a:r>
          </a:p>
        </p:txBody>
      </p:sp>
      <p:pic>
        <p:nvPicPr>
          <p:cNvPr id="3" name="2025-04-23 18-19-50">
            <a:hlinkClick r:id="" action="ppaction://media"/>
            <a:extLst>
              <a:ext uri="{FF2B5EF4-FFF2-40B4-BE49-F238E27FC236}">
                <a16:creationId xmlns:a16="http://schemas.microsoft.com/office/drawing/2014/main" id="{7D6A59D5-B359-D723-1538-704F8E29FF4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1736093" y="1410954"/>
            <a:ext cx="8719813" cy="4904784"/>
          </a:xfrm>
        </p:spPr>
      </p:pic>
    </p:spTree>
    <p:extLst>
      <p:ext uri="{BB962C8B-B14F-4D97-AF65-F5344CB8AC3E}">
        <p14:creationId xmlns:p14="http://schemas.microsoft.com/office/powerpoint/2010/main" val="67311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12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194CC-8687-BB30-0DC3-3713025FE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E2E795-2624-B210-7A28-D4C03397DE8B}"/>
              </a:ext>
            </a:extLst>
          </p:cNvPr>
          <p:cNvSpPr>
            <a:spLocks noGrp="1"/>
          </p:cNvSpPr>
          <p:nvPr>
            <p:ph type="title"/>
          </p:nvPr>
        </p:nvSpPr>
        <p:spPr/>
        <p:txBody>
          <a:bodyPr/>
          <a:lstStyle/>
          <a:p>
            <a:r>
              <a:rPr lang="en-US"/>
              <a:t>Case Study – </a:t>
            </a:r>
            <a:r>
              <a:rPr lang="en-US" err="1"/>
              <a:t>count_alpha_digit</a:t>
            </a:r>
            <a:endParaRPr lang="en-US"/>
          </a:p>
        </p:txBody>
      </p:sp>
      <p:pic>
        <p:nvPicPr>
          <p:cNvPr id="4" name="Picture 3">
            <a:extLst>
              <a:ext uri="{FF2B5EF4-FFF2-40B4-BE49-F238E27FC236}">
                <a16:creationId xmlns:a16="http://schemas.microsoft.com/office/drawing/2014/main" id="{B9C2DD1E-7F5B-006A-58AB-B9C0221D1023}"/>
              </a:ext>
            </a:extLst>
          </p:cNvPr>
          <p:cNvPicPr>
            <a:picLocks noChangeAspect="1"/>
          </p:cNvPicPr>
          <p:nvPr/>
        </p:nvPicPr>
        <p:blipFill>
          <a:blip r:embed="rId3"/>
          <a:stretch>
            <a:fillRect/>
          </a:stretch>
        </p:blipFill>
        <p:spPr>
          <a:xfrm>
            <a:off x="95884" y="1660569"/>
            <a:ext cx="4088190" cy="4342186"/>
          </a:xfrm>
          <a:prstGeom prst="rect">
            <a:avLst/>
          </a:prstGeom>
        </p:spPr>
      </p:pic>
      <p:pic>
        <p:nvPicPr>
          <p:cNvPr id="5" name="Picture 4">
            <a:extLst>
              <a:ext uri="{FF2B5EF4-FFF2-40B4-BE49-F238E27FC236}">
                <a16:creationId xmlns:a16="http://schemas.microsoft.com/office/drawing/2014/main" id="{94FA98CB-A06D-08DD-10D3-EEB10928D600}"/>
              </a:ext>
            </a:extLst>
          </p:cNvPr>
          <p:cNvPicPr>
            <a:picLocks noChangeAspect="1"/>
          </p:cNvPicPr>
          <p:nvPr/>
        </p:nvPicPr>
        <p:blipFill>
          <a:blip r:embed="rId4"/>
          <a:stretch>
            <a:fillRect/>
          </a:stretch>
        </p:blipFill>
        <p:spPr>
          <a:xfrm>
            <a:off x="4264515" y="1649123"/>
            <a:ext cx="3904927" cy="4377604"/>
          </a:xfrm>
          <a:prstGeom prst="rect">
            <a:avLst/>
          </a:prstGeom>
        </p:spPr>
      </p:pic>
      <p:pic>
        <p:nvPicPr>
          <p:cNvPr id="6" name="Picture 5">
            <a:extLst>
              <a:ext uri="{FF2B5EF4-FFF2-40B4-BE49-F238E27FC236}">
                <a16:creationId xmlns:a16="http://schemas.microsoft.com/office/drawing/2014/main" id="{E38B1DC9-BA3E-08C2-F9AD-769B217439AA}"/>
              </a:ext>
            </a:extLst>
          </p:cNvPr>
          <p:cNvPicPr>
            <a:picLocks noChangeAspect="1"/>
          </p:cNvPicPr>
          <p:nvPr/>
        </p:nvPicPr>
        <p:blipFill>
          <a:blip r:embed="rId5"/>
          <a:stretch>
            <a:fillRect/>
          </a:stretch>
        </p:blipFill>
        <p:spPr>
          <a:xfrm>
            <a:off x="8291449" y="1669229"/>
            <a:ext cx="3858986" cy="4359895"/>
          </a:xfrm>
          <a:prstGeom prst="rect">
            <a:avLst/>
          </a:prstGeom>
        </p:spPr>
      </p:pic>
      <p:sp>
        <p:nvSpPr>
          <p:cNvPr id="8" name="TextBox 7">
            <a:extLst>
              <a:ext uri="{FF2B5EF4-FFF2-40B4-BE49-F238E27FC236}">
                <a16:creationId xmlns:a16="http://schemas.microsoft.com/office/drawing/2014/main" id="{B33EA938-6A5B-60C6-57F3-4F1144BECF04}"/>
              </a:ext>
            </a:extLst>
          </p:cNvPr>
          <p:cNvSpPr txBox="1"/>
          <p:nvPr/>
        </p:nvSpPr>
        <p:spPr>
          <a:xfrm>
            <a:off x="4264515" y="6026727"/>
            <a:ext cx="2050473" cy="369332"/>
          </a:xfrm>
          <a:prstGeom prst="rect">
            <a:avLst/>
          </a:prstGeom>
          <a:noFill/>
        </p:spPr>
        <p:txBody>
          <a:bodyPr wrap="square">
            <a:spAutoFit/>
          </a:bodyPr>
          <a:lstStyle/>
          <a:p>
            <a:r>
              <a:rPr lang="en-US"/>
              <a:t>Pipeline returned</a:t>
            </a:r>
          </a:p>
        </p:txBody>
      </p:sp>
      <p:sp>
        <p:nvSpPr>
          <p:cNvPr id="10" name="TextBox 9">
            <a:extLst>
              <a:ext uri="{FF2B5EF4-FFF2-40B4-BE49-F238E27FC236}">
                <a16:creationId xmlns:a16="http://schemas.microsoft.com/office/drawing/2014/main" id="{25671F17-C7CD-7E6F-654C-FA6137033B2E}"/>
              </a:ext>
            </a:extLst>
          </p:cNvPr>
          <p:cNvSpPr txBox="1"/>
          <p:nvPr/>
        </p:nvSpPr>
        <p:spPr>
          <a:xfrm>
            <a:off x="8328455" y="6026727"/>
            <a:ext cx="2050473" cy="369332"/>
          </a:xfrm>
          <a:prstGeom prst="rect">
            <a:avLst/>
          </a:prstGeom>
          <a:noFill/>
        </p:spPr>
        <p:txBody>
          <a:bodyPr wrap="square">
            <a:spAutoFit/>
          </a:bodyPr>
          <a:lstStyle/>
          <a:p>
            <a:r>
              <a:rPr lang="en-US"/>
              <a:t>Baseline returned</a:t>
            </a:r>
          </a:p>
        </p:txBody>
      </p:sp>
      <p:sp>
        <p:nvSpPr>
          <p:cNvPr id="11" name="TextBox 10">
            <a:extLst>
              <a:ext uri="{FF2B5EF4-FFF2-40B4-BE49-F238E27FC236}">
                <a16:creationId xmlns:a16="http://schemas.microsoft.com/office/drawing/2014/main" id="{A3DC7E3A-58FF-849D-40CB-6CAEAF623C15}"/>
              </a:ext>
            </a:extLst>
          </p:cNvPr>
          <p:cNvSpPr txBox="1"/>
          <p:nvPr/>
        </p:nvSpPr>
        <p:spPr>
          <a:xfrm>
            <a:off x="200575" y="5993393"/>
            <a:ext cx="2050473" cy="369332"/>
          </a:xfrm>
          <a:prstGeom prst="rect">
            <a:avLst/>
          </a:prstGeom>
          <a:noFill/>
        </p:spPr>
        <p:txBody>
          <a:bodyPr wrap="square">
            <a:spAutoFit/>
          </a:bodyPr>
          <a:lstStyle/>
          <a:p>
            <a:r>
              <a:rPr lang="en-US"/>
              <a:t>Expected return</a:t>
            </a:r>
          </a:p>
        </p:txBody>
      </p:sp>
    </p:spTree>
    <p:extLst>
      <p:ext uri="{BB962C8B-B14F-4D97-AF65-F5344CB8AC3E}">
        <p14:creationId xmlns:p14="http://schemas.microsoft.com/office/powerpoint/2010/main" val="280655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4878C-8383-B9F2-DB6D-2C68A8DA7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BF784-F049-2F93-6FB2-B29437630FA9}"/>
              </a:ext>
            </a:extLst>
          </p:cNvPr>
          <p:cNvSpPr>
            <a:spLocks noGrp="1"/>
          </p:cNvSpPr>
          <p:nvPr>
            <p:ph type="title"/>
          </p:nvPr>
        </p:nvSpPr>
        <p:spPr/>
        <p:txBody>
          <a:bodyPr/>
          <a:lstStyle/>
          <a:p>
            <a:r>
              <a:rPr lang="en-US"/>
              <a:t>Case Study – count_alpha_digit</a:t>
            </a:r>
          </a:p>
        </p:txBody>
      </p:sp>
      <p:sp>
        <p:nvSpPr>
          <p:cNvPr id="3" name="Content Placeholder 2">
            <a:extLst>
              <a:ext uri="{FF2B5EF4-FFF2-40B4-BE49-F238E27FC236}">
                <a16:creationId xmlns:a16="http://schemas.microsoft.com/office/drawing/2014/main" id="{C5A62DFA-79BC-CF90-6802-7E8A8AA11BEA}"/>
              </a:ext>
            </a:extLst>
          </p:cNvPr>
          <p:cNvSpPr>
            <a:spLocks noGrp="1"/>
          </p:cNvSpPr>
          <p:nvPr>
            <p:ph idx="1"/>
          </p:nvPr>
        </p:nvSpPr>
        <p:spPr>
          <a:xfrm>
            <a:off x="838200" y="1825625"/>
            <a:ext cx="5600700" cy="4351338"/>
          </a:xfrm>
        </p:spPr>
        <p:txBody>
          <a:bodyPr vert="horz" lIns="91440" tIns="45720" rIns="91440" bIns="45720" rtlCol="0" anchor="t">
            <a:normAutofit/>
          </a:bodyPr>
          <a:lstStyle/>
          <a:p>
            <a:pPr marL="0" indent="0">
              <a:buNone/>
            </a:pPr>
            <a:r>
              <a:rPr lang="en-US"/>
              <a:t>Original input function </a:t>
            </a:r>
          </a:p>
          <a:p>
            <a:r>
              <a:rPr lang="en-US"/>
              <a:t>Function scans a string for 'A' and '0'</a:t>
            </a:r>
          </a:p>
          <a:p>
            <a:r>
              <a:rPr lang="en-US"/>
              <a:t>Two arguments:</a:t>
            </a:r>
          </a:p>
          <a:p>
            <a:pPr lvl="1">
              <a:buFont typeface="Courier New" panose="020B0604020202020204" pitchFamily="34" charset="0"/>
              <a:buChar char="o"/>
            </a:pPr>
            <a:r>
              <a:rPr lang="en-US"/>
              <a:t>Input string to iterate over</a:t>
            </a:r>
          </a:p>
          <a:p>
            <a:pPr lvl="1">
              <a:buFont typeface="Courier New" panose="020B0604020202020204" pitchFamily="34" charset="0"/>
              <a:buChar char="o"/>
            </a:pPr>
            <a:r>
              <a:rPr lang="en-US"/>
              <a:t>Integer length to control how much of the string to iterate</a:t>
            </a:r>
          </a:p>
        </p:txBody>
      </p:sp>
      <p:pic>
        <p:nvPicPr>
          <p:cNvPr id="10" name="Picture 9">
            <a:extLst>
              <a:ext uri="{FF2B5EF4-FFF2-40B4-BE49-F238E27FC236}">
                <a16:creationId xmlns:a16="http://schemas.microsoft.com/office/drawing/2014/main" id="{2D586760-CF5D-8296-9458-1FBA1841F2AD}"/>
              </a:ext>
            </a:extLst>
          </p:cNvPr>
          <p:cNvPicPr>
            <a:picLocks noChangeAspect="1"/>
          </p:cNvPicPr>
          <p:nvPr/>
        </p:nvPicPr>
        <p:blipFill>
          <a:blip r:embed="rId3"/>
          <a:stretch>
            <a:fillRect/>
          </a:stretch>
        </p:blipFill>
        <p:spPr>
          <a:xfrm>
            <a:off x="6633275" y="1508760"/>
            <a:ext cx="4358511" cy="4671060"/>
          </a:xfrm>
          <a:prstGeom prst="rect">
            <a:avLst/>
          </a:prstGeom>
        </p:spPr>
      </p:pic>
    </p:spTree>
    <p:extLst>
      <p:ext uri="{BB962C8B-B14F-4D97-AF65-F5344CB8AC3E}">
        <p14:creationId xmlns:p14="http://schemas.microsoft.com/office/powerpoint/2010/main" val="26816565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11CD9-1848-15EB-56FF-99AEE1B296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280D7-423E-D8F0-B57B-88CE5F2BCC4E}"/>
              </a:ext>
            </a:extLst>
          </p:cNvPr>
          <p:cNvSpPr>
            <a:spLocks noGrp="1"/>
          </p:cNvSpPr>
          <p:nvPr>
            <p:ph type="title"/>
          </p:nvPr>
        </p:nvSpPr>
        <p:spPr/>
        <p:txBody>
          <a:bodyPr/>
          <a:lstStyle/>
          <a:p>
            <a:r>
              <a:rPr lang="en-US"/>
              <a:t>Case Study – count_alpha_digit</a:t>
            </a:r>
          </a:p>
        </p:txBody>
      </p:sp>
      <p:sp>
        <p:nvSpPr>
          <p:cNvPr id="3" name="Content Placeholder 2">
            <a:extLst>
              <a:ext uri="{FF2B5EF4-FFF2-40B4-BE49-F238E27FC236}">
                <a16:creationId xmlns:a16="http://schemas.microsoft.com/office/drawing/2014/main" id="{D6C2C50F-9C49-AFA3-AA85-E857C583BA95}"/>
              </a:ext>
            </a:extLst>
          </p:cNvPr>
          <p:cNvSpPr>
            <a:spLocks noGrp="1"/>
          </p:cNvSpPr>
          <p:nvPr>
            <p:ph idx="1"/>
          </p:nvPr>
        </p:nvSpPr>
        <p:spPr/>
        <p:txBody>
          <a:bodyPr vert="horz" lIns="91440" tIns="45720" rIns="91440" bIns="45720" rtlCol="0" anchor="t">
            <a:normAutofit/>
          </a:bodyPr>
          <a:lstStyle/>
          <a:p>
            <a:pPr marL="0" indent="0">
              <a:buNone/>
            </a:pPr>
            <a:r>
              <a:rPr lang="en-US" err="1"/>
              <a:t>GLeNN</a:t>
            </a:r>
            <a:r>
              <a:rPr lang="en-US"/>
              <a:t> Pipeline Output:</a:t>
            </a:r>
          </a:p>
          <a:p>
            <a:r>
              <a:rPr lang="en-US"/>
              <a:t>Key Points:</a:t>
            </a:r>
          </a:p>
          <a:p>
            <a:pPr lvl="1">
              <a:buFont typeface="Courier New" panose="020B0604020202020204" pitchFamily="34" charset="0"/>
              <a:buChar char="o"/>
            </a:pPr>
            <a:r>
              <a:rPr lang="en-US"/>
              <a:t>Correct loop structure</a:t>
            </a:r>
          </a:p>
          <a:p>
            <a:pPr lvl="1">
              <a:buFont typeface="Courier New" panose="020B0604020202020204" pitchFamily="34" charset="0"/>
              <a:buChar char="o"/>
            </a:pPr>
            <a:r>
              <a:rPr lang="en-US"/>
              <a:t>Correct decision structure</a:t>
            </a:r>
          </a:p>
          <a:p>
            <a:pPr lvl="1">
              <a:buFont typeface="Courier New" panose="020B0604020202020204" pitchFamily="34" charset="0"/>
              <a:buChar char="o"/>
            </a:pPr>
            <a:r>
              <a:rPr lang="en-US"/>
              <a:t>Alternate logic for arguments</a:t>
            </a:r>
          </a:p>
          <a:p>
            <a:pPr lvl="2">
              <a:buFont typeface="Wingdings" panose="020B0604020202020204" pitchFamily="34" charset="0"/>
              <a:buChar char="§"/>
            </a:pPr>
            <a:r>
              <a:rPr lang="en-US"/>
              <a:t>Loses functionality to control length of iterator</a:t>
            </a:r>
            <a:br>
              <a:rPr lang="en-US"/>
            </a:br>
            <a:endParaRPr lang="en-US"/>
          </a:p>
        </p:txBody>
      </p:sp>
      <p:pic>
        <p:nvPicPr>
          <p:cNvPr id="4" name="Picture 3">
            <a:extLst>
              <a:ext uri="{FF2B5EF4-FFF2-40B4-BE49-F238E27FC236}">
                <a16:creationId xmlns:a16="http://schemas.microsoft.com/office/drawing/2014/main" id="{FE2FAEF2-8E3B-D528-871B-BCB1F36CC1ED}"/>
              </a:ext>
            </a:extLst>
          </p:cNvPr>
          <p:cNvPicPr>
            <a:picLocks noChangeAspect="1"/>
          </p:cNvPicPr>
          <p:nvPr/>
        </p:nvPicPr>
        <p:blipFill>
          <a:blip r:embed="rId3"/>
          <a:stretch>
            <a:fillRect/>
          </a:stretch>
        </p:blipFill>
        <p:spPr>
          <a:xfrm>
            <a:off x="7012466" y="1645920"/>
            <a:ext cx="3904927" cy="4709160"/>
          </a:xfrm>
          <a:prstGeom prst="rect">
            <a:avLst/>
          </a:prstGeom>
        </p:spPr>
      </p:pic>
    </p:spTree>
    <p:extLst>
      <p:ext uri="{BB962C8B-B14F-4D97-AF65-F5344CB8AC3E}">
        <p14:creationId xmlns:p14="http://schemas.microsoft.com/office/powerpoint/2010/main" val="1478490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7845C-3E76-AABB-02A7-44982896FD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DD9BC-3898-56FE-ED36-EB4BDCF2A72D}"/>
              </a:ext>
            </a:extLst>
          </p:cNvPr>
          <p:cNvSpPr>
            <a:spLocks noGrp="1"/>
          </p:cNvSpPr>
          <p:nvPr>
            <p:ph type="title"/>
          </p:nvPr>
        </p:nvSpPr>
        <p:spPr/>
        <p:txBody>
          <a:bodyPr/>
          <a:lstStyle/>
          <a:p>
            <a:r>
              <a:rPr lang="en-US"/>
              <a:t>Case Study – count_alpha_digit</a:t>
            </a:r>
          </a:p>
        </p:txBody>
      </p:sp>
      <p:sp>
        <p:nvSpPr>
          <p:cNvPr id="3" name="Content Placeholder 2">
            <a:extLst>
              <a:ext uri="{FF2B5EF4-FFF2-40B4-BE49-F238E27FC236}">
                <a16:creationId xmlns:a16="http://schemas.microsoft.com/office/drawing/2014/main" id="{BC194678-66A1-B945-B0A6-ECFA7B9B322D}"/>
              </a:ext>
            </a:extLst>
          </p:cNvPr>
          <p:cNvSpPr>
            <a:spLocks noGrp="1"/>
          </p:cNvSpPr>
          <p:nvPr>
            <p:ph idx="1"/>
          </p:nvPr>
        </p:nvSpPr>
        <p:spPr>
          <a:xfrm>
            <a:off x="838200" y="1825625"/>
            <a:ext cx="5818208" cy="4370629"/>
          </a:xfrm>
        </p:spPr>
        <p:txBody>
          <a:bodyPr vert="horz" lIns="91440" tIns="45720" rIns="91440" bIns="45720" rtlCol="0" anchor="t">
            <a:normAutofit/>
          </a:bodyPr>
          <a:lstStyle/>
          <a:p>
            <a:pPr marL="0" indent="0">
              <a:buNone/>
            </a:pPr>
            <a:r>
              <a:rPr lang="en-US"/>
              <a:t>Baseline Returned</a:t>
            </a:r>
          </a:p>
          <a:p>
            <a:pPr>
              <a:buFont typeface="Arial"/>
              <a:buChar char="•"/>
            </a:pPr>
            <a:r>
              <a:rPr lang="en-US"/>
              <a:t>Key Points:</a:t>
            </a:r>
          </a:p>
          <a:p>
            <a:pPr marL="971550" lvl="1" indent="-285750">
              <a:buFont typeface="Courier New,monospace"/>
              <a:buChar char="o"/>
            </a:pPr>
            <a:r>
              <a:rPr lang="en-US"/>
              <a:t>Utilized while loops to retain same logic structure instead of for loops</a:t>
            </a:r>
          </a:p>
          <a:p>
            <a:pPr marL="971550" lvl="1" indent="-285750">
              <a:buFont typeface="Courier New,monospace"/>
              <a:buChar char="o"/>
            </a:pPr>
            <a:r>
              <a:rPr lang="en-US"/>
              <a:t>Incorrect decision structure counts ALL alphanumeric characters</a:t>
            </a:r>
          </a:p>
          <a:p>
            <a:pPr marL="0" indent="0">
              <a:buNone/>
            </a:pPr>
            <a:endParaRPr lang="en-US"/>
          </a:p>
        </p:txBody>
      </p:sp>
      <p:pic>
        <p:nvPicPr>
          <p:cNvPr id="4" name="Picture 3">
            <a:extLst>
              <a:ext uri="{FF2B5EF4-FFF2-40B4-BE49-F238E27FC236}">
                <a16:creationId xmlns:a16="http://schemas.microsoft.com/office/drawing/2014/main" id="{B9490BC7-1C42-2D03-9522-1F2AF0A1D6D3}"/>
              </a:ext>
            </a:extLst>
          </p:cNvPr>
          <p:cNvPicPr>
            <a:picLocks noChangeAspect="1"/>
          </p:cNvPicPr>
          <p:nvPr/>
        </p:nvPicPr>
        <p:blipFill>
          <a:blip r:embed="rId3"/>
          <a:stretch>
            <a:fillRect/>
          </a:stretch>
        </p:blipFill>
        <p:spPr>
          <a:xfrm>
            <a:off x="6875417" y="1691640"/>
            <a:ext cx="3858986" cy="4503420"/>
          </a:xfrm>
          <a:prstGeom prst="rect">
            <a:avLst/>
          </a:prstGeom>
        </p:spPr>
      </p:pic>
    </p:spTree>
    <p:extLst>
      <p:ext uri="{BB962C8B-B14F-4D97-AF65-F5344CB8AC3E}">
        <p14:creationId xmlns:p14="http://schemas.microsoft.com/office/powerpoint/2010/main" val="40365853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7DCC1-1999-54B7-5E38-BA947FFB1C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6D691-A133-084F-023D-B02D81C8DD72}"/>
              </a:ext>
            </a:extLst>
          </p:cNvPr>
          <p:cNvSpPr>
            <a:spLocks noGrp="1"/>
          </p:cNvSpPr>
          <p:nvPr>
            <p:ph type="title"/>
          </p:nvPr>
        </p:nvSpPr>
        <p:spPr/>
        <p:txBody>
          <a:bodyPr/>
          <a:lstStyle/>
          <a:p>
            <a:r>
              <a:rPr lang="en-US"/>
              <a:t>Achievements</a:t>
            </a:r>
          </a:p>
        </p:txBody>
      </p:sp>
      <p:sp>
        <p:nvSpPr>
          <p:cNvPr id="3" name="Content Placeholder 2">
            <a:extLst>
              <a:ext uri="{FF2B5EF4-FFF2-40B4-BE49-F238E27FC236}">
                <a16:creationId xmlns:a16="http://schemas.microsoft.com/office/drawing/2014/main" id="{17FBB0CE-EF8E-F86D-FD31-92B2788E00E4}"/>
              </a:ext>
            </a:extLst>
          </p:cNvPr>
          <p:cNvSpPr>
            <a:spLocks noGrp="1"/>
          </p:cNvSpPr>
          <p:nvPr>
            <p:ph idx="1"/>
          </p:nvPr>
        </p:nvSpPr>
        <p:spPr>
          <a:xfrm>
            <a:off x="838200" y="1825625"/>
            <a:ext cx="8222673" cy="4351338"/>
          </a:xfrm>
        </p:spPr>
        <p:txBody>
          <a:bodyPr vert="horz" lIns="91440" tIns="45720" rIns="91440" bIns="45720" rtlCol="0" anchor="t">
            <a:normAutofit/>
          </a:bodyPr>
          <a:lstStyle/>
          <a:p>
            <a:r>
              <a:rPr lang="en-US" sz="2800" b="1"/>
              <a:t>35 pp increase over LLM4Decompile</a:t>
            </a:r>
            <a:endParaRPr lang="en-US"/>
          </a:p>
          <a:p>
            <a:r>
              <a:rPr lang="en-US"/>
              <a:t>Two-pass</a:t>
            </a:r>
            <a:r>
              <a:rPr lang="en-US">
                <a:ea typeface="+mn-lt"/>
                <a:cs typeface="+mn-lt"/>
              </a:rPr>
              <a:t> Neo4j retrieval (vector + GED) </a:t>
            </a:r>
            <a:r>
              <a:rPr lang="en-US">
                <a:solidFill>
                  <a:srgbClr val="FFFFFF"/>
                </a:solidFill>
                <a:latin typeface="Franklin Gothic Book"/>
                <a:ea typeface="+mn-lt"/>
                <a:cs typeface="Times New Roman"/>
              </a:rPr>
              <a:t>→ </a:t>
            </a:r>
            <a:r>
              <a:rPr lang="en-US">
                <a:ea typeface="+mn-lt"/>
                <a:cs typeface="+mn-lt"/>
              </a:rPr>
              <a:t>cuts down on LLM hallucinations</a:t>
            </a:r>
            <a:endParaRPr lang="en-US"/>
          </a:p>
          <a:p>
            <a:r>
              <a:rPr lang="en-US"/>
              <a:t>Proved</a:t>
            </a:r>
            <a:r>
              <a:rPr lang="en-US">
                <a:ea typeface="+mn-lt"/>
                <a:cs typeface="+mn-lt"/>
              </a:rPr>
              <a:t> that RAG enabled LLMs greatly enhance static decompilation precision &amp; completeness</a:t>
            </a:r>
          </a:p>
          <a:p>
            <a:r>
              <a:rPr lang="en-US"/>
              <a:t>Fully open source and available on GitHub</a:t>
            </a:r>
          </a:p>
          <a:p>
            <a:endParaRPr lang="en-US"/>
          </a:p>
        </p:txBody>
      </p:sp>
      <p:pic>
        <p:nvPicPr>
          <p:cNvPr id="5" name="Picture 4">
            <a:extLst>
              <a:ext uri="{FF2B5EF4-FFF2-40B4-BE49-F238E27FC236}">
                <a16:creationId xmlns:a16="http://schemas.microsoft.com/office/drawing/2014/main" id="{BA952133-59B2-6FC4-FD2A-131A50A0A162}"/>
              </a:ext>
            </a:extLst>
          </p:cNvPr>
          <p:cNvPicPr>
            <a:picLocks noChangeAspect="1"/>
          </p:cNvPicPr>
          <p:nvPr/>
        </p:nvPicPr>
        <p:blipFill>
          <a:blip r:embed="rId3"/>
          <a:stretch>
            <a:fillRect/>
          </a:stretch>
        </p:blipFill>
        <p:spPr>
          <a:xfrm>
            <a:off x="9318666" y="2893295"/>
            <a:ext cx="2177638" cy="2467990"/>
          </a:xfrm>
          <a:prstGeom prst="rect">
            <a:avLst/>
          </a:prstGeom>
        </p:spPr>
      </p:pic>
    </p:spTree>
    <p:extLst>
      <p:ext uri="{BB962C8B-B14F-4D97-AF65-F5344CB8AC3E}">
        <p14:creationId xmlns:p14="http://schemas.microsoft.com/office/powerpoint/2010/main" val="1379731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D033B-79ED-08E6-9A81-2224CE0885A5}"/>
              </a:ext>
            </a:extLst>
          </p:cNvPr>
          <p:cNvSpPr>
            <a:spLocks noGrp="1"/>
          </p:cNvSpPr>
          <p:nvPr>
            <p:ph type="title"/>
          </p:nvPr>
        </p:nvSpPr>
        <p:spPr>
          <a:xfrm>
            <a:off x="838200" y="365125"/>
            <a:ext cx="10515600" cy="1325563"/>
          </a:xfrm>
        </p:spPr>
        <p:txBody>
          <a:bodyPr anchor="ctr">
            <a:normAutofit/>
          </a:bodyPr>
          <a:lstStyle/>
          <a:p>
            <a:r>
              <a:rPr lang="en-US"/>
              <a:t>Discussion and Future Work</a:t>
            </a:r>
          </a:p>
        </p:txBody>
      </p:sp>
      <p:sp>
        <p:nvSpPr>
          <p:cNvPr id="3" name="Content Placeholder 2">
            <a:extLst>
              <a:ext uri="{FF2B5EF4-FFF2-40B4-BE49-F238E27FC236}">
                <a16:creationId xmlns:a16="http://schemas.microsoft.com/office/drawing/2014/main" id="{E37D1E5D-C245-EDEC-2A16-06B87BAE072C}"/>
              </a:ext>
            </a:extLst>
          </p:cNvPr>
          <p:cNvSpPr>
            <a:spLocks noGrp="1"/>
          </p:cNvSpPr>
          <p:nvPr>
            <p:ph idx="1"/>
          </p:nvPr>
        </p:nvSpPr>
        <p:spPr>
          <a:xfrm>
            <a:off x="838200" y="1825625"/>
            <a:ext cx="4876800" cy="4351338"/>
          </a:xfrm>
        </p:spPr>
        <p:txBody>
          <a:bodyPr vert="horz" lIns="91440" tIns="45720" rIns="91440" bIns="45720" rtlCol="0">
            <a:normAutofit/>
          </a:bodyPr>
          <a:lstStyle/>
          <a:p>
            <a:r>
              <a:rPr lang="en-US"/>
              <a:t>Future:</a:t>
            </a:r>
          </a:p>
          <a:p>
            <a:pPr lvl="1"/>
            <a:r>
              <a:rPr lang="en-US" sz="2800"/>
              <a:t>Extend to full-program decompilation.</a:t>
            </a:r>
          </a:p>
          <a:p>
            <a:pPr lvl="1"/>
            <a:r>
              <a:rPr lang="en-US" sz="2800"/>
              <a:t>Improve LLM tuning and CFG embeddings.</a:t>
            </a:r>
          </a:p>
          <a:p>
            <a:endParaRPr lang="en-US"/>
          </a:p>
        </p:txBody>
      </p:sp>
      <p:grpSp>
        <p:nvGrpSpPr>
          <p:cNvPr id="8" name="Group 7">
            <a:extLst>
              <a:ext uri="{FF2B5EF4-FFF2-40B4-BE49-F238E27FC236}">
                <a16:creationId xmlns:a16="http://schemas.microsoft.com/office/drawing/2014/main" id="{C9A2D3FC-F03F-38DC-C70B-2416736EC6E8}"/>
              </a:ext>
            </a:extLst>
          </p:cNvPr>
          <p:cNvGrpSpPr/>
          <p:nvPr/>
        </p:nvGrpSpPr>
        <p:grpSpPr>
          <a:xfrm>
            <a:off x="6466681" y="1825625"/>
            <a:ext cx="4351338" cy="4351338"/>
            <a:chOff x="6466681" y="1825625"/>
            <a:chExt cx="4351338" cy="4351338"/>
          </a:xfrm>
        </p:grpSpPr>
        <p:pic>
          <p:nvPicPr>
            <p:cNvPr id="5" name="Graphic 4" descr="Laptop with solid fill">
              <a:extLst>
                <a:ext uri="{FF2B5EF4-FFF2-40B4-BE49-F238E27FC236}">
                  <a16:creationId xmlns:a16="http://schemas.microsoft.com/office/drawing/2014/main" id="{19F60800-48B0-2F8D-F898-9FC85BAD13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66681" y="1825625"/>
              <a:ext cx="4351338" cy="4351338"/>
            </a:xfrm>
            <a:prstGeom prst="rect">
              <a:avLst/>
            </a:prstGeom>
          </p:spPr>
        </p:pic>
        <p:pic>
          <p:nvPicPr>
            <p:cNvPr id="7" name="Graphic 6" descr="Future with solid fill">
              <a:extLst>
                <a:ext uri="{FF2B5EF4-FFF2-40B4-BE49-F238E27FC236}">
                  <a16:creationId xmlns:a16="http://schemas.microsoft.com/office/drawing/2014/main" id="{4BB8C858-03E6-54F6-7439-F1EF3075F3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53363" y="3015456"/>
              <a:ext cx="1604962" cy="1604962"/>
            </a:xfrm>
            <a:prstGeom prst="rect">
              <a:avLst/>
            </a:prstGeom>
          </p:spPr>
        </p:pic>
      </p:grpSp>
    </p:spTree>
    <p:extLst>
      <p:ext uri="{BB962C8B-B14F-4D97-AF65-F5344CB8AC3E}">
        <p14:creationId xmlns:p14="http://schemas.microsoft.com/office/powerpoint/2010/main" val="3272722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1F2CD-DFC1-BCF2-5794-3A0844FDF593}"/>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5F8BB5DE-1A96-95D0-0D8E-8F109E7C004F}"/>
              </a:ext>
            </a:extLst>
          </p:cNvPr>
          <p:cNvSpPr>
            <a:spLocks noGrp="1"/>
          </p:cNvSpPr>
          <p:nvPr>
            <p:ph idx="1"/>
          </p:nvPr>
        </p:nvSpPr>
        <p:spPr>
          <a:xfrm>
            <a:off x="688769" y="1825625"/>
            <a:ext cx="10665031" cy="4351338"/>
          </a:xfrm>
        </p:spPr>
        <p:txBody>
          <a:bodyPr>
            <a:noAutofit/>
          </a:bodyPr>
          <a:lstStyle/>
          <a:p>
            <a:r>
              <a:rPr lang="en-US" sz="1600" b="0" i="0" u="none" strike="noStrike">
                <a:effectLst/>
              </a:rPr>
              <a:t>H. Tan, Q. Luo, J. Li, and Y. Zhang, “LLM4Decompile: Decompiling Binary Code with Large Language Models,” </a:t>
            </a:r>
            <a:r>
              <a:rPr lang="en-US" sz="1600" b="0" i="1" u="none" strike="noStrike" err="1">
                <a:effectLst/>
              </a:rPr>
              <a:t>arXiv</a:t>
            </a:r>
            <a:r>
              <a:rPr lang="en-US" sz="1600" b="0" i="1" u="none" strike="noStrike">
                <a:effectLst/>
              </a:rPr>
              <a:t> preprint</a:t>
            </a:r>
            <a:r>
              <a:rPr lang="en-US" sz="1600" b="0" i="0" u="none" strike="noStrike">
                <a:effectLst/>
              </a:rPr>
              <a:t>, arXiv:2403.05286, 2024.</a:t>
            </a:r>
          </a:p>
          <a:p>
            <a:r>
              <a:rPr lang="en-US" sz="1600" b="0" i="0" u="none" strike="noStrike">
                <a:effectLst/>
              </a:rPr>
              <a:t>DeepSeek AI, “DeepSeek Coder,” [Online]. Available: </a:t>
            </a:r>
            <a:r>
              <a:rPr lang="en-US" sz="1600" b="0" i="0" u="none" strike="noStrike">
                <a:effectLst/>
                <a:hlinkClick r:id="rId3">
                  <a:extLst>
                    <a:ext uri="{A12FA001-AC4F-418D-AE19-62706E023703}">
                      <ahyp:hlinkClr xmlns:ahyp="http://schemas.microsoft.com/office/drawing/2018/hyperlinkcolor" val="tx"/>
                    </a:ext>
                  </a:extLst>
                </a:hlinkClick>
              </a:rPr>
              <a:t>https://huggingface.co/deepseek-ai</a:t>
            </a:r>
            <a:endParaRPr lang="en-US" sz="1600" b="0" i="0" u="none" strike="noStrike">
              <a:effectLst/>
            </a:endParaRPr>
          </a:p>
          <a:p>
            <a:r>
              <a:rPr lang="en-US" sz="1600" b="0" i="0" u="none" strike="noStrike">
                <a:effectLst/>
              </a:rPr>
              <a:t>J. Arib, “</a:t>
            </a:r>
            <a:r>
              <a:rPr lang="en-US" sz="1600" b="0" i="0" u="none" strike="noStrike" err="1">
                <a:effectLst/>
              </a:rPr>
              <a:t>ExeBench</a:t>
            </a:r>
            <a:r>
              <a:rPr lang="en-US" sz="1600" b="0" i="0" u="none" strike="noStrike">
                <a:effectLst/>
              </a:rPr>
              <a:t>: A Benchmark for Binary Decompilation,” </a:t>
            </a:r>
            <a:r>
              <a:rPr lang="en-US" sz="1600" b="0" i="1" u="none" strike="noStrike">
                <a:effectLst/>
              </a:rPr>
              <a:t>Hugging Face Datasets</a:t>
            </a:r>
            <a:r>
              <a:rPr lang="en-US" sz="1600" b="0" i="0" u="none" strike="noStrike">
                <a:effectLst/>
              </a:rPr>
              <a:t>, 2024.</a:t>
            </a:r>
          </a:p>
          <a:p>
            <a:r>
              <a:rPr lang="en-US" sz="1600" b="0" i="0" u="none" strike="noStrike">
                <a:effectLst/>
              </a:rPr>
              <a:t>Neo4j, Inc., “Neo4j Graph Database Platform,” [Online]. Available: </a:t>
            </a:r>
            <a:r>
              <a:rPr lang="en-US" sz="1600" b="0" i="0" u="none" strike="noStrike">
                <a:effectLst/>
                <a:hlinkClick r:id="rId4">
                  <a:extLst>
                    <a:ext uri="{A12FA001-AC4F-418D-AE19-62706E023703}">
                      <ahyp:hlinkClr xmlns:ahyp="http://schemas.microsoft.com/office/drawing/2018/hyperlinkcolor" val="tx"/>
                    </a:ext>
                  </a:extLst>
                </a:hlinkClick>
              </a:rPr>
              <a:t>https://neo4j.com</a:t>
            </a:r>
            <a:endParaRPr lang="en-US" sz="1600" b="0" i="0" u="none" strike="noStrike">
              <a:effectLst/>
            </a:endParaRPr>
          </a:p>
          <a:p>
            <a:r>
              <a:rPr lang="en-US" sz="1600" b="0" i="0" u="none" strike="noStrike">
                <a:effectLst/>
              </a:rPr>
              <a:t>Radare2 Project, “Reverse Engineering Framework,” [Online]. Available: </a:t>
            </a:r>
            <a:r>
              <a:rPr lang="en-US" sz="1600" b="0" i="0" u="none" strike="noStrike">
                <a:effectLst/>
                <a:hlinkClick r:id="rId5">
                  <a:extLst>
                    <a:ext uri="{A12FA001-AC4F-418D-AE19-62706E023703}">
                      <ahyp:hlinkClr xmlns:ahyp="http://schemas.microsoft.com/office/drawing/2018/hyperlinkcolor" val="tx"/>
                    </a:ext>
                  </a:extLst>
                </a:hlinkClick>
              </a:rPr>
              <a:t>https://rada.re/n/</a:t>
            </a:r>
            <a:endParaRPr lang="en-US" sz="1600" b="0" i="0" u="none" strike="noStrike">
              <a:effectLst/>
            </a:endParaRPr>
          </a:p>
          <a:p>
            <a:r>
              <a:rPr lang="en-US" sz="1600" b="0" i="0" u="none" strike="noStrike">
                <a:effectLst/>
              </a:rPr>
              <a:t>National Security Agency, “Ghidra Software Reverse Engineering Framework,” [Online]. Available: </a:t>
            </a:r>
            <a:r>
              <a:rPr lang="en-US" sz="1600" b="0" i="0" u="none" strike="noStrike">
                <a:effectLst/>
                <a:hlinkClick r:id="rId6">
                  <a:extLst>
                    <a:ext uri="{A12FA001-AC4F-418D-AE19-62706E023703}">
                      <ahyp:hlinkClr xmlns:ahyp="http://schemas.microsoft.com/office/drawing/2018/hyperlinkcolor" val="tx"/>
                    </a:ext>
                  </a:extLst>
                </a:hlinkClick>
              </a:rPr>
              <a:t>https://ghidra-sre.org/</a:t>
            </a:r>
            <a:endParaRPr lang="en-US" sz="1600" b="0" i="0" u="none" strike="noStrike">
              <a:effectLst/>
            </a:endParaRPr>
          </a:p>
          <a:p>
            <a:r>
              <a:rPr lang="en-US" sz="1600" b="0" i="0" u="none" strike="noStrike">
                <a:effectLst/>
              </a:rPr>
              <a:t>GCC Team, “The GNU Compiler Collection,” </a:t>
            </a:r>
            <a:r>
              <a:rPr lang="en-US" sz="1600" b="0" i="1" u="none" strike="noStrike">
                <a:effectLst/>
              </a:rPr>
              <a:t>Free Software Foundation</a:t>
            </a:r>
            <a:r>
              <a:rPr lang="en-US" sz="1600" b="0" i="0" u="none" strike="noStrike">
                <a:effectLst/>
              </a:rPr>
              <a:t>, [Online]. Available: </a:t>
            </a:r>
            <a:r>
              <a:rPr lang="en-US" sz="1600" b="0" i="0" u="none" strike="noStrike">
                <a:effectLst/>
                <a:hlinkClick r:id="rId7">
                  <a:extLst>
                    <a:ext uri="{A12FA001-AC4F-418D-AE19-62706E023703}">
                      <ahyp:hlinkClr xmlns:ahyp="http://schemas.microsoft.com/office/drawing/2018/hyperlinkcolor" val="tx"/>
                    </a:ext>
                  </a:extLst>
                </a:hlinkClick>
              </a:rPr>
              <a:t>https://gcc.gnu.org</a:t>
            </a:r>
            <a:endParaRPr lang="en-US" sz="1600" b="0" i="0" u="none" strike="noStrike">
              <a:effectLst/>
            </a:endParaRPr>
          </a:p>
          <a:p>
            <a:r>
              <a:rPr lang="en-US" sz="1600" b="0" i="0" u="none" strike="noStrike">
                <a:effectLst/>
              </a:rPr>
              <a:t>Hugging Face, “Transformers: State-of-the-art Machine Learning for </a:t>
            </a:r>
            <a:r>
              <a:rPr lang="en-US" sz="1600" b="0" i="0" u="none" strike="noStrike" err="1">
                <a:effectLst/>
              </a:rPr>
              <a:t>PyTorch</a:t>
            </a:r>
            <a:r>
              <a:rPr lang="en-US" sz="1600" b="0" i="0" u="none" strike="noStrike">
                <a:effectLst/>
              </a:rPr>
              <a:t>, TensorFlow, and JAX,” [Online]. Available: https://</a:t>
            </a:r>
            <a:r>
              <a:rPr lang="en-US" sz="1600" b="0" i="0" u="none" strike="noStrike" err="1">
                <a:effectLst/>
              </a:rPr>
              <a:t>huggingface.co</a:t>
            </a:r>
            <a:r>
              <a:rPr lang="en-US" sz="1600" b="0" i="0" u="none" strike="noStrike">
                <a:effectLst/>
              </a:rPr>
              <a:t>/docs/transformers</a:t>
            </a:r>
          </a:p>
          <a:p>
            <a:r>
              <a:rPr lang="en-US" sz="1600" b="0" i="0" u="none" strike="noStrike">
                <a:effectLst/>
              </a:rPr>
              <a:t>Z. Feng, D. Guo, D. Tang, N. Duan, X. Feng, M. Gong, L. Shou, B. Qin, T. Liu, D. Jiang, and M. Zhou, “</a:t>
            </a:r>
            <a:r>
              <a:rPr lang="en-US" sz="1600" b="0" i="0" u="none" strike="noStrike" err="1">
                <a:effectLst/>
              </a:rPr>
              <a:t>CodeBERT</a:t>
            </a:r>
            <a:r>
              <a:rPr lang="en-US" sz="1600" b="0" i="0" u="none" strike="noStrike">
                <a:effectLst/>
              </a:rPr>
              <a:t>: A Pre-Trained Model for Programming and Natural Languages,” </a:t>
            </a:r>
            <a:r>
              <a:rPr lang="en-US" sz="1600" b="0" i="1" u="none" strike="noStrike" err="1">
                <a:effectLst/>
              </a:rPr>
              <a:t>arXiv</a:t>
            </a:r>
            <a:r>
              <a:rPr lang="en-US" sz="1600" b="0" i="1" u="none" strike="noStrike">
                <a:effectLst/>
              </a:rPr>
              <a:t> preprint</a:t>
            </a:r>
            <a:r>
              <a:rPr lang="en-US" sz="1600" b="0" i="0" u="none" strike="noStrike">
                <a:effectLst/>
              </a:rPr>
              <a:t>, arXiv:2002.08155, 2020. [Online]. Available: https://</a:t>
            </a:r>
            <a:r>
              <a:rPr lang="en-US" sz="1600" b="0" i="0" u="none" strike="noStrike" err="1">
                <a:effectLst/>
              </a:rPr>
              <a:t>huggingface.co</a:t>
            </a:r>
            <a:r>
              <a:rPr lang="en-US" sz="1600" b="0" i="0" u="none" strike="noStrike">
                <a:effectLst/>
              </a:rPr>
              <a:t>/</a:t>
            </a:r>
            <a:r>
              <a:rPr lang="en-US" sz="1600" b="0" i="0" u="none" strike="noStrike" err="1">
                <a:effectLst/>
              </a:rPr>
              <a:t>microsoft</a:t>
            </a:r>
            <a:r>
              <a:rPr lang="en-US" sz="1600" b="0" i="0" u="none" strike="noStrike">
                <a:effectLst/>
              </a:rPr>
              <a:t>/</a:t>
            </a:r>
            <a:r>
              <a:rPr lang="en-US" sz="1600" b="0" i="0" u="none" strike="noStrike" err="1">
                <a:effectLst/>
              </a:rPr>
              <a:t>codebert</a:t>
            </a:r>
            <a:r>
              <a:rPr lang="en-US" sz="1600" b="0" i="0" u="none" strike="noStrike">
                <a:effectLst/>
              </a:rPr>
              <a:t>-base</a:t>
            </a:r>
          </a:p>
          <a:p>
            <a:r>
              <a:rPr lang="en-US" sz="1600" b="0" i="0" u="none" strike="noStrike">
                <a:effectLst/>
              </a:rPr>
              <a:t>Facebook AI Research, “FAISS: A Library for Efficient Similarity Search,” [Online]. Available: </a:t>
            </a:r>
            <a:r>
              <a:rPr lang="en-US" sz="1600" b="0" i="0" u="none" strike="noStrike">
                <a:effectLst/>
                <a:hlinkClick r:id="rId8">
                  <a:extLst>
                    <a:ext uri="{A12FA001-AC4F-418D-AE19-62706E023703}">
                      <ahyp:hlinkClr xmlns:ahyp="http://schemas.microsoft.com/office/drawing/2018/hyperlinkcolor" val="tx"/>
                    </a:ext>
                  </a:extLst>
                </a:hlinkClick>
              </a:rPr>
              <a:t>https://github.com/facebookresearch/faiss</a:t>
            </a:r>
            <a:endParaRPr lang="en-US" sz="1600" b="0" i="0" u="none" strike="noStrike">
              <a:effectLst/>
            </a:endParaRPr>
          </a:p>
        </p:txBody>
      </p:sp>
    </p:spTree>
    <p:extLst>
      <p:ext uri="{BB962C8B-B14F-4D97-AF65-F5344CB8AC3E}">
        <p14:creationId xmlns:p14="http://schemas.microsoft.com/office/powerpoint/2010/main" val="1051461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A11CF9-E3CC-59FF-C63B-E7D141B63BED}"/>
              </a:ext>
            </a:extLst>
          </p:cNvPr>
          <p:cNvSpPr>
            <a:spLocks noGrp="1"/>
          </p:cNvSpPr>
          <p:nvPr>
            <p:ph type="title"/>
          </p:nvPr>
        </p:nvSpPr>
        <p:spPr/>
        <p:txBody>
          <a:bodyPr>
            <a:noAutofit/>
          </a:bodyPr>
          <a:lstStyle/>
          <a:p>
            <a:r>
              <a:rPr lang="en-US" sz="9600">
                <a:solidFill>
                  <a:schemeClr val="tx1"/>
                </a:solidFill>
              </a:rPr>
              <a:t>Q &amp; A</a:t>
            </a:r>
          </a:p>
        </p:txBody>
      </p:sp>
      <p:sp>
        <p:nvSpPr>
          <p:cNvPr id="6" name="Text Placeholder 5">
            <a:extLst>
              <a:ext uri="{FF2B5EF4-FFF2-40B4-BE49-F238E27FC236}">
                <a16:creationId xmlns:a16="http://schemas.microsoft.com/office/drawing/2014/main" id="{193ED73E-E3AC-B1A5-A1C4-F10497BC5022}"/>
              </a:ext>
            </a:extLst>
          </p:cNvPr>
          <p:cNvSpPr>
            <a:spLocks noGrp="1"/>
          </p:cNvSpPr>
          <p:nvPr>
            <p:ph type="body" idx="1"/>
          </p:nvPr>
        </p:nvSpPr>
        <p:spPr/>
        <p:txBody>
          <a:bodyPr/>
          <a:lstStyle/>
          <a:p>
            <a:r>
              <a:rPr lang="en-US">
                <a:solidFill>
                  <a:schemeClr val="tx1"/>
                </a:solidFill>
              </a:rPr>
              <a:t>Thank you</a:t>
            </a:r>
          </a:p>
        </p:txBody>
      </p:sp>
    </p:spTree>
    <p:extLst>
      <p:ext uri="{BB962C8B-B14F-4D97-AF65-F5344CB8AC3E}">
        <p14:creationId xmlns:p14="http://schemas.microsoft.com/office/powerpoint/2010/main" val="1150161234"/>
      </p:ext>
    </p:extLst>
  </p:cSld>
  <p:clrMapOvr>
    <a:masterClrMapping/>
  </p:clrMapOvr>
</p:sld>
</file>

<file path=ppt/theme/theme1.xml><?xml version="1.0" encoding="utf-8"?>
<a:theme xmlns:a="http://schemas.openxmlformats.org/drawingml/2006/main" name="Office Theme">
  <a:themeElements>
    <a:clrScheme name="2024 Mason">
      <a:dk1>
        <a:srgbClr val="000000"/>
      </a:dk1>
      <a:lt1>
        <a:srgbClr val="FFFFFF"/>
      </a:lt1>
      <a:dk2>
        <a:srgbClr val="333333"/>
      </a:dk2>
      <a:lt2>
        <a:srgbClr val="E7E6E6"/>
      </a:lt2>
      <a:accent1>
        <a:srgbClr val="005138"/>
      </a:accent1>
      <a:accent2>
        <a:srgbClr val="FFC733"/>
      </a:accent2>
      <a:accent3>
        <a:srgbClr val="CF4520"/>
      </a:accent3>
      <a:accent4>
        <a:srgbClr val="067681"/>
      </a:accent4>
      <a:accent5>
        <a:srgbClr val="326195"/>
      </a:accent5>
      <a:accent6>
        <a:srgbClr val="796E65"/>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fe368638-d043-443b-91e9-0ae6fcf61500" xsi:nil="true"/>
    <lcf76f155ced4ddcb4097134ff3c332f xmlns="173a88a8-236d-40ce-a9c8-0f7af89cbc1d">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3BEF54C2EDBAD42ABA6D2B17A8AA352" ma:contentTypeVersion="14" ma:contentTypeDescription="Create a new document." ma:contentTypeScope="" ma:versionID="68be0631f34a19f4cd5c2da365b65fa3">
  <xsd:schema xmlns:xsd="http://www.w3.org/2001/XMLSchema" xmlns:xs="http://www.w3.org/2001/XMLSchema" xmlns:p="http://schemas.microsoft.com/office/2006/metadata/properties" xmlns:ns2="173a88a8-236d-40ce-a9c8-0f7af89cbc1d" xmlns:ns3="fe368638-d043-443b-91e9-0ae6fcf61500" targetNamespace="http://schemas.microsoft.com/office/2006/metadata/properties" ma:root="true" ma:fieldsID="d6d9b43eb6c405d88ad37f2b0ea7e8c7" ns2:_="" ns3:_="">
    <xsd:import namespace="173a88a8-236d-40ce-a9c8-0f7af89cbc1d"/>
    <xsd:import namespace="fe368638-d043-443b-91e9-0ae6fcf61500"/>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3a88a8-236d-40ce-a9c8-0f7af89cbc1d"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16c1bbba-1a2d-496b-84ee-32d915066267"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368638-d043-443b-91e9-0ae6fcf61500"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31c242fd-dbac-46b9-8e88-916e6c97b230}" ma:internalName="TaxCatchAll" ma:showField="CatchAllData" ma:web="fe368638-d043-443b-91e9-0ae6fcf61500">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E4B866-3963-435A-98E6-72B22C6A86A4}">
  <ds:schemaRefs>
    <ds:schemaRef ds:uri="http://schemas.microsoft.com/sharepoint/v3/contenttype/forms"/>
  </ds:schemaRefs>
</ds:datastoreItem>
</file>

<file path=customXml/itemProps2.xml><?xml version="1.0" encoding="utf-8"?>
<ds:datastoreItem xmlns:ds="http://schemas.openxmlformats.org/officeDocument/2006/customXml" ds:itemID="{6C238F92-D426-4BEE-805A-F80178872645}">
  <ds:schemaRefs>
    <ds:schemaRef ds:uri="173a88a8-236d-40ce-a9c8-0f7af89cbc1d"/>
    <ds:schemaRef ds:uri="fe368638-d043-443b-91e9-0ae6fcf6150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7750823-6208-4BFF-96DA-C7C4CA3DF7DC}">
  <ds:schemaRefs>
    <ds:schemaRef ds:uri="173a88a8-236d-40ce-a9c8-0f7af89cbc1d"/>
    <ds:schemaRef ds:uri="fe368638-d043-443b-91e9-0ae6fcf6150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Widescreen</PresentationFormat>
  <Slides>27</Slides>
  <Notes>27</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GLeNN: Generative Augmented Large Language Models for Binary Decompilation</vt:lpstr>
      <vt:lpstr>Introduction</vt:lpstr>
      <vt:lpstr>Research Question</vt:lpstr>
      <vt:lpstr>Achievements</vt:lpstr>
      <vt:lpstr>Key Challenges</vt:lpstr>
      <vt:lpstr>Our Approach</vt:lpstr>
      <vt:lpstr>Related Work</vt:lpstr>
      <vt:lpstr>Experiment 1 – Vector Embeddings</vt:lpstr>
      <vt:lpstr>Experiment 1 – Vector Embeddings</vt:lpstr>
      <vt:lpstr>Experiment 2 – CFG Comparison</vt:lpstr>
      <vt:lpstr>Experiment 2 – CFG Comparison</vt:lpstr>
      <vt:lpstr>Final Design – GLeNN Pipeline</vt:lpstr>
      <vt:lpstr>Neo4j Graph Database and Retrieval</vt:lpstr>
      <vt:lpstr>Two-Pass Retrieval</vt:lpstr>
      <vt:lpstr>LLM Decompilation</vt:lpstr>
      <vt:lpstr>Results</vt:lpstr>
      <vt:lpstr>Common Errors With LLM4Decompile</vt:lpstr>
      <vt:lpstr>Common Errors With GLeNN</vt:lpstr>
      <vt:lpstr>Case Study – Demo</vt:lpstr>
      <vt:lpstr>Case Study – count_alpha_digit</vt:lpstr>
      <vt:lpstr>Case Study – count_alpha_digit</vt:lpstr>
      <vt:lpstr>Case Study – count_alpha_digit</vt:lpstr>
      <vt:lpstr>Case Study – count_alpha_digit</vt:lpstr>
      <vt:lpstr>Achievements</vt:lpstr>
      <vt:lpstr>Discussion and Future Work</vt:lpstr>
      <vt:lpstr>References</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Claire Brandt</dc:creator>
  <cp:revision>2</cp:revision>
  <cp:lastPrinted>2025-04-24T02:52:58Z</cp:lastPrinted>
  <dcterms:created xsi:type="dcterms:W3CDTF">2024-04-18T20:24:44Z</dcterms:created>
  <dcterms:modified xsi:type="dcterms:W3CDTF">2025-05-01T16:46:51Z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0x01010063BEF54C2EDBAD42ABA6D2B17A8AA352</vt:lpwstr>
  </property>
  <property fmtid="{D5CDD505-2E9C-101B-9397-08002B2CF9AE}" pid="3" name="MediaServiceImageTags">
    <vt:lpwstr/>
  </property>
</Properties>
</file>